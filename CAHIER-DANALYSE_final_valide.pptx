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9" r:id="rId9"/>
    <p:sldId id="264" r:id="rId10"/>
    <p:sldId id="268" r:id="rId11"/>
    <p:sldId id="270" r:id="rId12"/>
    <p:sldId id="263" r:id="rId13"/>
    <p:sldId id="266" r:id="rId14"/>
    <p:sldId id="267" r:id="rId15"/>
  </p:sldIdLst>
  <p:sldSz cx="14630400" cy="8229600"/>
  <p:notesSz cx="8229600" cy="14630400"/>
  <p:embeddedFontLst>
    <p:embeddedFont>
      <p:font typeface="Montserrat" pitchFamily="2" charset="77"/>
      <p:regular r:id="rId17"/>
      <p:bold r:id="rId18"/>
      <p:italic r:id="rId19"/>
      <p:boldItalic r:id="rId20"/>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C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424"/>
    <p:restoredTop sz="94610"/>
  </p:normalViewPr>
  <p:slideViewPr>
    <p:cSldViewPr snapToGrid="0" snapToObjects="1">
      <p:cViewPr>
        <p:scale>
          <a:sx n="74" d="100"/>
          <a:sy n="74" d="100"/>
        </p:scale>
        <p:origin x="1224" y="9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9025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326C7-956F-A1E7-2A40-0FE78873D4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3D03C9-87FE-4D21-8BC7-309E814CC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DE4A6-C24B-0FA3-DE85-7CD6F07319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715B92-C3CE-4655-2ED3-6E39F2573FA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342799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6D5C3-228F-07F8-0B10-0B0FD7244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FAA78C-BF58-3B14-03A9-B78ACE0F82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34AC59-E0D9-3A03-7051-51F4A559B4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095C8A-7C70-4CDB-195D-E9FF35BED77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1237279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5BA99-4F47-8EDC-AF99-DEC6D3F613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A30052-1841-C9A1-F3CD-BB7AC16713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306FF5-CE8F-093A-08EB-2EBF328502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A77585-BEE4-2C08-2094-78E3EB587EE0}"/>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6787938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fr-US"/>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fr-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fr-FR"/>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fr-FR"/>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fr-FR"/>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fr-FR"/>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fr-FR"/>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fr-FR"/>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fr-FR"/>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fr-FR"/>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fr-FR"/>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fr-FR"/>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073348"/>
            <a:ext cx="6521291" cy="847725"/>
          </a:xfrm>
          <a:prstGeom prst="rect">
            <a:avLst/>
          </a:prstGeom>
          <a:noFill/>
          <a:ln/>
        </p:spPr>
        <p:txBody>
          <a:bodyPr wrap="none" lIns="0" tIns="0" rIns="0" bIns="0" rtlCol="0" anchor="t"/>
          <a:lstStyle/>
          <a:p>
            <a:pPr marL="0" indent="0" algn="l">
              <a:lnSpc>
                <a:spcPts val="6650"/>
              </a:lnSpc>
              <a:buNone/>
            </a:pPr>
            <a:r>
              <a:rPr lang="en-US" sz="5100" dirty="0">
                <a:solidFill>
                  <a:srgbClr val="532418"/>
                </a:solidFill>
                <a:latin typeface="Marcellus" pitchFamily="34" charset="0"/>
                <a:ea typeface="Marcellus" pitchFamily="34" charset="-122"/>
                <a:cs typeface="Marcellus" pitchFamily="34" charset="-120"/>
              </a:rPr>
              <a:t>CAHIER D'ANALYSE</a:t>
            </a:r>
            <a:endParaRPr lang="en-US" sz="5100" dirty="0"/>
          </a:p>
        </p:txBody>
      </p:sp>
      <p:sp>
        <p:nvSpPr>
          <p:cNvPr id="3" name="Text 1"/>
          <p:cNvSpPr/>
          <p:nvPr/>
        </p:nvSpPr>
        <p:spPr>
          <a:xfrm>
            <a:off x="793790" y="2374702"/>
            <a:ext cx="13042821" cy="368498"/>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ontserrat" pitchFamily="34" charset="0"/>
                <a:ea typeface="Montserrat" pitchFamily="34" charset="-122"/>
                <a:cs typeface="Montserrat" pitchFamily="34" charset="-120"/>
              </a:rPr>
              <a:t>Conception, développement et déploiement d'un</a:t>
            </a:r>
            <a:endParaRPr lang="en-US" sz="2200" dirty="0"/>
          </a:p>
        </p:txBody>
      </p:sp>
      <p:sp>
        <p:nvSpPr>
          <p:cNvPr id="4" name="Text 2"/>
          <p:cNvSpPr/>
          <p:nvPr/>
        </p:nvSpPr>
        <p:spPr>
          <a:xfrm>
            <a:off x="793790" y="3083362"/>
            <a:ext cx="12929116" cy="1169908"/>
          </a:xfrm>
          <a:prstGeom prst="rect">
            <a:avLst/>
          </a:prstGeom>
          <a:noFill/>
          <a:ln/>
        </p:spPr>
        <p:txBody>
          <a:bodyPr wrap="none" lIns="0" tIns="0" rIns="0" bIns="0" rtlCol="0" anchor="t"/>
          <a:lstStyle/>
          <a:p>
            <a:pPr marL="0" indent="0" algn="l">
              <a:lnSpc>
                <a:spcPts val="9200"/>
              </a:lnSpc>
              <a:buNone/>
            </a:pPr>
            <a:r>
              <a:rPr lang="en-US" sz="7050" dirty="0">
                <a:solidFill>
                  <a:srgbClr val="FF954F"/>
                </a:solidFill>
                <a:latin typeface="Marcellus" pitchFamily="34" charset="0"/>
                <a:ea typeface="Marcellus" pitchFamily="34" charset="-122"/>
                <a:cs typeface="Marcellus" pitchFamily="34" charset="-120"/>
              </a:rPr>
              <a:t>Distributed File Replicator (DFR)</a:t>
            </a:r>
            <a:endParaRPr lang="en-US" sz="7050" dirty="0"/>
          </a:p>
        </p:txBody>
      </p:sp>
      <p:sp>
        <p:nvSpPr>
          <p:cNvPr id="5" name="Text 3"/>
          <p:cNvSpPr/>
          <p:nvPr/>
        </p:nvSpPr>
        <p:spPr>
          <a:xfrm>
            <a:off x="793790" y="4820245"/>
            <a:ext cx="3912751" cy="508516"/>
          </a:xfrm>
          <a:prstGeom prst="rect">
            <a:avLst/>
          </a:prstGeom>
          <a:noFill/>
          <a:ln/>
        </p:spPr>
        <p:txBody>
          <a:bodyPr wrap="none" lIns="0" tIns="0" rIns="0" bIns="0" rtlCol="0" anchor="t"/>
          <a:lstStyle/>
          <a:p>
            <a:pPr marL="0" indent="0" algn="l">
              <a:lnSpc>
                <a:spcPts val="4000"/>
              </a:lnSpc>
              <a:buNone/>
            </a:pPr>
            <a:r>
              <a:rPr lang="en-US" sz="3050" dirty="0">
                <a:solidFill>
                  <a:srgbClr val="532418"/>
                </a:solidFill>
                <a:latin typeface="Marcellus" pitchFamily="34" charset="0"/>
                <a:ea typeface="Marcellus" pitchFamily="34" charset="-122"/>
                <a:cs typeface="Marcellus" pitchFamily="34" charset="-120"/>
              </a:rPr>
              <a:t>Rédigé par</a:t>
            </a:r>
            <a:endParaRPr lang="en-US" sz="3050" dirty="0"/>
          </a:p>
        </p:txBody>
      </p:sp>
      <p:sp>
        <p:nvSpPr>
          <p:cNvPr id="6" name="Text 4"/>
          <p:cNvSpPr/>
          <p:nvPr/>
        </p:nvSpPr>
        <p:spPr>
          <a:xfrm>
            <a:off x="793790" y="5555575"/>
            <a:ext cx="6244709" cy="368498"/>
          </a:xfrm>
          <a:prstGeom prst="rect">
            <a:avLst/>
          </a:prstGeom>
          <a:noFill/>
          <a:ln/>
        </p:spPr>
        <p:txBody>
          <a:bodyPr wrap="none" lIns="0" tIns="0" rIns="0" bIns="0" rtlCol="0" anchor="t"/>
          <a:lstStyle/>
          <a:p>
            <a:pPr marL="0" indent="0" algn="l">
              <a:lnSpc>
                <a:spcPts val="2900"/>
              </a:lnSpc>
              <a:buNone/>
            </a:pPr>
            <a:r>
              <a:rPr lang="en-US" sz="2200" b="1" dirty="0">
                <a:solidFill>
                  <a:srgbClr val="67534F"/>
                </a:solidFill>
                <a:latin typeface="Montserrat" pitchFamily="34" charset="0"/>
                <a:ea typeface="Montserrat" pitchFamily="34" charset="-122"/>
                <a:cs typeface="Montserrat" pitchFamily="34" charset="-120"/>
              </a:rPr>
              <a:t>DJEUDA TCHAPNGA PAUL HERVE</a:t>
            </a:r>
            <a:endParaRPr lang="en-US" sz="2200" dirty="0"/>
          </a:p>
        </p:txBody>
      </p:sp>
      <p:sp>
        <p:nvSpPr>
          <p:cNvPr id="7" name="Text 5"/>
          <p:cNvSpPr/>
          <p:nvPr/>
        </p:nvSpPr>
        <p:spPr>
          <a:xfrm>
            <a:off x="793790" y="6128147"/>
            <a:ext cx="6244709" cy="368498"/>
          </a:xfrm>
          <a:prstGeom prst="rect">
            <a:avLst/>
          </a:prstGeom>
          <a:noFill/>
          <a:ln/>
        </p:spPr>
        <p:txBody>
          <a:bodyPr wrap="none" lIns="0" tIns="0" rIns="0" bIns="0" rtlCol="0" anchor="t"/>
          <a:lstStyle/>
          <a:p>
            <a:pPr>
              <a:lnSpc>
                <a:spcPts val="2900"/>
              </a:lnSpc>
            </a:pPr>
            <a:r>
              <a:rPr lang="en-US" sz="2200" b="1" dirty="0">
                <a:solidFill>
                  <a:srgbClr val="67534F"/>
                </a:solidFill>
                <a:latin typeface="Montserrat" pitchFamily="34" charset="0"/>
                <a:ea typeface="Montserrat" pitchFamily="34" charset="-122"/>
                <a:cs typeface="Montserrat" pitchFamily="34" charset="-120"/>
              </a:rPr>
              <a:t>GARKA GARKA Jules Joel</a:t>
            </a:r>
            <a:endParaRPr lang="en-US" sz="2200" dirty="0"/>
          </a:p>
        </p:txBody>
      </p:sp>
      <p:sp>
        <p:nvSpPr>
          <p:cNvPr id="8" name="Text 6"/>
          <p:cNvSpPr/>
          <p:nvPr/>
        </p:nvSpPr>
        <p:spPr>
          <a:xfrm>
            <a:off x="7599521" y="4820245"/>
            <a:ext cx="3912751" cy="508516"/>
          </a:xfrm>
          <a:prstGeom prst="rect">
            <a:avLst/>
          </a:prstGeom>
          <a:noFill/>
          <a:ln/>
        </p:spPr>
        <p:txBody>
          <a:bodyPr wrap="none" lIns="0" tIns="0" rIns="0" bIns="0" rtlCol="0" anchor="t"/>
          <a:lstStyle/>
          <a:p>
            <a:pPr marL="0" indent="0" algn="l">
              <a:lnSpc>
                <a:spcPts val="4000"/>
              </a:lnSpc>
              <a:buNone/>
            </a:pPr>
            <a:r>
              <a:rPr lang="en-US" sz="3050" dirty="0">
                <a:solidFill>
                  <a:srgbClr val="532418"/>
                </a:solidFill>
                <a:latin typeface="Marcellus" pitchFamily="34" charset="0"/>
                <a:ea typeface="Marcellus" pitchFamily="34" charset="-122"/>
                <a:cs typeface="Marcellus" pitchFamily="34" charset="-120"/>
              </a:rPr>
              <a:t>Sous la supervision de</a:t>
            </a:r>
            <a:endParaRPr lang="en-US" sz="3050" dirty="0"/>
          </a:p>
        </p:txBody>
      </p:sp>
      <p:sp>
        <p:nvSpPr>
          <p:cNvPr id="9" name="Text 7"/>
          <p:cNvSpPr/>
          <p:nvPr/>
        </p:nvSpPr>
        <p:spPr>
          <a:xfrm>
            <a:off x="7599521" y="5555575"/>
            <a:ext cx="6244709" cy="368498"/>
          </a:xfrm>
          <a:prstGeom prst="rect">
            <a:avLst/>
          </a:prstGeom>
          <a:noFill/>
          <a:ln/>
        </p:spPr>
        <p:txBody>
          <a:bodyPr wrap="none" lIns="0" tIns="0" rIns="0" bIns="0" rtlCol="0" anchor="t"/>
          <a:lstStyle/>
          <a:p>
            <a:pPr marL="0" indent="0" algn="l">
              <a:lnSpc>
                <a:spcPts val="2900"/>
              </a:lnSpc>
              <a:buNone/>
            </a:pPr>
            <a:r>
              <a:rPr lang="en-US" sz="2200" b="1" dirty="0">
                <a:solidFill>
                  <a:srgbClr val="67534F"/>
                </a:solidFill>
                <a:latin typeface="Montserrat" pitchFamily="34" charset="0"/>
                <a:ea typeface="Montserrat" pitchFamily="34" charset="-122"/>
                <a:cs typeface="Montserrat" pitchFamily="34" charset="-120"/>
              </a:rPr>
              <a:t>M. NGUIMBUS Emmanuel</a:t>
            </a:r>
            <a:endParaRPr lang="en-US" sz="2200" dirty="0"/>
          </a:p>
        </p:txBody>
      </p:sp>
      <p:sp>
        <p:nvSpPr>
          <p:cNvPr id="10" name="Shape 8"/>
          <p:cNvSpPr/>
          <p:nvPr/>
        </p:nvSpPr>
        <p:spPr>
          <a:xfrm>
            <a:off x="7599521" y="6292605"/>
            <a:ext cx="6244709" cy="35957"/>
          </a:xfrm>
          <a:prstGeom prst="rect">
            <a:avLst/>
          </a:prstGeom>
          <a:solidFill>
            <a:srgbClr val="67534F">
              <a:alpha val="50000"/>
            </a:srgbClr>
          </a:solidFill>
          <a:ln/>
        </p:spPr>
        <p:txBody>
          <a:bodyPr/>
          <a:lstStyle/>
          <a:p>
            <a:endParaRPr lang="fr-US"/>
          </a:p>
        </p:txBody>
      </p:sp>
      <p:sp>
        <p:nvSpPr>
          <p:cNvPr id="11" name="Text 9"/>
          <p:cNvSpPr/>
          <p:nvPr/>
        </p:nvSpPr>
        <p:spPr>
          <a:xfrm>
            <a:off x="7599521" y="6583680"/>
            <a:ext cx="6244709" cy="368498"/>
          </a:xfrm>
          <a:prstGeom prst="rect">
            <a:avLst/>
          </a:prstGeom>
          <a:noFill/>
          <a:ln/>
        </p:spPr>
        <p:txBody>
          <a:bodyPr wrap="none" lIns="0" tIns="0" rIns="0" bIns="0" rtlCol="0" anchor="t"/>
          <a:lstStyle/>
          <a:p>
            <a:pPr marL="0" indent="0" algn="l">
              <a:lnSpc>
                <a:spcPts val="2900"/>
              </a:lnSpc>
              <a:buNone/>
            </a:pPr>
            <a:r>
              <a:rPr lang="en-US" sz="2200" b="1" dirty="0">
                <a:solidFill>
                  <a:srgbClr val="532418"/>
                </a:solidFill>
                <a:latin typeface="Montserrat" pitchFamily="34" charset="0"/>
                <a:ea typeface="Montserrat" pitchFamily="34" charset="-122"/>
                <a:cs typeface="Montserrat" pitchFamily="34" charset="-120"/>
              </a:rPr>
              <a:t>Année Académique 2023-2024</a:t>
            </a:r>
            <a:endParaRPr lang="en-US" sz="2200" dirty="0"/>
          </a:p>
        </p:txBody>
      </p:sp>
      <p:sp>
        <p:nvSpPr>
          <p:cNvPr id="12" name="Rectangle 11"/>
          <p:cNvSpPr/>
          <p:nvPr/>
        </p:nvSpPr>
        <p:spPr>
          <a:xfrm>
            <a:off x="12691241" y="7662041"/>
            <a:ext cx="1939159" cy="457200"/>
          </a:xfrm>
          <a:prstGeom prst="rect">
            <a:avLst/>
          </a:prstGeom>
          <a:solidFill>
            <a:srgbClr val="FDFCF1"/>
          </a:solidFill>
          <a:ln>
            <a:solidFill>
              <a:srgbClr val="FD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021675" y="556260"/>
            <a:ext cx="4577001" cy="594955"/>
          </a:xfrm>
          <a:prstGeom prst="rect">
            <a:avLst/>
          </a:prstGeom>
          <a:noFill/>
          <a:ln/>
        </p:spPr>
        <p:txBody>
          <a:bodyPr wrap="none" lIns="0" tIns="0" rIns="0" bIns="0" rtlCol="0" anchor="t"/>
          <a:lstStyle/>
          <a:p>
            <a:pPr marL="0" indent="0" algn="l">
              <a:lnSpc>
                <a:spcPts val="4650"/>
              </a:lnSpc>
              <a:buNone/>
            </a:pPr>
            <a:r>
              <a:rPr lang="en-US" sz="3600" dirty="0">
                <a:solidFill>
                  <a:srgbClr val="FF954F"/>
                </a:solidFill>
                <a:latin typeface="Marcellus" pitchFamily="34" charset="0"/>
                <a:ea typeface="Marcellus" pitchFamily="34" charset="-122"/>
                <a:cs typeface="Marcellus" pitchFamily="34" charset="-120"/>
              </a:rPr>
              <a:t>TABLE DES MATIÈRES</a:t>
            </a:r>
            <a:endParaRPr lang="en-US" sz="3600" dirty="0"/>
          </a:p>
        </p:txBody>
      </p:sp>
      <p:sp>
        <p:nvSpPr>
          <p:cNvPr id="3" name="Text 1"/>
          <p:cNvSpPr/>
          <p:nvPr/>
        </p:nvSpPr>
        <p:spPr>
          <a:xfrm>
            <a:off x="1021675" y="1549122"/>
            <a:ext cx="198953" cy="258604"/>
          </a:xfrm>
          <a:prstGeom prst="rect">
            <a:avLst/>
          </a:prstGeom>
          <a:noFill/>
          <a:ln/>
        </p:spPr>
        <p:txBody>
          <a:bodyPr wrap="none" lIns="0" tIns="0" rIns="0" bIns="0" rtlCol="0" anchor="t"/>
          <a:lstStyle/>
          <a:p>
            <a:pPr marL="0" indent="0" algn="l">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01</a:t>
            </a:r>
            <a:endParaRPr lang="en-US" sz="1550" dirty="0"/>
          </a:p>
        </p:txBody>
      </p:sp>
      <p:sp>
        <p:nvSpPr>
          <p:cNvPr id="4" name="Shape 2"/>
          <p:cNvSpPr/>
          <p:nvPr/>
        </p:nvSpPr>
        <p:spPr>
          <a:xfrm>
            <a:off x="1021675" y="1874282"/>
            <a:ext cx="6193988" cy="22860"/>
          </a:xfrm>
          <a:prstGeom prst="rect">
            <a:avLst/>
          </a:prstGeom>
          <a:solidFill>
            <a:srgbClr val="FF954F"/>
          </a:solidFill>
          <a:ln/>
        </p:spPr>
        <p:txBody>
          <a:bodyPr/>
          <a:lstStyle/>
          <a:p>
            <a:endParaRPr lang="fr-US"/>
          </a:p>
        </p:txBody>
      </p:sp>
      <p:sp>
        <p:nvSpPr>
          <p:cNvPr id="5" name="Text 3"/>
          <p:cNvSpPr/>
          <p:nvPr/>
        </p:nvSpPr>
        <p:spPr>
          <a:xfrm>
            <a:off x="1021675" y="2019419"/>
            <a:ext cx="2860596" cy="371832"/>
          </a:xfrm>
          <a:prstGeom prst="rect">
            <a:avLst/>
          </a:prstGeom>
          <a:noFill/>
          <a:ln/>
        </p:spPr>
        <p:txBody>
          <a:bodyPr wrap="none" lIns="0" tIns="0" rIns="0" bIns="0" rtlCol="0" anchor="t"/>
          <a:lstStyle/>
          <a:p>
            <a:pPr marL="0" indent="0" algn="l">
              <a:lnSpc>
                <a:spcPts val="2900"/>
              </a:lnSpc>
              <a:buNone/>
            </a:pPr>
            <a:r>
              <a:rPr lang="en-US" sz="2250" dirty="0">
                <a:solidFill>
                  <a:srgbClr val="67534F"/>
                </a:solidFill>
                <a:latin typeface="Marcellus" pitchFamily="34" charset="0"/>
                <a:ea typeface="Marcellus" pitchFamily="34" charset="-122"/>
                <a:cs typeface="Marcellus" pitchFamily="34" charset="-120"/>
              </a:rPr>
              <a:t>INTRODUCTION</a:t>
            </a:r>
            <a:endParaRPr lang="en-US" sz="2250" dirty="0"/>
          </a:p>
        </p:txBody>
      </p:sp>
      <p:sp>
        <p:nvSpPr>
          <p:cNvPr id="6" name="Text 4"/>
          <p:cNvSpPr/>
          <p:nvPr/>
        </p:nvSpPr>
        <p:spPr>
          <a:xfrm>
            <a:off x="7414617" y="1549122"/>
            <a:ext cx="198953" cy="258604"/>
          </a:xfrm>
          <a:prstGeom prst="rect">
            <a:avLst/>
          </a:prstGeom>
          <a:noFill/>
          <a:ln/>
        </p:spPr>
        <p:txBody>
          <a:bodyPr wrap="none" lIns="0" tIns="0" rIns="0" bIns="0" rtlCol="0" anchor="t"/>
          <a:lstStyle/>
          <a:p>
            <a:pPr marL="0" indent="0" algn="l">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02</a:t>
            </a:r>
            <a:endParaRPr lang="en-US" sz="1550" dirty="0"/>
          </a:p>
        </p:txBody>
      </p:sp>
      <p:sp>
        <p:nvSpPr>
          <p:cNvPr id="7" name="Shape 5"/>
          <p:cNvSpPr/>
          <p:nvPr/>
        </p:nvSpPr>
        <p:spPr>
          <a:xfrm>
            <a:off x="7414617" y="1874282"/>
            <a:ext cx="6193988" cy="22860"/>
          </a:xfrm>
          <a:prstGeom prst="rect">
            <a:avLst/>
          </a:prstGeom>
          <a:solidFill>
            <a:srgbClr val="FF954F"/>
          </a:solidFill>
          <a:ln/>
        </p:spPr>
        <p:txBody>
          <a:bodyPr/>
          <a:lstStyle/>
          <a:p>
            <a:endParaRPr lang="fr-US"/>
          </a:p>
        </p:txBody>
      </p:sp>
      <p:sp>
        <p:nvSpPr>
          <p:cNvPr id="8" name="Text 6"/>
          <p:cNvSpPr/>
          <p:nvPr/>
        </p:nvSpPr>
        <p:spPr>
          <a:xfrm>
            <a:off x="7414617" y="2019419"/>
            <a:ext cx="3783568" cy="371832"/>
          </a:xfrm>
          <a:prstGeom prst="rect">
            <a:avLst/>
          </a:prstGeom>
          <a:noFill/>
          <a:ln/>
        </p:spPr>
        <p:txBody>
          <a:bodyPr wrap="none" lIns="0" tIns="0" rIns="0" bIns="0" rtlCol="0" anchor="t"/>
          <a:lstStyle/>
          <a:p>
            <a:pPr marL="0" indent="0" algn="l">
              <a:lnSpc>
                <a:spcPts val="2900"/>
              </a:lnSpc>
              <a:buNone/>
            </a:pPr>
            <a:r>
              <a:rPr lang="en-US" sz="2250" dirty="0">
                <a:solidFill>
                  <a:srgbClr val="67534F"/>
                </a:solidFill>
                <a:latin typeface="Marcellus" pitchFamily="34" charset="0"/>
                <a:ea typeface="Marcellus" pitchFamily="34" charset="-122"/>
                <a:cs typeface="Marcellus" pitchFamily="34" charset="-120"/>
              </a:rPr>
              <a:t>DESCRIPTION DU CONTEXTE</a:t>
            </a:r>
            <a:endParaRPr lang="en-US" sz="2250" dirty="0"/>
          </a:p>
        </p:txBody>
      </p:sp>
      <p:sp>
        <p:nvSpPr>
          <p:cNvPr id="9" name="Text 7"/>
          <p:cNvSpPr/>
          <p:nvPr/>
        </p:nvSpPr>
        <p:spPr>
          <a:xfrm>
            <a:off x="1021675" y="2739390"/>
            <a:ext cx="198953" cy="258604"/>
          </a:xfrm>
          <a:prstGeom prst="rect">
            <a:avLst/>
          </a:prstGeom>
          <a:noFill/>
          <a:ln/>
        </p:spPr>
        <p:txBody>
          <a:bodyPr wrap="none" lIns="0" tIns="0" rIns="0" bIns="0" rtlCol="0" anchor="t"/>
          <a:lstStyle/>
          <a:p>
            <a:pPr marL="0" indent="0" algn="l">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03</a:t>
            </a:r>
            <a:endParaRPr lang="en-US" sz="1550" dirty="0"/>
          </a:p>
        </p:txBody>
      </p:sp>
      <p:sp>
        <p:nvSpPr>
          <p:cNvPr id="10" name="Shape 8"/>
          <p:cNvSpPr/>
          <p:nvPr/>
        </p:nvSpPr>
        <p:spPr>
          <a:xfrm>
            <a:off x="1021675" y="3064550"/>
            <a:ext cx="6193988" cy="22860"/>
          </a:xfrm>
          <a:prstGeom prst="rect">
            <a:avLst/>
          </a:prstGeom>
          <a:solidFill>
            <a:srgbClr val="FF954F"/>
          </a:solidFill>
          <a:ln/>
        </p:spPr>
        <p:txBody>
          <a:bodyPr/>
          <a:lstStyle/>
          <a:p>
            <a:endParaRPr lang="fr-US"/>
          </a:p>
        </p:txBody>
      </p:sp>
      <p:sp>
        <p:nvSpPr>
          <p:cNvPr id="11" name="Text 9"/>
          <p:cNvSpPr/>
          <p:nvPr/>
        </p:nvSpPr>
        <p:spPr>
          <a:xfrm>
            <a:off x="1021675" y="3209687"/>
            <a:ext cx="3234571" cy="371832"/>
          </a:xfrm>
          <a:prstGeom prst="rect">
            <a:avLst/>
          </a:prstGeom>
          <a:noFill/>
          <a:ln/>
        </p:spPr>
        <p:txBody>
          <a:bodyPr wrap="none" lIns="0" tIns="0" rIns="0" bIns="0" rtlCol="0" anchor="t"/>
          <a:lstStyle/>
          <a:p>
            <a:pPr marL="0" indent="0" algn="l">
              <a:lnSpc>
                <a:spcPts val="2900"/>
              </a:lnSpc>
              <a:buNone/>
            </a:pPr>
            <a:r>
              <a:rPr lang="en-US" sz="2250" dirty="0">
                <a:solidFill>
                  <a:srgbClr val="67534F"/>
                </a:solidFill>
                <a:latin typeface="Marcellus" pitchFamily="34" charset="0"/>
                <a:ea typeface="Marcellus" pitchFamily="34" charset="-122"/>
                <a:cs typeface="Marcellus" pitchFamily="34" charset="-120"/>
              </a:rPr>
              <a:t>BESOINS FONCTIONNELS</a:t>
            </a:r>
            <a:endParaRPr lang="en-US" sz="2250" dirty="0"/>
          </a:p>
        </p:txBody>
      </p:sp>
      <p:sp>
        <p:nvSpPr>
          <p:cNvPr id="12" name="Text 10"/>
          <p:cNvSpPr/>
          <p:nvPr/>
        </p:nvSpPr>
        <p:spPr>
          <a:xfrm>
            <a:off x="7414617" y="2739390"/>
            <a:ext cx="198953" cy="258604"/>
          </a:xfrm>
          <a:prstGeom prst="rect">
            <a:avLst/>
          </a:prstGeom>
          <a:noFill/>
          <a:ln/>
        </p:spPr>
        <p:txBody>
          <a:bodyPr wrap="none" lIns="0" tIns="0" rIns="0" bIns="0" rtlCol="0" anchor="t"/>
          <a:lstStyle/>
          <a:p>
            <a:pPr marL="0" indent="0" algn="l">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04</a:t>
            </a:r>
            <a:endParaRPr lang="en-US" sz="1550" dirty="0"/>
          </a:p>
        </p:txBody>
      </p:sp>
      <p:sp>
        <p:nvSpPr>
          <p:cNvPr id="13" name="Shape 11"/>
          <p:cNvSpPr/>
          <p:nvPr/>
        </p:nvSpPr>
        <p:spPr>
          <a:xfrm>
            <a:off x="7414617" y="3064550"/>
            <a:ext cx="6193988" cy="22860"/>
          </a:xfrm>
          <a:prstGeom prst="rect">
            <a:avLst/>
          </a:prstGeom>
          <a:solidFill>
            <a:srgbClr val="FF954F"/>
          </a:solidFill>
          <a:ln/>
        </p:spPr>
        <p:txBody>
          <a:bodyPr/>
          <a:lstStyle/>
          <a:p>
            <a:endParaRPr lang="fr-US"/>
          </a:p>
        </p:txBody>
      </p:sp>
      <p:sp>
        <p:nvSpPr>
          <p:cNvPr id="14" name="Text 12"/>
          <p:cNvSpPr/>
          <p:nvPr/>
        </p:nvSpPr>
        <p:spPr>
          <a:xfrm>
            <a:off x="7414617" y="3209687"/>
            <a:ext cx="3973473" cy="371832"/>
          </a:xfrm>
          <a:prstGeom prst="rect">
            <a:avLst/>
          </a:prstGeom>
          <a:noFill/>
          <a:ln/>
        </p:spPr>
        <p:txBody>
          <a:bodyPr wrap="none" lIns="0" tIns="0" rIns="0" bIns="0" rtlCol="0" anchor="t"/>
          <a:lstStyle/>
          <a:p>
            <a:pPr marL="0" indent="0" algn="l">
              <a:lnSpc>
                <a:spcPts val="2900"/>
              </a:lnSpc>
              <a:buNone/>
            </a:pPr>
            <a:r>
              <a:rPr lang="en-US" sz="2250" dirty="0">
                <a:solidFill>
                  <a:srgbClr val="67534F"/>
                </a:solidFill>
                <a:latin typeface="Marcellus" pitchFamily="34" charset="0"/>
                <a:ea typeface="Marcellus" pitchFamily="34" charset="-122"/>
                <a:cs typeface="Marcellus" pitchFamily="34" charset="-120"/>
              </a:rPr>
              <a:t>BESOINS NON FONCTIONNELS</a:t>
            </a:r>
            <a:endParaRPr lang="en-US" sz="2250" dirty="0"/>
          </a:p>
        </p:txBody>
      </p:sp>
      <p:sp>
        <p:nvSpPr>
          <p:cNvPr id="15" name="Text 13"/>
          <p:cNvSpPr/>
          <p:nvPr/>
        </p:nvSpPr>
        <p:spPr>
          <a:xfrm>
            <a:off x="1021675" y="3929658"/>
            <a:ext cx="198953" cy="258604"/>
          </a:xfrm>
          <a:prstGeom prst="rect">
            <a:avLst/>
          </a:prstGeom>
          <a:noFill/>
          <a:ln/>
        </p:spPr>
        <p:txBody>
          <a:bodyPr wrap="none" lIns="0" tIns="0" rIns="0" bIns="0" rtlCol="0" anchor="t"/>
          <a:lstStyle/>
          <a:p>
            <a:pPr marL="0" indent="0" algn="l">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05</a:t>
            </a:r>
            <a:endParaRPr lang="en-US" sz="1550" dirty="0"/>
          </a:p>
        </p:txBody>
      </p:sp>
      <p:sp>
        <p:nvSpPr>
          <p:cNvPr id="16" name="Shape 14"/>
          <p:cNvSpPr/>
          <p:nvPr/>
        </p:nvSpPr>
        <p:spPr>
          <a:xfrm>
            <a:off x="1021675" y="4254818"/>
            <a:ext cx="6193988" cy="22860"/>
          </a:xfrm>
          <a:prstGeom prst="rect">
            <a:avLst/>
          </a:prstGeom>
          <a:solidFill>
            <a:srgbClr val="FF954F"/>
          </a:solidFill>
          <a:ln/>
        </p:spPr>
        <p:txBody>
          <a:bodyPr/>
          <a:lstStyle/>
          <a:p>
            <a:endParaRPr lang="fr-US"/>
          </a:p>
        </p:txBody>
      </p:sp>
      <p:sp>
        <p:nvSpPr>
          <p:cNvPr id="17" name="Text 15"/>
          <p:cNvSpPr/>
          <p:nvPr/>
        </p:nvSpPr>
        <p:spPr>
          <a:xfrm>
            <a:off x="1021675" y="4399955"/>
            <a:ext cx="2860596" cy="371832"/>
          </a:xfrm>
          <a:prstGeom prst="rect">
            <a:avLst/>
          </a:prstGeom>
          <a:noFill/>
          <a:ln/>
        </p:spPr>
        <p:txBody>
          <a:bodyPr wrap="none" lIns="0" tIns="0" rIns="0" bIns="0" rtlCol="0" anchor="t"/>
          <a:lstStyle/>
          <a:p>
            <a:pPr marL="0" indent="0" algn="l">
              <a:lnSpc>
                <a:spcPts val="2900"/>
              </a:lnSpc>
              <a:buNone/>
            </a:pPr>
            <a:r>
              <a:rPr lang="en-US" sz="2250" dirty="0">
                <a:solidFill>
                  <a:srgbClr val="67534F"/>
                </a:solidFill>
                <a:latin typeface="Marcellus" pitchFamily="34" charset="0"/>
                <a:ea typeface="Marcellus" pitchFamily="34" charset="-122"/>
                <a:cs typeface="Marcellus" pitchFamily="34" charset="-120"/>
              </a:rPr>
              <a:t>ACTEURS ET RÔLES</a:t>
            </a:r>
            <a:endParaRPr lang="en-US" sz="2250" dirty="0"/>
          </a:p>
        </p:txBody>
      </p:sp>
      <p:sp>
        <p:nvSpPr>
          <p:cNvPr id="18" name="Text 16"/>
          <p:cNvSpPr/>
          <p:nvPr/>
        </p:nvSpPr>
        <p:spPr>
          <a:xfrm>
            <a:off x="7414617" y="3929658"/>
            <a:ext cx="198953" cy="258604"/>
          </a:xfrm>
          <a:prstGeom prst="rect">
            <a:avLst/>
          </a:prstGeom>
          <a:noFill/>
          <a:ln/>
        </p:spPr>
        <p:txBody>
          <a:bodyPr wrap="none" lIns="0" tIns="0" rIns="0" bIns="0" rtlCol="0" anchor="t"/>
          <a:lstStyle/>
          <a:p>
            <a:pPr marL="0" indent="0" algn="l">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06</a:t>
            </a:r>
            <a:endParaRPr lang="en-US" sz="1550" dirty="0"/>
          </a:p>
        </p:txBody>
      </p:sp>
      <p:sp>
        <p:nvSpPr>
          <p:cNvPr id="19" name="Shape 17"/>
          <p:cNvSpPr/>
          <p:nvPr/>
        </p:nvSpPr>
        <p:spPr>
          <a:xfrm>
            <a:off x="7414617" y="4254818"/>
            <a:ext cx="6193988" cy="22860"/>
          </a:xfrm>
          <a:prstGeom prst="rect">
            <a:avLst/>
          </a:prstGeom>
          <a:solidFill>
            <a:srgbClr val="FF954F"/>
          </a:solidFill>
          <a:ln/>
        </p:spPr>
        <p:txBody>
          <a:bodyPr/>
          <a:lstStyle/>
          <a:p>
            <a:endParaRPr lang="fr-US"/>
          </a:p>
        </p:txBody>
      </p:sp>
      <p:sp>
        <p:nvSpPr>
          <p:cNvPr id="20" name="Text 18"/>
          <p:cNvSpPr/>
          <p:nvPr/>
        </p:nvSpPr>
        <p:spPr>
          <a:xfrm>
            <a:off x="7414617" y="4399955"/>
            <a:ext cx="4804172" cy="371832"/>
          </a:xfrm>
          <a:prstGeom prst="rect">
            <a:avLst/>
          </a:prstGeom>
          <a:noFill/>
          <a:ln/>
        </p:spPr>
        <p:txBody>
          <a:bodyPr wrap="none" lIns="0" tIns="0" rIns="0" bIns="0" rtlCol="0" anchor="t"/>
          <a:lstStyle/>
          <a:p>
            <a:pPr marL="0" indent="0" algn="l">
              <a:lnSpc>
                <a:spcPts val="2900"/>
              </a:lnSpc>
              <a:buNone/>
            </a:pPr>
            <a:r>
              <a:rPr lang="en-US" sz="2250" dirty="0">
                <a:solidFill>
                  <a:srgbClr val="67534F"/>
                </a:solidFill>
                <a:latin typeface="Marcellus" pitchFamily="34" charset="0"/>
                <a:ea typeface="Marcellus" pitchFamily="34" charset="-122"/>
                <a:cs typeface="Marcellus" pitchFamily="34" charset="-120"/>
              </a:rPr>
              <a:t>DIAGRAMME DE CAS D'UTILISATION</a:t>
            </a:r>
            <a:endParaRPr lang="en-US" sz="2250" dirty="0"/>
          </a:p>
        </p:txBody>
      </p:sp>
      <p:sp>
        <p:nvSpPr>
          <p:cNvPr id="21" name="Text 19"/>
          <p:cNvSpPr/>
          <p:nvPr/>
        </p:nvSpPr>
        <p:spPr>
          <a:xfrm>
            <a:off x="1021675" y="5119926"/>
            <a:ext cx="198953" cy="258604"/>
          </a:xfrm>
          <a:prstGeom prst="rect">
            <a:avLst/>
          </a:prstGeom>
          <a:noFill/>
          <a:ln/>
        </p:spPr>
        <p:txBody>
          <a:bodyPr wrap="none" lIns="0" tIns="0" rIns="0" bIns="0" rtlCol="0" anchor="t"/>
          <a:lstStyle/>
          <a:p>
            <a:pPr marL="0" indent="0" algn="l">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07</a:t>
            </a:r>
            <a:endParaRPr lang="en-US" sz="1550" dirty="0"/>
          </a:p>
        </p:txBody>
      </p:sp>
      <p:sp>
        <p:nvSpPr>
          <p:cNvPr id="22" name="Shape 20"/>
          <p:cNvSpPr/>
          <p:nvPr/>
        </p:nvSpPr>
        <p:spPr>
          <a:xfrm>
            <a:off x="1021675" y="5445085"/>
            <a:ext cx="6193988" cy="22860"/>
          </a:xfrm>
          <a:prstGeom prst="rect">
            <a:avLst/>
          </a:prstGeom>
          <a:solidFill>
            <a:srgbClr val="FF954F"/>
          </a:solidFill>
          <a:ln/>
        </p:spPr>
        <p:txBody>
          <a:bodyPr/>
          <a:lstStyle/>
          <a:p>
            <a:endParaRPr lang="fr-US"/>
          </a:p>
        </p:txBody>
      </p:sp>
      <p:sp>
        <p:nvSpPr>
          <p:cNvPr id="23" name="Text 21"/>
          <p:cNvSpPr/>
          <p:nvPr/>
        </p:nvSpPr>
        <p:spPr>
          <a:xfrm>
            <a:off x="1021675" y="5590223"/>
            <a:ext cx="6193988" cy="743664"/>
          </a:xfrm>
          <a:prstGeom prst="rect">
            <a:avLst/>
          </a:prstGeom>
          <a:noFill/>
          <a:ln/>
        </p:spPr>
        <p:txBody>
          <a:bodyPr wrap="square" lIns="0" tIns="0" rIns="0" bIns="0" rtlCol="0" anchor="t"/>
          <a:lstStyle/>
          <a:p>
            <a:pPr marL="0" indent="0" algn="l">
              <a:lnSpc>
                <a:spcPts val="2900"/>
              </a:lnSpc>
              <a:buNone/>
            </a:pPr>
            <a:r>
              <a:rPr lang="en-US" sz="2250" dirty="0">
                <a:solidFill>
                  <a:srgbClr val="67534F"/>
                </a:solidFill>
                <a:latin typeface="Marcellus" pitchFamily="34" charset="0"/>
                <a:ea typeface="Marcellus" pitchFamily="34" charset="-122"/>
                <a:cs typeface="Marcellus" pitchFamily="34" charset="-120"/>
              </a:rPr>
              <a:t>DESCRIPTION TEXTUELLE DES CAS D'UTILISATION</a:t>
            </a:r>
            <a:endParaRPr lang="en-US" sz="2250" dirty="0"/>
          </a:p>
        </p:txBody>
      </p:sp>
      <p:sp>
        <p:nvSpPr>
          <p:cNvPr id="24" name="Text 22"/>
          <p:cNvSpPr/>
          <p:nvPr/>
        </p:nvSpPr>
        <p:spPr>
          <a:xfrm>
            <a:off x="7414617" y="5119926"/>
            <a:ext cx="198953" cy="258604"/>
          </a:xfrm>
          <a:prstGeom prst="rect">
            <a:avLst/>
          </a:prstGeom>
          <a:noFill/>
          <a:ln/>
        </p:spPr>
        <p:txBody>
          <a:bodyPr wrap="none" lIns="0" tIns="0" rIns="0" bIns="0" rtlCol="0" anchor="t"/>
          <a:lstStyle/>
          <a:p>
            <a:pPr marL="0" indent="0" algn="l">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08</a:t>
            </a:r>
            <a:endParaRPr lang="en-US" sz="1550" dirty="0"/>
          </a:p>
        </p:txBody>
      </p:sp>
      <p:sp>
        <p:nvSpPr>
          <p:cNvPr id="25" name="Shape 23"/>
          <p:cNvSpPr/>
          <p:nvPr/>
        </p:nvSpPr>
        <p:spPr>
          <a:xfrm>
            <a:off x="7414617" y="5445085"/>
            <a:ext cx="6193988" cy="22860"/>
          </a:xfrm>
          <a:prstGeom prst="rect">
            <a:avLst/>
          </a:prstGeom>
          <a:solidFill>
            <a:srgbClr val="FF954F"/>
          </a:solidFill>
          <a:ln/>
        </p:spPr>
        <p:txBody>
          <a:bodyPr/>
          <a:lstStyle/>
          <a:p>
            <a:endParaRPr lang="fr-US"/>
          </a:p>
        </p:txBody>
      </p:sp>
      <p:sp>
        <p:nvSpPr>
          <p:cNvPr id="26" name="Text 24"/>
          <p:cNvSpPr/>
          <p:nvPr/>
        </p:nvSpPr>
        <p:spPr>
          <a:xfrm>
            <a:off x="7414617" y="5590223"/>
            <a:ext cx="3337560" cy="371832"/>
          </a:xfrm>
          <a:prstGeom prst="rect">
            <a:avLst/>
          </a:prstGeom>
          <a:noFill/>
          <a:ln/>
        </p:spPr>
        <p:txBody>
          <a:bodyPr wrap="none" lIns="0" tIns="0" rIns="0" bIns="0" rtlCol="0" anchor="t"/>
          <a:lstStyle/>
          <a:p>
            <a:pPr marL="0" indent="0" algn="l">
              <a:lnSpc>
                <a:spcPts val="2900"/>
              </a:lnSpc>
              <a:buNone/>
            </a:pPr>
            <a:r>
              <a:rPr lang="en-US" sz="2250" dirty="0">
                <a:solidFill>
                  <a:srgbClr val="67534F"/>
                </a:solidFill>
                <a:latin typeface="Marcellus" pitchFamily="34" charset="0"/>
                <a:ea typeface="Marcellus" pitchFamily="34" charset="-122"/>
              </a:rPr>
              <a:t>CONTRAINTES TECHNIQUES</a:t>
            </a:r>
            <a:endParaRPr lang="en-US" sz="2250" dirty="0"/>
          </a:p>
        </p:txBody>
      </p:sp>
      <p:sp>
        <p:nvSpPr>
          <p:cNvPr id="27" name="Text 25"/>
          <p:cNvSpPr/>
          <p:nvPr/>
        </p:nvSpPr>
        <p:spPr>
          <a:xfrm>
            <a:off x="1021675" y="6682026"/>
            <a:ext cx="198953" cy="258604"/>
          </a:xfrm>
          <a:prstGeom prst="rect">
            <a:avLst/>
          </a:prstGeom>
          <a:noFill/>
          <a:ln/>
        </p:spPr>
        <p:txBody>
          <a:bodyPr wrap="none" lIns="0" tIns="0" rIns="0" bIns="0" rtlCol="0" anchor="t"/>
          <a:lstStyle/>
          <a:p>
            <a:pPr marL="0" indent="0" algn="l">
              <a:lnSpc>
                <a:spcPts val="2000"/>
              </a:lnSpc>
              <a:buNone/>
            </a:pPr>
            <a:r>
              <a:rPr lang="en-US" sz="1550" dirty="0">
                <a:solidFill>
                  <a:srgbClr val="67534F"/>
                </a:solidFill>
                <a:latin typeface="Marcellus Light" pitchFamily="34" charset="0"/>
                <a:ea typeface="Marcellus Light" pitchFamily="34" charset="-122"/>
                <a:cs typeface="Marcellus Light" pitchFamily="34" charset="-120"/>
              </a:rPr>
              <a:t>09</a:t>
            </a:r>
            <a:endParaRPr lang="en-US" sz="1550" dirty="0"/>
          </a:p>
        </p:txBody>
      </p:sp>
      <p:sp>
        <p:nvSpPr>
          <p:cNvPr id="28" name="Shape 26"/>
          <p:cNvSpPr/>
          <p:nvPr/>
        </p:nvSpPr>
        <p:spPr>
          <a:xfrm>
            <a:off x="1021675" y="7007185"/>
            <a:ext cx="6193988" cy="22860"/>
          </a:xfrm>
          <a:prstGeom prst="rect">
            <a:avLst/>
          </a:prstGeom>
          <a:solidFill>
            <a:srgbClr val="FF954F"/>
          </a:solidFill>
          <a:ln/>
        </p:spPr>
        <p:txBody>
          <a:bodyPr/>
          <a:lstStyle/>
          <a:p>
            <a:endParaRPr lang="fr-US"/>
          </a:p>
        </p:txBody>
      </p:sp>
      <p:sp>
        <p:nvSpPr>
          <p:cNvPr id="29" name="Text 27"/>
          <p:cNvSpPr/>
          <p:nvPr/>
        </p:nvSpPr>
        <p:spPr>
          <a:xfrm>
            <a:off x="1021675" y="7152323"/>
            <a:ext cx="3686651" cy="371832"/>
          </a:xfrm>
          <a:prstGeom prst="rect">
            <a:avLst/>
          </a:prstGeom>
          <a:noFill/>
          <a:ln/>
        </p:spPr>
        <p:txBody>
          <a:bodyPr wrap="none" lIns="0" tIns="0" rIns="0" bIns="0" rtlCol="0" anchor="t"/>
          <a:lstStyle/>
          <a:p>
            <a:pPr marL="0" indent="0" algn="l">
              <a:lnSpc>
                <a:spcPts val="2900"/>
              </a:lnSpc>
              <a:buNone/>
            </a:pPr>
            <a:r>
              <a:rPr lang="en-US" sz="2250" dirty="0">
                <a:solidFill>
                  <a:srgbClr val="67534F"/>
                </a:solidFill>
                <a:latin typeface="Marcellus" pitchFamily="34" charset="0"/>
                <a:ea typeface="Marcellus" pitchFamily="34" charset="-122"/>
                <a:cs typeface="Marcellus" pitchFamily="34" charset="-120"/>
              </a:rPr>
              <a:t>CONCLUSION</a:t>
            </a:r>
            <a:endParaRPr lang="en-US" sz="2250" dirty="0"/>
          </a:p>
        </p:txBody>
      </p:sp>
      <p:sp>
        <p:nvSpPr>
          <p:cNvPr id="33" name="Rectangle 32"/>
          <p:cNvSpPr/>
          <p:nvPr/>
        </p:nvSpPr>
        <p:spPr>
          <a:xfrm>
            <a:off x="12691241" y="7662041"/>
            <a:ext cx="1939159" cy="457200"/>
          </a:xfrm>
          <a:prstGeom prst="rect">
            <a:avLst/>
          </a:prstGeom>
          <a:solidFill>
            <a:srgbClr val="FDFCF1"/>
          </a:solidFill>
          <a:ln>
            <a:solidFill>
              <a:srgbClr val="FD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712482"/>
            <a:ext cx="3912751" cy="508516"/>
          </a:xfrm>
          <a:prstGeom prst="rect">
            <a:avLst/>
          </a:prstGeom>
          <a:noFill/>
          <a:ln/>
        </p:spPr>
        <p:txBody>
          <a:bodyPr wrap="none" lIns="0" tIns="0" rIns="0" bIns="0" rtlCol="0" anchor="t"/>
          <a:lstStyle/>
          <a:p>
            <a:pPr marL="0" indent="0" algn="l">
              <a:lnSpc>
                <a:spcPts val="4000"/>
              </a:lnSpc>
              <a:buNone/>
            </a:pPr>
            <a:r>
              <a:rPr lang="en-US" sz="3050" dirty="0">
                <a:solidFill>
                  <a:srgbClr val="7D3E2C"/>
                </a:solidFill>
                <a:latin typeface="Marcellus" pitchFamily="34" charset="0"/>
                <a:ea typeface="Marcellus" pitchFamily="34" charset="-122"/>
                <a:cs typeface="Marcellus" pitchFamily="34" charset="-120"/>
              </a:rPr>
              <a:t>I. INTRODUCTION</a:t>
            </a:r>
            <a:endParaRPr lang="en-US" sz="3050" dirty="0"/>
          </a:p>
        </p:txBody>
      </p:sp>
      <p:sp>
        <p:nvSpPr>
          <p:cNvPr id="3" name="Text 1"/>
          <p:cNvSpPr/>
          <p:nvPr/>
        </p:nvSpPr>
        <p:spPr>
          <a:xfrm>
            <a:off x="793790" y="3674626"/>
            <a:ext cx="13042821" cy="1842492"/>
          </a:xfrm>
          <a:prstGeom prst="rect">
            <a:avLst/>
          </a:prstGeom>
          <a:noFill/>
          <a:ln/>
        </p:spPr>
        <p:txBody>
          <a:bodyPr wrap="square" lIns="0" tIns="0" rIns="0" bIns="0" rtlCol="0" anchor="t"/>
          <a:lstStyle/>
          <a:p>
            <a:pPr marL="0" indent="0" algn="l">
              <a:lnSpc>
                <a:spcPts val="2900"/>
              </a:lnSpc>
              <a:buNone/>
            </a:pPr>
            <a:r>
              <a:rPr lang="en-US" sz="2200" dirty="0">
                <a:solidFill>
                  <a:srgbClr val="67534F"/>
                </a:solidFill>
                <a:latin typeface="Montserrat" pitchFamily="34" charset="0"/>
                <a:ea typeface="Montserrat" pitchFamily="34" charset="-122"/>
                <a:cs typeface="Montserrat" pitchFamily="34" charset="-120"/>
              </a:rPr>
              <a:t>Ce document présente l'analyse du projet </a:t>
            </a:r>
            <a:r>
              <a:rPr lang="en-US" sz="2200" b="1" dirty="0">
                <a:solidFill>
                  <a:srgbClr val="FF954F"/>
                </a:solidFill>
                <a:latin typeface="Montserrat" pitchFamily="34" charset="0"/>
                <a:ea typeface="Montserrat" pitchFamily="34" charset="-122"/>
                <a:cs typeface="Montserrat" pitchFamily="34" charset="-120"/>
              </a:rPr>
              <a:t>Distributed File Replicator (DFR)</a:t>
            </a:r>
            <a:r>
              <a:rPr lang="en-US" sz="2200" dirty="0">
                <a:solidFill>
                  <a:srgbClr val="67534F"/>
                </a:solidFill>
                <a:latin typeface="Montserrat" pitchFamily="34" charset="0"/>
                <a:ea typeface="Montserrat" pitchFamily="34" charset="-122"/>
                <a:cs typeface="Montserrat" pitchFamily="34" charset="-120"/>
              </a:rPr>
              <a:t>, un système léger et distribué permettant la réplication automatique et sécurisée de fichiers entre plusieurs machines Debian. L'objectif est de fournir une solution fiable, simple à administrer, adaptée aux environnements nécessitant une synchronisation en temps réel sans point de défaillance unique.</a:t>
            </a:r>
            <a:endParaRPr lang="en-US" sz="2200" dirty="0"/>
          </a:p>
        </p:txBody>
      </p:sp>
      <p:sp>
        <p:nvSpPr>
          <p:cNvPr id="4" name="Rectangle 3"/>
          <p:cNvSpPr/>
          <p:nvPr/>
        </p:nvSpPr>
        <p:spPr>
          <a:xfrm>
            <a:off x="12691241" y="7662041"/>
            <a:ext cx="1939159" cy="457200"/>
          </a:xfrm>
          <a:prstGeom prst="rect">
            <a:avLst/>
          </a:prstGeom>
          <a:solidFill>
            <a:srgbClr val="FDFCF1"/>
          </a:solidFill>
          <a:ln>
            <a:solidFill>
              <a:srgbClr val="FD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712482"/>
            <a:ext cx="5579269" cy="508516"/>
          </a:xfrm>
          <a:prstGeom prst="rect">
            <a:avLst/>
          </a:prstGeom>
          <a:noFill/>
          <a:ln/>
        </p:spPr>
        <p:txBody>
          <a:bodyPr wrap="none" lIns="0" tIns="0" rIns="0" bIns="0" rtlCol="0" anchor="t"/>
          <a:lstStyle/>
          <a:p>
            <a:pPr marL="0" indent="0" algn="l">
              <a:lnSpc>
                <a:spcPts val="4000"/>
              </a:lnSpc>
              <a:buNone/>
            </a:pPr>
            <a:r>
              <a:rPr lang="en-US" sz="3050" dirty="0">
                <a:solidFill>
                  <a:srgbClr val="7D3E2C"/>
                </a:solidFill>
                <a:latin typeface="Marcellus" pitchFamily="34" charset="0"/>
                <a:ea typeface="Marcellus" pitchFamily="34" charset="-122"/>
                <a:cs typeface="Marcellus" pitchFamily="34" charset="-120"/>
              </a:rPr>
              <a:t>II. DESCRIPTION DU CONTEXTE</a:t>
            </a:r>
            <a:endParaRPr lang="en-US" sz="3050" dirty="0"/>
          </a:p>
        </p:txBody>
      </p:sp>
      <p:sp>
        <p:nvSpPr>
          <p:cNvPr id="3" name="Text 1"/>
          <p:cNvSpPr/>
          <p:nvPr/>
        </p:nvSpPr>
        <p:spPr>
          <a:xfrm>
            <a:off x="793790" y="3674626"/>
            <a:ext cx="13042821" cy="1842492"/>
          </a:xfrm>
          <a:prstGeom prst="rect">
            <a:avLst/>
          </a:prstGeom>
          <a:noFill/>
          <a:ln/>
        </p:spPr>
        <p:txBody>
          <a:bodyPr wrap="square" lIns="0" tIns="0" rIns="0" bIns="0" rtlCol="0" anchor="t"/>
          <a:lstStyle/>
          <a:p>
            <a:pPr marL="0" indent="0" algn="l">
              <a:lnSpc>
                <a:spcPts val="2900"/>
              </a:lnSpc>
              <a:buNone/>
            </a:pPr>
            <a:r>
              <a:rPr lang="en-US" sz="2200" dirty="0">
                <a:solidFill>
                  <a:srgbClr val="67534F"/>
                </a:solidFill>
                <a:latin typeface="Montserrat" pitchFamily="34" charset="0"/>
                <a:ea typeface="Montserrat" pitchFamily="34" charset="-122"/>
                <a:cs typeface="Montserrat" pitchFamily="34" charset="-120"/>
              </a:rPr>
              <a:t>Dans les environnements distribués, la synchronisation manuelle des fichiers est source d'erreurs et ne permet pas une réactivité en temps réel. Les systèmes centralisés présentent un risque de point de défaillance unique et une maintenance complexe. Le DFR vise à répondre à ces limites en proposant une réplication automatique, sécurisée et cohérente entre plusieurs nœuds.</a:t>
            </a:r>
            <a:endParaRPr lang="en-US" sz="2200" dirty="0"/>
          </a:p>
        </p:txBody>
      </p:sp>
      <p:sp>
        <p:nvSpPr>
          <p:cNvPr id="4" name="Rectangle 3"/>
          <p:cNvSpPr/>
          <p:nvPr/>
        </p:nvSpPr>
        <p:spPr>
          <a:xfrm>
            <a:off x="12691241" y="7662041"/>
            <a:ext cx="1939159" cy="457200"/>
          </a:xfrm>
          <a:prstGeom prst="rect">
            <a:avLst/>
          </a:prstGeom>
          <a:solidFill>
            <a:srgbClr val="FDFCF1"/>
          </a:solidFill>
          <a:ln>
            <a:solidFill>
              <a:srgbClr val="FD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789271" y="707827"/>
            <a:ext cx="3800118" cy="391835"/>
          </a:xfrm>
          <a:prstGeom prst="rect">
            <a:avLst/>
          </a:prstGeom>
          <a:noFill/>
          <a:ln/>
        </p:spPr>
        <p:txBody>
          <a:bodyPr wrap="none" lIns="0" tIns="0" rIns="0" bIns="0" rtlCol="0" anchor="t"/>
          <a:lstStyle/>
          <a:p>
            <a:pPr marL="0" indent="0" algn="l">
              <a:lnSpc>
                <a:spcPts val="3050"/>
              </a:lnSpc>
              <a:buNone/>
            </a:pPr>
            <a:r>
              <a:rPr lang="en-US" sz="2350" dirty="0">
                <a:solidFill>
                  <a:srgbClr val="7D3E2C"/>
                </a:solidFill>
                <a:latin typeface="Marcellus" pitchFamily="34" charset="0"/>
                <a:ea typeface="Marcellus" pitchFamily="34" charset="-122"/>
                <a:cs typeface="Marcellus" pitchFamily="34" charset="-120"/>
              </a:rPr>
              <a:t>III. BESOINS FONCTIONNELS</a:t>
            </a:r>
            <a:endParaRPr lang="en-US" sz="2350" dirty="0"/>
          </a:p>
        </p:txBody>
      </p:sp>
      <p:sp>
        <p:nvSpPr>
          <p:cNvPr id="3" name="Shape 1"/>
          <p:cNvSpPr/>
          <p:nvPr/>
        </p:nvSpPr>
        <p:spPr>
          <a:xfrm>
            <a:off x="1789271" y="1558290"/>
            <a:ext cx="393144" cy="393144"/>
          </a:xfrm>
          <a:prstGeom prst="roundRect">
            <a:avLst>
              <a:gd name="adj" fmla="val 18667"/>
            </a:avLst>
          </a:prstGeom>
          <a:solidFill>
            <a:srgbClr val="FFFFF4"/>
          </a:solidFill>
          <a:ln w="15240">
            <a:solidFill>
              <a:srgbClr val="FFE0CC"/>
            </a:solidFill>
            <a:prstDash val="solid"/>
          </a:ln>
        </p:spPr>
        <p:txBody>
          <a:bodyPr/>
          <a:lstStyle/>
          <a:p>
            <a:endParaRPr lang="fr-US"/>
          </a:p>
        </p:txBody>
      </p:sp>
      <p:sp>
        <p:nvSpPr>
          <p:cNvPr id="4" name="Text 2"/>
          <p:cNvSpPr/>
          <p:nvPr/>
        </p:nvSpPr>
        <p:spPr>
          <a:xfrm>
            <a:off x="1835170" y="1558945"/>
            <a:ext cx="301347" cy="391835"/>
          </a:xfrm>
          <a:prstGeom prst="rect">
            <a:avLst/>
          </a:prstGeom>
          <a:noFill/>
          <a:ln/>
        </p:spPr>
        <p:txBody>
          <a:bodyPr wrap="none" lIns="0" tIns="0" rIns="0" bIns="0" rtlCol="0" anchor="t"/>
          <a:lstStyle/>
          <a:p>
            <a:pPr marL="0" indent="0" algn="ctr">
              <a:lnSpc>
                <a:spcPts val="2350"/>
              </a:lnSpc>
              <a:buNone/>
            </a:pPr>
            <a:r>
              <a:rPr lang="en-US" sz="2350" dirty="0">
                <a:solidFill>
                  <a:srgbClr val="67534F"/>
                </a:solidFill>
                <a:latin typeface="Marcellus" pitchFamily="34" charset="0"/>
                <a:ea typeface="Marcellus" pitchFamily="34" charset="-122"/>
                <a:cs typeface="Marcellus" pitchFamily="34" charset="-120"/>
              </a:rPr>
              <a:t>1</a:t>
            </a:r>
            <a:endParaRPr lang="en-US" sz="2350" dirty="0"/>
          </a:p>
        </p:txBody>
      </p:sp>
      <p:sp>
        <p:nvSpPr>
          <p:cNvPr id="5" name="Text 3"/>
          <p:cNvSpPr/>
          <p:nvPr/>
        </p:nvSpPr>
        <p:spPr>
          <a:xfrm>
            <a:off x="2357080" y="1612821"/>
            <a:ext cx="2654141" cy="326588"/>
          </a:xfrm>
          <a:prstGeom prst="rect">
            <a:avLst/>
          </a:prstGeom>
          <a:noFill/>
          <a:ln/>
        </p:spPr>
        <p:txBody>
          <a:bodyPr wrap="none" lIns="0" tIns="0" rIns="0" bIns="0" rtlCol="0" anchor="t"/>
          <a:lstStyle/>
          <a:p>
            <a:pPr marL="0" indent="0" algn="l">
              <a:lnSpc>
                <a:spcPts val="2550"/>
              </a:lnSpc>
              <a:buNone/>
            </a:pPr>
            <a:r>
              <a:rPr lang="en-US" sz="1950" dirty="0">
                <a:solidFill>
                  <a:srgbClr val="67534F"/>
                </a:solidFill>
                <a:latin typeface="Marcellus" pitchFamily="34" charset="0"/>
                <a:ea typeface="Marcellus" pitchFamily="34" charset="-122"/>
                <a:cs typeface="Marcellus" pitchFamily="34" charset="-120"/>
              </a:rPr>
              <a:t>Détection automatique</a:t>
            </a:r>
            <a:endParaRPr lang="en-US" sz="1950" dirty="0"/>
          </a:p>
        </p:txBody>
      </p:sp>
      <p:sp>
        <p:nvSpPr>
          <p:cNvPr id="6" name="Text 4"/>
          <p:cNvSpPr/>
          <p:nvPr/>
        </p:nvSpPr>
        <p:spPr>
          <a:xfrm>
            <a:off x="2357080" y="2114074"/>
            <a:ext cx="4744879" cy="681514"/>
          </a:xfrm>
          <a:prstGeom prst="rect">
            <a:avLst/>
          </a:prstGeom>
          <a:noFill/>
          <a:ln/>
        </p:spPr>
        <p:txBody>
          <a:bodyPr wrap="square" lIns="0" tIns="0" rIns="0" bIns="0" rtlCol="0" anchor="t"/>
          <a:lstStyle/>
          <a:p>
            <a:pPr marL="0" indent="0" algn="l">
              <a:lnSpc>
                <a:spcPts val="1750"/>
              </a:lnSpc>
              <a:buNone/>
            </a:pPr>
            <a:r>
              <a:rPr lang="en-US" sz="1350" dirty="0">
                <a:solidFill>
                  <a:srgbClr val="67534F"/>
                </a:solidFill>
                <a:latin typeface="Montserrat" pitchFamily="34" charset="0"/>
                <a:ea typeface="Montserrat" pitchFamily="34" charset="-122"/>
                <a:cs typeface="Montserrat" pitchFamily="34" charset="-120"/>
              </a:rPr>
              <a:t>Détection automatique des modifications de fichiers (création, modification, suppression, renommage) via inotify.</a:t>
            </a:r>
            <a:endParaRPr lang="en-US" sz="1350" dirty="0"/>
          </a:p>
        </p:txBody>
      </p:sp>
      <p:sp>
        <p:nvSpPr>
          <p:cNvPr id="7" name="Shape 5"/>
          <p:cNvSpPr/>
          <p:nvPr/>
        </p:nvSpPr>
        <p:spPr>
          <a:xfrm>
            <a:off x="1789271" y="3145036"/>
            <a:ext cx="393144" cy="393144"/>
          </a:xfrm>
          <a:prstGeom prst="roundRect">
            <a:avLst>
              <a:gd name="adj" fmla="val 18667"/>
            </a:avLst>
          </a:prstGeom>
          <a:solidFill>
            <a:srgbClr val="FFFFF4"/>
          </a:solidFill>
          <a:ln w="15240">
            <a:solidFill>
              <a:srgbClr val="FFE0CC"/>
            </a:solidFill>
            <a:prstDash val="solid"/>
          </a:ln>
        </p:spPr>
        <p:txBody>
          <a:bodyPr/>
          <a:lstStyle/>
          <a:p>
            <a:endParaRPr lang="fr-US"/>
          </a:p>
        </p:txBody>
      </p:sp>
      <p:sp>
        <p:nvSpPr>
          <p:cNvPr id="8" name="Text 6"/>
          <p:cNvSpPr/>
          <p:nvPr/>
        </p:nvSpPr>
        <p:spPr>
          <a:xfrm>
            <a:off x="1835170" y="3145691"/>
            <a:ext cx="301347" cy="391835"/>
          </a:xfrm>
          <a:prstGeom prst="rect">
            <a:avLst/>
          </a:prstGeom>
          <a:noFill/>
          <a:ln/>
        </p:spPr>
        <p:txBody>
          <a:bodyPr wrap="none" lIns="0" tIns="0" rIns="0" bIns="0" rtlCol="0" anchor="t"/>
          <a:lstStyle/>
          <a:p>
            <a:pPr marL="0" indent="0" algn="ctr">
              <a:lnSpc>
                <a:spcPts val="2350"/>
              </a:lnSpc>
              <a:buNone/>
            </a:pPr>
            <a:r>
              <a:rPr lang="en-US" sz="2350" dirty="0">
                <a:solidFill>
                  <a:srgbClr val="67534F"/>
                </a:solidFill>
                <a:latin typeface="Marcellus" pitchFamily="34" charset="0"/>
                <a:ea typeface="Marcellus" pitchFamily="34" charset="-122"/>
                <a:cs typeface="Marcellus" pitchFamily="34" charset="-120"/>
              </a:rPr>
              <a:t>2</a:t>
            </a:r>
            <a:endParaRPr lang="en-US" sz="2350" dirty="0"/>
          </a:p>
        </p:txBody>
      </p:sp>
      <p:sp>
        <p:nvSpPr>
          <p:cNvPr id="9" name="Text 7"/>
          <p:cNvSpPr/>
          <p:nvPr/>
        </p:nvSpPr>
        <p:spPr>
          <a:xfrm>
            <a:off x="2357080" y="3199567"/>
            <a:ext cx="2790706" cy="326588"/>
          </a:xfrm>
          <a:prstGeom prst="rect">
            <a:avLst/>
          </a:prstGeom>
          <a:noFill/>
          <a:ln/>
        </p:spPr>
        <p:txBody>
          <a:bodyPr wrap="none" lIns="0" tIns="0" rIns="0" bIns="0" rtlCol="0" anchor="t"/>
          <a:lstStyle/>
          <a:p>
            <a:pPr marL="0" indent="0" algn="l">
              <a:lnSpc>
                <a:spcPts val="2550"/>
              </a:lnSpc>
              <a:buNone/>
            </a:pPr>
            <a:r>
              <a:rPr lang="en-US" sz="1950" dirty="0">
                <a:solidFill>
                  <a:srgbClr val="67534F"/>
                </a:solidFill>
                <a:latin typeface="Marcellus" pitchFamily="34" charset="0"/>
                <a:ea typeface="Marcellus" pitchFamily="34" charset="-122"/>
                <a:cs typeface="Marcellus" pitchFamily="34" charset="-120"/>
              </a:rPr>
              <a:t>Réplication multi-nœuds</a:t>
            </a:r>
            <a:endParaRPr lang="en-US" sz="1950" dirty="0"/>
          </a:p>
        </p:txBody>
      </p:sp>
      <p:sp>
        <p:nvSpPr>
          <p:cNvPr id="10" name="Text 8"/>
          <p:cNvSpPr/>
          <p:nvPr/>
        </p:nvSpPr>
        <p:spPr>
          <a:xfrm>
            <a:off x="2357080" y="3700820"/>
            <a:ext cx="4744879" cy="227171"/>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Montserrat" pitchFamily="34" charset="0"/>
                <a:ea typeface="Montserrat" pitchFamily="34" charset="-122"/>
                <a:cs typeface="Montserrat" pitchFamily="34" charset="-120"/>
              </a:rPr>
              <a:t>Réplication multi-nœuds en temps réel.</a:t>
            </a:r>
            <a:endParaRPr lang="en-US" sz="1350" dirty="0"/>
          </a:p>
        </p:txBody>
      </p:sp>
      <p:sp>
        <p:nvSpPr>
          <p:cNvPr id="11" name="Shape 9"/>
          <p:cNvSpPr/>
          <p:nvPr/>
        </p:nvSpPr>
        <p:spPr>
          <a:xfrm>
            <a:off x="1789271" y="4277439"/>
            <a:ext cx="393144" cy="393144"/>
          </a:xfrm>
          <a:prstGeom prst="roundRect">
            <a:avLst>
              <a:gd name="adj" fmla="val 18667"/>
            </a:avLst>
          </a:prstGeom>
          <a:solidFill>
            <a:srgbClr val="FFFFF4"/>
          </a:solidFill>
          <a:ln w="15240">
            <a:solidFill>
              <a:srgbClr val="FFE0CC"/>
            </a:solidFill>
            <a:prstDash val="solid"/>
          </a:ln>
        </p:spPr>
        <p:txBody>
          <a:bodyPr/>
          <a:lstStyle/>
          <a:p>
            <a:endParaRPr lang="fr-US"/>
          </a:p>
        </p:txBody>
      </p:sp>
      <p:sp>
        <p:nvSpPr>
          <p:cNvPr id="12" name="Text 10"/>
          <p:cNvSpPr/>
          <p:nvPr/>
        </p:nvSpPr>
        <p:spPr>
          <a:xfrm>
            <a:off x="1835170" y="4278094"/>
            <a:ext cx="301347" cy="391835"/>
          </a:xfrm>
          <a:prstGeom prst="rect">
            <a:avLst/>
          </a:prstGeom>
          <a:noFill/>
          <a:ln/>
        </p:spPr>
        <p:txBody>
          <a:bodyPr wrap="none" lIns="0" tIns="0" rIns="0" bIns="0" rtlCol="0" anchor="t"/>
          <a:lstStyle/>
          <a:p>
            <a:pPr marL="0" indent="0" algn="ctr">
              <a:lnSpc>
                <a:spcPts val="2350"/>
              </a:lnSpc>
              <a:buNone/>
            </a:pPr>
            <a:r>
              <a:rPr lang="en-US" sz="2350" dirty="0">
                <a:solidFill>
                  <a:srgbClr val="67534F"/>
                </a:solidFill>
                <a:latin typeface="Marcellus" pitchFamily="34" charset="0"/>
                <a:ea typeface="Marcellus" pitchFamily="34" charset="-122"/>
                <a:cs typeface="Marcellus" pitchFamily="34" charset="-120"/>
              </a:rPr>
              <a:t>3</a:t>
            </a:r>
            <a:endParaRPr lang="en-US" sz="2350" dirty="0"/>
          </a:p>
        </p:txBody>
      </p:sp>
      <p:sp>
        <p:nvSpPr>
          <p:cNvPr id="13" name="Text 11"/>
          <p:cNvSpPr/>
          <p:nvPr/>
        </p:nvSpPr>
        <p:spPr>
          <a:xfrm>
            <a:off x="2357080" y="4331970"/>
            <a:ext cx="3283029" cy="326588"/>
          </a:xfrm>
          <a:prstGeom prst="rect">
            <a:avLst/>
          </a:prstGeom>
          <a:noFill/>
          <a:ln/>
        </p:spPr>
        <p:txBody>
          <a:bodyPr wrap="none" lIns="0" tIns="0" rIns="0" bIns="0" rtlCol="0" anchor="t"/>
          <a:lstStyle/>
          <a:p>
            <a:pPr marL="0" indent="0" algn="l">
              <a:lnSpc>
                <a:spcPts val="2550"/>
              </a:lnSpc>
              <a:buNone/>
            </a:pPr>
            <a:r>
              <a:rPr lang="en-US" sz="1950" dirty="0">
                <a:solidFill>
                  <a:srgbClr val="67534F"/>
                </a:solidFill>
                <a:latin typeface="Marcellus" pitchFamily="34" charset="0"/>
                <a:ea typeface="Marcellus" pitchFamily="34" charset="-122"/>
                <a:cs typeface="Marcellus" pitchFamily="34" charset="-120"/>
              </a:rPr>
              <a:t>Synchronisation différentielle</a:t>
            </a:r>
            <a:endParaRPr lang="en-US" sz="1950" dirty="0"/>
          </a:p>
        </p:txBody>
      </p:sp>
      <p:sp>
        <p:nvSpPr>
          <p:cNvPr id="14" name="Text 12"/>
          <p:cNvSpPr/>
          <p:nvPr/>
        </p:nvSpPr>
        <p:spPr>
          <a:xfrm>
            <a:off x="2357080" y="4833223"/>
            <a:ext cx="4744879" cy="454343"/>
          </a:xfrm>
          <a:prstGeom prst="rect">
            <a:avLst/>
          </a:prstGeom>
          <a:noFill/>
          <a:ln/>
        </p:spPr>
        <p:txBody>
          <a:bodyPr wrap="square" lIns="0" tIns="0" rIns="0" bIns="0" rtlCol="0" anchor="t"/>
          <a:lstStyle/>
          <a:p>
            <a:pPr marL="0" indent="0" algn="l">
              <a:lnSpc>
                <a:spcPts val="1750"/>
              </a:lnSpc>
              <a:buNone/>
            </a:pPr>
            <a:r>
              <a:rPr lang="en-US" sz="1350" dirty="0">
                <a:solidFill>
                  <a:srgbClr val="67534F"/>
                </a:solidFill>
                <a:latin typeface="Montserrat" pitchFamily="34" charset="0"/>
                <a:ea typeface="Montserrat" pitchFamily="34" charset="-122"/>
                <a:cs typeface="Montserrat" pitchFamily="34" charset="-120"/>
              </a:rPr>
              <a:t>Synchronisation différentielle avec rsync pour limiter l'utilisation du réseau.</a:t>
            </a:r>
            <a:endParaRPr lang="en-US" sz="1350" dirty="0"/>
          </a:p>
        </p:txBody>
      </p:sp>
      <p:sp>
        <p:nvSpPr>
          <p:cNvPr id="15" name="Shape 13"/>
          <p:cNvSpPr/>
          <p:nvPr/>
        </p:nvSpPr>
        <p:spPr>
          <a:xfrm>
            <a:off x="1789271" y="5637014"/>
            <a:ext cx="393144" cy="393144"/>
          </a:xfrm>
          <a:prstGeom prst="roundRect">
            <a:avLst>
              <a:gd name="adj" fmla="val 18667"/>
            </a:avLst>
          </a:prstGeom>
          <a:solidFill>
            <a:srgbClr val="FFFFF4"/>
          </a:solidFill>
          <a:ln w="15240">
            <a:solidFill>
              <a:srgbClr val="FFE0CC"/>
            </a:solidFill>
            <a:prstDash val="solid"/>
          </a:ln>
        </p:spPr>
        <p:txBody>
          <a:bodyPr/>
          <a:lstStyle/>
          <a:p>
            <a:endParaRPr lang="fr-US"/>
          </a:p>
        </p:txBody>
      </p:sp>
      <p:sp>
        <p:nvSpPr>
          <p:cNvPr id="16" name="Text 14"/>
          <p:cNvSpPr/>
          <p:nvPr/>
        </p:nvSpPr>
        <p:spPr>
          <a:xfrm>
            <a:off x="1835170" y="5637669"/>
            <a:ext cx="301347" cy="391835"/>
          </a:xfrm>
          <a:prstGeom prst="rect">
            <a:avLst/>
          </a:prstGeom>
          <a:noFill/>
          <a:ln/>
        </p:spPr>
        <p:txBody>
          <a:bodyPr wrap="none" lIns="0" tIns="0" rIns="0" bIns="0" rtlCol="0" anchor="t"/>
          <a:lstStyle/>
          <a:p>
            <a:pPr marL="0" indent="0" algn="ctr">
              <a:lnSpc>
                <a:spcPts val="2350"/>
              </a:lnSpc>
              <a:buNone/>
            </a:pPr>
            <a:r>
              <a:rPr lang="en-US" sz="2350" dirty="0">
                <a:solidFill>
                  <a:srgbClr val="67534F"/>
                </a:solidFill>
                <a:latin typeface="Marcellus" pitchFamily="34" charset="0"/>
                <a:ea typeface="Marcellus" pitchFamily="34" charset="-122"/>
                <a:cs typeface="Marcellus" pitchFamily="34" charset="-120"/>
              </a:rPr>
              <a:t>4</a:t>
            </a:r>
            <a:endParaRPr lang="en-US" sz="2350" dirty="0"/>
          </a:p>
        </p:txBody>
      </p:sp>
      <p:sp>
        <p:nvSpPr>
          <p:cNvPr id="17" name="Text 15"/>
          <p:cNvSpPr/>
          <p:nvPr/>
        </p:nvSpPr>
        <p:spPr>
          <a:xfrm>
            <a:off x="2357080" y="5691545"/>
            <a:ext cx="2511743" cy="326588"/>
          </a:xfrm>
          <a:prstGeom prst="rect">
            <a:avLst/>
          </a:prstGeom>
          <a:noFill/>
          <a:ln/>
        </p:spPr>
        <p:txBody>
          <a:bodyPr wrap="none" lIns="0" tIns="0" rIns="0" bIns="0" rtlCol="0" anchor="t"/>
          <a:lstStyle/>
          <a:p>
            <a:pPr marL="0" indent="0" algn="l">
              <a:lnSpc>
                <a:spcPts val="2550"/>
              </a:lnSpc>
              <a:buNone/>
            </a:pPr>
            <a:r>
              <a:rPr lang="en-US" sz="1950" dirty="0">
                <a:solidFill>
                  <a:srgbClr val="67534F"/>
                </a:solidFill>
                <a:latin typeface="Marcellus" pitchFamily="34" charset="0"/>
                <a:ea typeface="Marcellus" pitchFamily="34" charset="-122"/>
                <a:cs typeface="Marcellus" pitchFamily="34" charset="-120"/>
              </a:rPr>
              <a:t>Mode multi-maître</a:t>
            </a:r>
            <a:endParaRPr lang="en-US" sz="1950" dirty="0"/>
          </a:p>
        </p:txBody>
      </p:sp>
      <p:sp>
        <p:nvSpPr>
          <p:cNvPr id="18" name="Text 16"/>
          <p:cNvSpPr/>
          <p:nvPr/>
        </p:nvSpPr>
        <p:spPr>
          <a:xfrm>
            <a:off x="2357080" y="6192798"/>
            <a:ext cx="4744879" cy="227171"/>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Montserrat" pitchFamily="34" charset="0"/>
                <a:ea typeface="Montserrat" pitchFamily="34" charset="-122"/>
                <a:cs typeface="Montserrat" pitchFamily="34" charset="-120"/>
              </a:rPr>
              <a:t>Mode multi-maître avec réplication bidirectionnelle.</a:t>
            </a:r>
            <a:endParaRPr lang="en-US" sz="1350" dirty="0"/>
          </a:p>
        </p:txBody>
      </p:sp>
      <p:sp>
        <p:nvSpPr>
          <p:cNvPr id="19" name="Shape 17"/>
          <p:cNvSpPr/>
          <p:nvPr/>
        </p:nvSpPr>
        <p:spPr>
          <a:xfrm>
            <a:off x="7535823" y="1558290"/>
            <a:ext cx="299639" cy="393144"/>
          </a:xfrm>
          <a:prstGeom prst="roundRect">
            <a:avLst>
              <a:gd name="adj" fmla="val 18667"/>
            </a:avLst>
          </a:prstGeom>
          <a:solidFill>
            <a:srgbClr val="FFFFF4"/>
          </a:solidFill>
          <a:ln w="15240">
            <a:solidFill>
              <a:srgbClr val="FFE0CC"/>
            </a:solidFill>
            <a:prstDash val="solid"/>
          </a:ln>
        </p:spPr>
        <p:txBody>
          <a:bodyPr/>
          <a:lstStyle/>
          <a:p>
            <a:endParaRPr lang="fr-US"/>
          </a:p>
        </p:txBody>
      </p:sp>
      <p:sp>
        <p:nvSpPr>
          <p:cNvPr id="20" name="Text 18"/>
          <p:cNvSpPr/>
          <p:nvPr/>
        </p:nvSpPr>
        <p:spPr>
          <a:xfrm>
            <a:off x="7581721" y="1558945"/>
            <a:ext cx="301347" cy="391835"/>
          </a:xfrm>
          <a:prstGeom prst="rect">
            <a:avLst/>
          </a:prstGeom>
          <a:noFill/>
          <a:ln/>
        </p:spPr>
        <p:txBody>
          <a:bodyPr wrap="none" lIns="0" tIns="0" rIns="0" bIns="0" rtlCol="0" anchor="t"/>
          <a:lstStyle/>
          <a:p>
            <a:pPr marL="0" indent="0" algn="ctr">
              <a:lnSpc>
                <a:spcPts val="2350"/>
              </a:lnSpc>
              <a:buNone/>
            </a:pPr>
            <a:r>
              <a:rPr lang="en-US" sz="2350" dirty="0">
                <a:solidFill>
                  <a:srgbClr val="67534F"/>
                </a:solidFill>
                <a:latin typeface="Marcellus" pitchFamily="34" charset="0"/>
                <a:ea typeface="Marcellus" pitchFamily="34" charset="-122"/>
              </a:rPr>
              <a:t>5</a:t>
            </a:r>
            <a:endParaRPr lang="en-US" sz="2350" dirty="0"/>
          </a:p>
        </p:txBody>
      </p:sp>
      <p:sp>
        <p:nvSpPr>
          <p:cNvPr id="21" name="Text 19"/>
          <p:cNvSpPr/>
          <p:nvPr/>
        </p:nvSpPr>
        <p:spPr>
          <a:xfrm>
            <a:off x="8103632" y="1612821"/>
            <a:ext cx="2511743" cy="326588"/>
          </a:xfrm>
          <a:prstGeom prst="rect">
            <a:avLst/>
          </a:prstGeom>
          <a:noFill/>
          <a:ln/>
        </p:spPr>
        <p:txBody>
          <a:bodyPr wrap="none" lIns="0" tIns="0" rIns="0" bIns="0" rtlCol="0" anchor="t"/>
          <a:lstStyle/>
          <a:p>
            <a:pPr marL="0" indent="0" algn="l">
              <a:lnSpc>
                <a:spcPts val="2550"/>
              </a:lnSpc>
              <a:buNone/>
            </a:pPr>
            <a:r>
              <a:rPr lang="en-US" sz="1950" dirty="0">
                <a:solidFill>
                  <a:srgbClr val="67534F"/>
                </a:solidFill>
                <a:latin typeface="Marcellus" pitchFamily="34" charset="0"/>
                <a:ea typeface="Marcellus" pitchFamily="34" charset="-122"/>
                <a:cs typeface="Marcellus" pitchFamily="34" charset="-120"/>
              </a:rPr>
              <a:t>Gestion des conflits</a:t>
            </a:r>
            <a:endParaRPr lang="en-US" sz="1950" dirty="0"/>
          </a:p>
        </p:txBody>
      </p:sp>
      <p:sp>
        <p:nvSpPr>
          <p:cNvPr id="22" name="Text 20"/>
          <p:cNvSpPr/>
          <p:nvPr/>
        </p:nvSpPr>
        <p:spPr>
          <a:xfrm>
            <a:off x="8103632" y="2114074"/>
            <a:ext cx="4744879" cy="454343"/>
          </a:xfrm>
          <a:prstGeom prst="rect">
            <a:avLst/>
          </a:prstGeom>
          <a:noFill/>
          <a:ln/>
        </p:spPr>
        <p:txBody>
          <a:bodyPr wrap="square" lIns="0" tIns="0" rIns="0" bIns="0" rtlCol="0" anchor="t"/>
          <a:lstStyle/>
          <a:p>
            <a:pPr marL="0" indent="0" algn="l">
              <a:lnSpc>
                <a:spcPts val="1750"/>
              </a:lnSpc>
              <a:buNone/>
            </a:pPr>
            <a:r>
              <a:rPr lang="en-US" sz="1350" dirty="0">
                <a:solidFill>
                  <a:srgbClr val="67534F"/>
                </a:solidFill>
                <a:latin typeface="Montserrat" pitchFamily="34" charset="0"/>
                <a:ea typeface="Montserrat" pitchFamily="34" charset="-122"/>
                <a:cs typeface="Montserrat" pitchFamily="34" charset="-120"/>
              </a:rPr>
              <a:t>Gestion des conflits basée sur l'horodatage (Last Writer Wins).</a:t>
            </a:r>
            <a:endParaRPr lang="en-US" sz="1350" dirty="0"/>
          </a:p>
        </p:txBody>
      </p:sp>
      <p:sp>
        <p:nvSpPr>
          <p:cNvPr id="23" name="Shape 21"/>
          <p:cNvSpPr/>
          <p:nvPr/>
        </p:nvSpPr>
        <p:spPr>
          <a:xfrm>
            <a:off x="7535823" y="2917865"/>
            <a:ext cx="393144" cy="393144"/>
          </a:xfrm>
          <a:prstGeom prst="roundRect">
            <a:avLst>
              <a:gd name="adj" fmla="val 18667"/>
            </a:avLst>
          </a:prstGeom>
          <a:solidFill>
            <a:srgbClr val="FFFFF4"/>
          </a:solidFill>
          <a:ln w="15240">
            <a:solidFill>
              <a:srgbClr val="FFE0CC"/>
            </a:solidFill>
            <a:prstDash val="solid"/>
          </a:ln>
        </p:spPr>
        <p:txBody>
          <a:bodyPr/>
          <a:lstStyle/>
          <a:p>
            <a:endParaRPr lang="fr-US"/>
          </a:p>
        </p:txBody>
      </p:sp>
      <p:sp>
        <p:nvSpPr>
          <p:cNvPr id="24" name="Text 22"/>
          <p:cNvSpPr/>
          <p:nvPr/>
        </p:nvSpPr>
        <p:spPr>
          <a:xfrm>
            <a:off x="7581721" y="2918520"/>
            <a:ext cx="301347" cy="391835"/>
          </a:xfrm>
          <a:prstGeom prst="rect">
            <a:avLst/>
          </a:prstGeom>
          <a:noFill/>
          <a:ln/>
        </p:spPr>
        <p:txBody>
          <a:bodyPr wrap="none" lIns="0" tIns="0" rIns="0" bIns="0" rtlCol="0" anchor="t"/>
          <a:lstStyle/>
          <a:p>
            <a:pPr marL="0" indent="0" algn="ctr">
              <a:lnSpc>
                <a:spcPts val="2350"/>
              </a:lnSpc>
              <a:buNone/>
            </a:pPr>
            <a:r>
              <a:rPr lang="en-US" sz="2350" dirty="0">
                <a:solidFill>
                  <a:srgbClr val="67534F"/>
                </a:solidFill>
                <a:latin typeface="Marcellus" pitchFamily="34" charset="0"/>
                <a:ea typeface="Marcellus" pitchFamily="34" charset="-122"/>
              </a:rPr>
              <a:t>6</a:t>
            </a:r>
            <a:endParaRPr lang="en-US" sz="2350" dirty="0"/>
          </a:p>
        </p:txBody>
      </p:sp>
      <p:sp>
        <p:nvSpPr>
          <p:cNvPr id="25" name="Text 23"/>
          <p:cNvSpPr/>
          <p:nvPr/>
        </p:nvSpPr>
        <p:spPr>
          <a:xfrm>
            <a:off x="8103632" y="2972395"/>
            <a:ext cx="2511743" cy="326588"/>
          </a:xfrm>
          <a:prstGeom prst="rect">
            <a:avLst/>
          </a:prstGeom>
          <a:noFill/>
          <a:ln/>
        </p:spPr>
        <p:txBody>
          <a:bodyPr wrap="none" lIns="0" tIns="0" rIns="0" bIns="0" rtlCol="0" anchor="t"/>
          <a:lstStyle/>
          <a:p>
            <a:pPr marL="0" indent="0" algn="l">
              <a:lnSpc>
                <a:spcPts val="2550"/>
              </a:lnSpc>
              <a:buNone/>
            </a:pPr>
            <a:r>
              <a:rPr lang="en-US" sz="1950" dirty="0">
                <a:solidFill>
                  <a:srgbClr val="67534F"/>
                </a:solidFill>
                <a:latin typeface="Marcellus" pitchFamily="34" charset="0"/>
                <a:ea typeface="Marcellus" pitchFamily="34" charset="-122"/>
                <a:cs typeface="Marcellus" pitchFamily="34" charset="-120"/>
              </a:rPr>
              <a:t>Journalisation</a:t>
            </a:r>
            <a:endParaRPr lang="en-US" sz="1950" dirty="0"/>
          </a:p>
        </p:txBody>
      </p:sp>
      <p:sp>
        <p:nvSpPr>
          <p:cNvPr id="26" name="Text 24"/>
          <p:cNvSpPr/>
          <p:nvPr/>
        </p:nvSpPr>
        <p:spPr>
          <a:xfrm>
            <a:off x="8103632" y="3473648"/>
            <a:ext cx="4744879" cy="227171"/>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Montserrat" pitchFamily="34" charset="0"/>
                <a:ea typeface="Montserrat" pitchFamily="34" charset="-122"/>
                <a:cs typeface="Montserrat" pitchFamily="34" charset="-120"/>
              </a:rPr>
              <a:t>Journalisation des opérations de synchronisation.</a:t>
            </a:r>
            <a:endParaRPr lang="en-US" sz="1350" dirty="0"/>
          </a:p>
        </p:txBody>
      </p:sp>
      <p:sp>
        <p:nvSpPr>
          <p:cNvPr id="27" name="Shape 25"/>
          <p:cNvSpPr/>
          <p:nvPr/>
        </p:nvSpPr>
        <p:spPr>
          <a:xfrm>
            <a:off x="7535823" y="4050268"/>
            <a:ext cx="393144" cy="393144"/>
          </a:xfrm>
          <a:prstGeom prst="roundRect">
            <a:avLst>
              <a:gd name="adj" fmla="val 18667"/>
            </a:avLst>
          </a:prstGeom>
          <a:solidFill>
            <a:srgbClr val="FFFFF4"/>
          </a:solidFill>
          <a:ln w="15240">
            <a:solidFill>
              <a:srgbClr val="FFE0CC"/>
            </a:solidFill>
            <a:prstDash val="solid"/>
          </a:ln>
        </p:spPr>
        <p:txBody>
          <a:bodyPr/>
          <a:lstStyle/>
          <a:p>
            <a:endParaRPr lang="fr-US"/>
          </a:p>
        </p:txBody>
      </p:sp>
      <p:sp>
        <p:nvSpPr>
          <p:cNvPr id="28" name="Text 26"/>
          <p:cNvSpPr/>
          <p:nvPr/>
        </p:nvSpPr>
        <p:spPr>
          <a:xfrm>
            <a:off x="7581721" y="4050923"/>
            <a:ext cx="301347" cy="391835"/>
          </a:xfrm>
          <a:prstGeom prst="rect">
            <a:avLst/>
          </a:prstGeom>
          <a:noFill/>
          <a:ln/>
        </p:spPr>
        <p:txBody>
          <a:bodyPr wrap="none" lIns="0" tIns="0" rIns="0" bIns="0" rtlCol="0" anchor="t"/>
          <a:lstStyle/>
          <a:p>
            <a:pPr marL="0" indent="0" algn="ctr">
              <a:lnSpc>
                <a:spcPts val="2350"/>
              </a:lnSpc>
              <a:buNone/>
            </a:pPr>
            <a:r>
              <a:rPr lang="en-US" sz="2350" dirty="0">
                <a:solidFill>
                  <a:srgbClr val="67534F"/>
                </a:solidFill>
                <a:latin typeface="Marcellus" pitchFamily="34" charset="0"/>
                <a:ea typeface="Marcellus" pitchFamily="34" charset="-122"/>
              </a:rPr>
              <a:t>7</a:t>
            </a:r>
            <a:endParaRPr lang="en-US" sz="2350" dirty="0"/>
          </a:p>
        </p:txBody>
      </p:sp>
      <p:sp>
        <p:nvSpPr>
          <p:cNvPr id="29" name="Text 27"/>
          <p:cNvSpPr/>
          <p:nvPr/>
        </p:nvSpPr>
        <p:spPr>
          <a:xfrm>
            <a:off x="8103632" y="4104799"/>
            <a:ext cx="2925247" cy="326588"/>
          </a:xfrm>
          <a:prstGeom prst="rect">
            <a:avLst/>
          </a:prstGeom>
          <a:noFill/>
          <a:ln/>
        </p:spPr>
        <p:txBody>
          <a:bodyPr wrap="none" lIns="0" tIns="0" rIns="0" bIns="0" rtlCol="0" anchor="t"/>
          <a:lstStyle/>
          <a:p>
            <a:pPr marL="0" indent="0" algn="l">
              <a:lnSpc>
                <a:spcPts val="2550"/>
              </a:lnSpc>
              <a:buNone/>
            </a:pPr>
            <a:r>
              <a:rPr lang="en-US" sz="1950" dirty="0">
                <a:solidFill>
                  <a:srgbClr val="67534F"/>
                </a:solidFill>
                <a:latin typeface="Marcellus" pitchFamily="34" charset="0"/>
                <a:ea typeface="Marcellus" pitchFamily="34" charset="-122"/>
                <a:cs typeface="Marcellus" pitchFamily="34" charset="-120"/>
              </a:rPr>
              <a:t>Authentification sécurisée</a:t>
            </a:r>
            <a:endParaRPr lang="en-US" sz="1950" dirty="0"/>
          </a:p>
        </p:txBody>
      </p:sp>
      <p:sp>
        <p:nvSpPr>
          <p:cNvPr id="30" name="Text 28"/>
          <p:cNvSpPr/>
          <p:nvPr/>
        </p:nvSpPr>
        <p:spPr>
          <a:xfrm>
            <a:off x="8103632" y="4606052"/>
            <a:ext cx="4744879" cy="227171"/>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Montserrat" pitchFamily="34" charset="0"/>
                <a:ea typeface="Montserrat" pitchFamily="34" charset="-122"/>
                <a:cs typeface="Montserrat" pitchFamily="34" charset="-120"/>
              </a:rPr>
              <a:t>Authentification sécurisée par clés SSH.</a:t>
            </a:r>
            <a:endParaRPr lang="en-US" sz="1350" dirty="0"/>
          </a:p>
        </p:txBody>
      </p:sp>
      <p:sp>
        <p:nvSpPr>
          <p:cNvPr id="31" name="Shape 29"/>
          <p:cNvSpPr/>
          <p:nvPr/>
        </p:nvSpPr>
        <p:spPr>
          <a:xfrm>
            <a:off x="7535823" y="5182672"/>
            <a:ext cx="393144" cy="393144"/>
          </a:xfrm>
          <a:prstGeom prst="roundRect">
            <a:avLst>
              <a:gd name="adj" fmla="val 18667"/>
            </a:avLst>
          </a:prstGeom>
          <a:solidFill>
            <a:srgbClr val="FFFFF4"/>
          </a:solidFill>
          <a:ln w="15240">
            <a:solidFill>
              <a:srgbClr val="FFE0CC"/>
            </a:solidFill>
            <a:prstDash val="solid"/>
          </a:ln>
        </p:spPr>
        <p:txBody>
          <a:bodyPr/>
          <a:lstStyle/>
          <a:p>
            <a:endParaRPr lang="fr-US"/>
          </a:p>
        </p:txBody>
      </p:sp>
      <p:sp>
        <p:nvSpPr>
          <p:cNvPr id="32" name="Text 30"/>
          <p:cNvSpPr/>
          <p:nvPr/>
        </p:nvSpPr>
        <p:spPr>
          <a:xfrm>
            <a:off x="7581721" y="5183326"/>
            <a:ext cx="301347" cy="391835"/>
          </a:xfrm>
          <a:prstGeom prst="rect">
            <a:avLst/>
          </a:prstGeom>
          <a:noFill/>
          <a:ln/>
        </p:spPr>
        <p:txBody>
          <a:bodyPr wrap="none" lIns="0" tIns="0" rIns="0" bIns="0" rtlCol="0" anchor="t"/>
          <a:lstStyle/>
          <a:p>
            <a:pPr marL="0" indent="0" algn="ctr">
              <a:lnSpc>
                <a:spcPts val="2350"/>
              </a:lnSpc>
              <a:buNone/>
            </a:pPr>
            <a:r>
              <a:rPr lang="en-US" sz="2350" dirty="0">
                <a:solidFill>
                  <a:srgbClr val="67534F"/>
                </a:solidFill>
                <a:latin typeface="Marcellus" pitchFamily="34" charset="0"/>
                <a:ea typeface="Marcellus" pitchFamily="34" charset="-122"/>
              </a:rPr>
              <a:t>8</a:t>
            </a:r>
            <a:endParaRPr lang="en-US" sz="2350" dirty="0"/>
          </a:p>
        </p:txBody>
      </p:sp>
      <p:sp>
        <p:nvSpPr>
          <p:cNvPr id="33" name="Text 31"/>
          <p:cNvSpPr/>
          <p:nvPr/>
        </p:nvSpPr>
        <p:spPr>
          <a:xfrm>
            <a:off x="8103632" y="5237202"/>
            <a:ext cx="3057525" cy="326588"/>
          </a:xfrm>
          <a:prstGeom prst="rect">
            <a:avLst/>
          </a:prstGeom>
          <a:noFill/>
          <a:ln/>
        </p:spPr>
        <p:txBody>
          <a:bodyPr wrap="none" lIns="0" tIns="0" rIns="0" bIns="0" rtlCol="0" anchor="t"/>
          <a:lstStyle/>
          <a:p>
            <a:pPr marL="0" indent="0" algn="l">
              <a:lnSpc>
                <a:spcPts val="2550"/>
              </a:lnSpc>
              <a:buNone/>
            </a:pPr>
            <a:r>
              <a:rPr lang="en-US" sz="1950" dirty="0">
                <a:solidFill>
                  <a:srgbClr val="67534F"/>
                </a:solidFill>
                <a:latin typeface="Marcellus" pitchFamily="34" charset="0"/>
                <a:ea typeface="Marcellus" pitchFamily="34" charset="-122"/>
                <a:cs typeface="Marcellus" pitchFamily="34" charset="-120"/>
              </a:rPr>
              <a:t>Redémarrage automatique</a:t>
            </a:r>
            <a:endParaRPr lang="en-US" sz="1950" dirty="0"/>
          </a:p>
        </p:txBody>
      </p:sp>
      <p:sp>
        <p:nvSpPr>
          <p:cNvPr id="34" name="Text 32"/>
          <p:cNvSpPr/>
          <p:nvPr/>
        </p:nvSpPr>
        <p:spPr>
          <a:xfrm>
            <a:off x="8103632" y="5738455"/>
            <a:ext cx="4744879" cy="454343"/>
          </a:xfrm>
          <a:prstGeom prst="rect">
            <a:avLst/>
          </a:prstGeom>
          <a:noFill/>
          <a:ln/>
        </p:spPr>
        <p:txBody>
          <a:bodyPr wrap="square" lIns="0" tIns="0" rIns="0" bIns="0" rtlCol="0" anchor="t"/>
          <a:lstStyle/>
          <a:p>
            <a:pPr marL="0" indent="0" algn="l">
              <a:lnSpc>
                <a:spcPts val="1750"/>
              </a:lnSpc>
              <a:buNone/>
            </a:pPr>
            <a:r>
              <a:rPr lang="en-US" sz="1350" dirty="0">
                <a:solidFill>
                  <a:srgbClr val="67534F"/>
                </a:solidFill>
                <a:latin typeface="Montserrat" pitchFamily="34" charset="0"/>
                <a:ea typeface="Montserrat" pitchFamily="34" charset="-122"/>
                <a:cs typeface="Montserrat" pitchFamily="34" charset="-120"/>
              </a:rPr>
              <a:t>Redémarrage automatique via systemd en cas d'échec.</a:t>
            </a:r>
            <a:endParaRPr lang="en-US" sz="1350" dirty="0"/>
          </a:p>
        </p:txBody>
      </p:sp>
      <p:sp>
        <p:nvSpPr>
          <p:cNvPr id="35" name="Shape 33"/>
          <p:cNvSpPr/>
          <p:nvPr/>
        </p:nvSpPr>
        <p:spPr>
          <a:xfrm>
            <a:off x="7535823" y="6542246"/>
            <a:ext cx="393144" cy="393144"/>
          </a:xfrm>
          <a:prstGeom prst="roundRect">
            <a:avLst>
              <a:gd name="adj" fmla="val 18667"/>
            </a:avLst>
          </a:prstGeom>
          <a:solidFill>
            <a:srgbClr val="FFFFF4"/>
          </a:solidFill>
          <a:ln w="15240">
            <a:solidFill>
              <a:srgbClr val="FFE0CC"/>
            </a:solidFill>
            <a:prstDash val="solid"/>
          </a:ln>
        </p:spPr>
        <p:txBody>
          <a:bodyPr/>
          <a:lstStyle/>
          <a:p>
            <a:endParaRPr lang="fr-US"/>
          </a:p>
        </p:txBody>
      </p:sp>
      <p:sp>
        <p:nvSpPr>
          <p:cNvPr id="36" name="Text 34"/>
          <p:cNvSpPr/>
          <p:nvPr/>
        </p:nvSpPr>
        <p:spPr>
          <a:xfrm>
            <a:off x="7581721" y="6542901"/>
            <a:ext cx="301347" cy="391835"/>
          </a:xfrm>
          <a:prstGeom prst="rect">
            <a:avLst/>
          </a:prstGeom>
          <a:noFill/>
          <a:ln/>
        </p:spPr>
        <p:txBody>
          <a:bodyPr wrap="none" lIns="0" tIns="0" rIns="0" bIns="0" rtlCol="0" anchor="t"/>
          <a:lstStyle/>
          <a:p>
            <a:pPr marL="0" indent="0" algn="ctr">
              <a:lnSpc>
                <a:spcPts val="2350"/>
              </a:lnSpc>
              <a:buNone/>
            </a:pPr>
            <a:r>
              <a:rPr lang="en-US" sz="2350" dirty="0">
                <a:solidFill>
                  <a:srgbClr val="67534F"/>
                </a:solidFill>
                <a:latin typeface="Marcellus" pitchFamily="34" charset="0"/>
                <a:ea typeface="Marcellus" pitchFamily="34" charset="-122"/>
              </a:rPr>
              <a:t>9</a:t>
            </a:r>
            <a:endParaRPr lang="en-US" sz="2350" dirty="0"/>
          </a:p>
        </p:txBody>
      </p:sp>
      <p:sp>
        <p:nvSpPr>
          <p:cNvPr id="37" name="Text 35"/>
          <p:cNvSpPr/>
          <p:nvPr/>
        </p:nvSpPr>
        <p:spPr>
          <a:xfrm>
            <a:off x="8103632" y="6596777"/>
            <a:ext cx="2720578" cy="326588"/>
          </a:xfrm>
          <a:prstGeom prst="rect">
            <a:avLst/>
          </a:prstGeom>
          <a:noFill/>
          <a:ln/>
        </p:spPr>
        <p:txBody>
          <a:bodyPr wrap="none" lIns="0" tIns="0" rIns="0" bIns="0" rtlCol="0" anchor="t"/>
          <a:lstStyle/>
          <a:p>
            <a:pPr marL="0" indent="0" algn="l">
              <a:lnSpc>
                <a:spcPts val="2550"/>
              </a:lnSpc>
              <a:buNone/>
            </a:pPr>
            <a:r>
              <a:rPr lang="en-US" sz="1950" dirty="0">
                <a:solidFill>
                  <a:srgbClr val="67534F"/>
                </a:solidFill>
                <a:latin typeface="Marcellus" pitchFamily="34" charset="0"/>
                <a:ea typeface="Marcellus" pitchFamily="34" charset="-122"/>
                <a:cs typeface="Marcellus" pitchFamily="34" charset="-120"/>
              </a:rPr>
              <a:t>Interface de monitoring</a:t>
            </a:r>
            <a:endParaRPr lang="en-US" sz="1950" dirty="0"/>
          </a:p>
        </p:txBody>
      </p:sp>
      <p:sp>
        <p:nvSpPr>
          <p:cNvPr id="38" name="Text 36"/>
          <p:cNvSpPr/>
          <p:nvPr/>
        </p:nvSpPr>
        <p:spPr>
          <a:xfrm>
            <a:off x="8103632" y="7098030"/>
            <a:ext cx="4744879" cy="227171"/>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Montserrat" pitchFamily="34" charset="0"/>
                <a:ea typeface="Montserrat" pitchFamily="34" charset="-122"/>
                <a:cs typeface="Montserrat" pitchFamily="34" charset="-120"/>
              </a:rPr>
              <a:t>Interface de monitoring (logs et état des nœuds).</a:t>
            </a:r>
            <a:endParaRPr lang="en-US" sz="1350" dirty="0"/>
          </a:p>
        </p:txBody>
      </p:sp>
      <p:sp>
        <p:nvSpPr>
          <p:cNvPr id="39" name="Rectangle 38"/>
          <p:cNvSpPr/>
          <p:nvPr/>
        </p:nvSpPr>
        <p:spPr>
          <a:xfrm>
            <a:off x="12691241" y="7662041"/>
            <a:ext cx="1939159" cy="457200"/>
          </a:xfrm>
          <a:prstGeom prst="rect">
            <a:avLst/>
          </a:prstGeom>
          <a:solidFill>
            <a:srgbClr val="FDFCF1"/>
          </a:solidFill>
          <a:ln>
            <a:solidFill>
              <a:srgbClr val="FD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07137" y="662821"/>
            <a:ext cx="5333286" cy="454343"/>
          </a:xfrm>
          <a:prstGeom prst="rect">
            <a:avLst/>
          </a:prstGeom>
          <a:noFill/>
          <a:ln/>
        </p:spPr>
        <p:txBody>
          <a:bodyPr wrap="none" lIns="0" tIns="0" rIns="0" bIns="0" rtlCol="0" anchor="t"/>
          <a:lstStyle/>
          <a:p>
            <a:pPr marL="0" indent="0" algn="l">
              <a:lnSpc>
                <a:spcPts val="3550"/>
              </a:lnSpc>
              <a:buNone/>
            </a:pPr>
            <a:r>
              <a:rPr lang="en-US" sz="2750" dirty="0">
                <a:solidFill>
                  <a:srgbClr val="7D3E2C"/>
                </a:solidFill>
                <a:latin typeface="Marcellus" pitchFamily="34" charset="0"/>
                <a:ea typeface="Marcellus" pitchFamily="34" charset="-122"/>
                <a:cs typeface="Marcellus" pitchFamily="34" charset="-120"/>
              </a:rPr>
              <a:t>IV. BESOINS NON FONCTIONNELS</a:t>
            </a:r>
            <a:endParaRPr lang="en-US" sz="2750" dirty="0"/>
          </a:p>
        </p:txBody>
      </p:sp>
      <p:sp>
        <p:nvSpPr>
          <p:cNvPr id="3" name="Shape 1"/>
          <p:cNvSpPr/>
          <p:nvPr/>
        </p:nvSpPr>
        <p:spPr>
          <a:xfrm>
            <a:off x="907137" y="1522333"/>
            <a:ext cx="6306741" cy="2824639"/>
          </a:xfrm>
          <a:prstGeom prst="roundRect">
            <a:avLst>
              <a:gd name="adj" fmla="val 3013"/>
            </a:avLst>
          </a:prstGeom>
          <a:solidFill>
            <a:srgbClr val="FFFFF4">
              <a:alpha val="95000"/>
            </a:srgbClr>
          </a:solidFill>
          <a:ln w="22860">
            <a:solidFill>
              <a:srgbClr val="FFE0CC"/>
            </a:solidFill>
            <a:prstDash val="solid"/>
          </a:ln>
        </p:spPr>
        <p:txBody>
          <a:bodyPr/>
          <a:lstStyle/>
          <a:p>
            <a:endParaRPr lang="fr-US"/>
          </a:p>
        </p:txBody>
      </p:sp>
      <p:sp>
        <p:nvSpPr>
          <p:cNvPr id="4" name="Shape 2"/>
          <p:cNvSpPr/>
          <p:nvPr/>
        </p:nvSpPr>
        <p:spPr>
          <a:xfrm>
            <a:off x="929997" y="1545193"/>
            <a:ext cx="6261021" cy="607814"/>
          </a:xfrm>
          <a:prstGeom prst="roundRect">
            <a:avLst>
              <a:gd name="adj" fmla="val 9488"/>
            </a:avLst>
          </a:prstGeom>
          <a:solidFill>
            <a:srgbClr val="FFFFF4"/>
          </a:solidFill>
          <a:ln/>
        </p:spPr>
        <p:txBody>
          <a:bodyPr/>
          <a:lstStyle/>
          <a:p>
            <a:endParaRPr lang="fr-US"/>
          </a:p>
        </p:txBody>
      </p:sp>
      <p:sp>
        <p:nvSpPr>
          <p:cNvPr id="5" name="Text 3"/>
          <p:cNvSpPr/>
          <p:nvPr/>
        </p:nvSpPr>
        <p:spPr>
          <a:xfrm>
            <a:off x="1132523" y="2355533"/>
            <a:ext cx="2912626" cy="378500"/>
          </a:xfrm>
          <a:prstGeom prst="rect">
            <a:avLst/>
          </a:prstGeom>
          <a:noFill/>
          <a:ln/>
        </p:spPr>
        <p:txBody>
          <a:bodyPr wrap="none" lIns="0" tIns="0" rIns="0" bIns="0" rtlCol="0" anchor="t"/>
          <a:lstStyle/>
          <a:p>
            <a:pPr marL="0" indent="0" algn="l">
              <a:lnSpc>
                <a:spcPts val="2950"/>
              </a:lnSpc>
              <a:buNone/>
            </a:pPr>
            <a:r>
              <a:rPr lang="en-US" sz="2250" dirty="0">
                <a:solidFill>
                  <a:srgbClr val="67534F"/>
                </a:solidFill>
                <a:latin typeface="Marcellus" pitchFamily="34" charset="0"/>
                <a:ea typeface="Marcellus" pitchFamily="34" charset="-122"/>
                <a:cs typeface="Marcellus" pitchFamily="34" charset="-120"/>
              </a:rPr>
              <a:t>4.1 SÉCURITÉ</a:t>
            </a:r>
            <a:endParaRPr lang="en-US" sz="2250" dirty="0"/>
          </a:p>
        </p:txBody>
      </p:sp>
      <p:sp>
        <p:nvSpPr>
          <p:cNvPr id="6" name="Text 4"/>
          <p:cNvSpPr/>
          <p:nvPr/>
        </p:nvSpPr>
        <p:spPr>
          <a:xfrm>
            <a:off x="1132523" y="2855595"/>
            <a:ext cx="5855970" cy="263366"/>
          </a:xfrm>
          <a:prstGeom prst="rect">
            <a:avLst/>
          </a:prstGeom>
          <a:noFill/>
          <a:ln/>
        </p:spPr>
        <p:txBody>
          <a:bodyPr wrap="none" lIns="0" tIns="0" rIns="0" bIns="0" rtlCol="0" anchor="t"/>
          <a:lstStyle/>
          <a:p>
            <a:pPr marL="342900" indent="-342900" algn="l">
              <a:lnSpc>
                <a:spcPts val="2050"/>
              </a:lnSpc>
              <a:buSzPct val="100000"/>
              <a:buChar char="•"/>
            </a:pPr>
            <a:r>
              <a:rPr lang="en-US" sz="1550" dirty="0">
                <a:solidFill>
                  <a:srgbClr val="67534F"/>
                </a:solidFill>
                <a:latin typeface="Montserrat" pitchFamily="34" charset="0"/>
                <a:ea typeface="Montserrat" pitchFamily="34" charset="-122"/>
                <a:cs typeface="Montserrat" pitchFamily="34" charset="-120"/>
              </a:rPr>
              <a:t>Transfert chiffré via SSH.</a:t>
            </a:r>
            <a:endParaRPr lang="en-US" sz="1550" dirty="0"/>
          </a:p>
        </p:txBody>
      </p:sp>
      <p:sp>
        <p:nvSpPr>
          <p:cNvPr id="7" name="Text 5"/>
          <p:cNvSpPr/>
          <p:nvPr/>
        </p:nvSpPr>
        <p:spPr>
          <a:xfrm>
            <a:off x="1132523" y="3189803"/>
            <a:ext cx="5855970" cy="263366"/>
          </a:xfrm>
          <a:prstGeom prst="rect">
            <a:avLst/>
          </a:prstGeom>
          <a:noFill/>
          <a:ln/>
        </p:spPr>
        <p:txBody>
          <a:bodyPr wrap="none" lIns="0" tIns="0" rIns="0" bIns="0" rtlCol="0" anchor="t"/>
          <a:lstStyle/>
          <a:p>
            <a:pPr marL="342900" indent="-342900" algn="l">
              <a:lnSpc>
                <a:spcPts val="2050"/>
              </a:lnSpc>
              <a:buSzPct val="100000"/>
              <a:buChar char="•"/>
            </a:pPr>
            <a:r>
              <a:rPr lang="en-US" sz="1550" dirty="0">
                <a:solidFill>
                  <a:srgbClr val="67534F"/>
                </a:solidFill>
                <a:latin typeface="Montserrat" pitchFamily="34" charset="0"/>
                <a:ea typeface="Montserrat" pitchFamily="34" charset="-122"/>
                <a:cs typeface="Montserrat" pitchFamily="34" charset="-120"/>
              </a:rPr>
              <a:t>Utilisateur dédié avec droits minimaux.</a:t>
            </a:r>
            <a:endParaRPr lang="en-US" sz="1550" dirty="0"/>
          </a:p>
        </p:txBody>
      </p:sp>
      <p:sp>
        <p:nvSpPr>
          <p:cNvPr id="8" name="Text 6"/>
          <p:cNvSpPr/>
          <p:nvPr/>
        </p:nvSpPr>
        <p:spPr>
          <a:xfrm>
            <a:off x="1132523" y="3524012"/>
            <a:ext cx="5855970" cy="263366"/>
          </a:xfrm>
          <a:prstGeom prst="rect">
            <a:avLst/>
          </a:prstGeom>
          <a:noFill/>
          <a:ln/>
        </p:spPr>
        <p:txBody>
          <a:bodyPr wrap="none" lIns="0" tIns="0" rIns="0" bIns="0" rtlCol="0" anchor="t"/>
          <a:lstStyle/>
          <a:p>
            <a:pPr marL="342900" indent="-342900" algn="l">
              <a:lnSpc>
                <a:spcPts val="2050"/>
              </a:lnSpc>
              <a:buSzPct val="100000"/>
              <a:buChar char="•"/>
            </a:pPr>
            <a:r>
              <a:rPr lang="en-US" sz="1550" dirty="0">
                <a:solidFill>
                  <a:srgbClr val="67534F"/>
                </a:solidFill>
                <a:latin typeface="Montserrat" pitchFamily="34" charset="0"/>
                <a:ea typeface="Montserrat" pitchFamily="34" charset="-122"/>
                <a:cs typeface="Montserrat" pitchFamily="34" charset="-120"/>
              </a:rPr>
              <a:t>Vérification d'intégrité après réplication.</a:t>
            </a:r>
            <a:endParaRPr lang="en-US" sz="1550" dirty="0"/>
          </a:p>
        </p:txBody>
      </p:sp>
      <p:sp>
        <p:nvSpPr>
          <p:cNvPr id="9" name="Text 7"/>
          <p:cNvSpPr/>
          <p:nvPr/>
        </p:nvSpPr>
        <p:spPr>
          <a:xfrm>
            <a:off x="1132523" y="3858220"/>
            <a:ext cx="5855970" cy="263366"/>
          </a:xfrm>
          <a:prstGeom prst="rect">
            <a:avLst/>
          </a:prstGeom>
          <a:noFill/>
          <a:ln/>
        </p:spPr>
        <p:txBody>
          <a:bodyPr wrap="none" lIns="0" tIns="0" rIns="0" bIns="0" rtlCol="0" anchor="t"/>
          <a:lstStyle/>
          <a:p>
            <a:pPr marL="342900" indent="-342900" algn="l">
              <a:lnSpc>
                <a:spcPts val="2050"/>
              </a:lnSpc>
              <a:buSzPct val="100000"/>
              <a:buChar char="•"/>
            </a:pPr>
            <a:r>
              <a:rPr lang="en-US" sz="1550" dirty="0">
                <a:solidFill>
                  <a:srgbClr val="67534F"/>
                </a:solidFill>
                <a:latin typeface="Montserrat" pitchFamily="34" charset="0"/>
                <a:ea typeface="Montserrat" pitchFamily="34" charset="-122"/>
                <a:cs typeface="Montserrat" pitchFamily="34" charset="-120"/>
              </a:rPr>
              <a:t>Journalisation sécurisée des accès.</a:t>
            </a:r>
            <a:endParaRPr lang="en-US" sz="1550" dirty="0"/>
          </a:p>
        </p:txBody>
      </p:sp>
      <p:sp>
        <p:nvSpPr>
          <p:cNvPr id="10" name="Shape 8"/>
          <p:cNvSpPr/>
          <p:nvPr/>
        </p:nvSpPr>
        <p:spPr>
          <a:xfrm>
            <a:off x="7416403" y="1522333"/>
            <a:ext cx="6306741" cy="2824639"/>
          </a:xfrm>
          <a:prstGeom prst="roundRect">
            <a:avLst>
              <a:gd name="adj" fmla="val 3013"/>
            </a:avLst>
          </a:prstGeom>
          <a:solidFill>
            <a:srgbClr val="FFFFF4">
              <a:alpha val="95000"/>
            </a:srgbClr>
          </a:solidFill>
          <a:ln w="22860">
            <a:solidFill>
              <a:srgbClr val="FFE0CC"/>
            </a:solidFill>
            <a:prstDash val="solid"/>
          </a:ln>
        </p:spPr>
        <p:txBody>
          <a:bodyPr/>
          <a:lstStyle/>
          <a:p>
            <a:endParaRPr lang="fr-US"/>
          </a:p>
        </p:txBody>
      </p:sp>
      <p:sp>
        <p:nvSpPr>
          <p:cNvPr id="11" name="Shape 9"/>
          <p:cNvSpPr/>
          <p:nvPr/>
        </p:nvSpPr>
        <p:spPr>
          <a:xfrm>
            <a:off x="7439263" y="1545193"/>
            <a:ext cx="6261021" cy="607814"/>
          </a:xfrm>
          <a:prstGeom prst="roundRect">
            <a:avLst>
              <a:gd name="adj" fmla="val 9488"/>
            </a:avLst>
          </a:prstGeom>
          <a:solidFill>
            <a:srgbClr val="FFFFF4"/>
          </a:solidFill>
          <a:ln/>
        </p:spPr>
        <p:txBody>
          <a:bodyPr/>
          <a:lstStyle/>
          <a:p>
            <a:endParaRPr lang="fr-US"/>
          </a:p>
        </p:txBody>
      </p:sp>
      <p:sp>
        <p:nvSpPr>
          <p:cNvPr id="12" name="Text 10"/>
          <p:cNvSpPr/>
          <p:nvPr/>
        </p:nvSpPr>
        <p:spPr>
          <a:xfrm>
            <a:off x="7641788" y="2355533"/>
            <a:ext cx="2912626" cy="378500"/>
          </a:xfrm>
          <a:prstGeom prst="rect">
            <a:avLst/>
          </a:prstGeom>
          <a:noFill/>
          <a:ln/>
        </p:spPr>
        <p:txBody>
          <a:bodyPr wrap="none" lIns="0" tIns="0" rIns="0" bIns="0" rtlCol="0" anchor="t"/>
          <a:lstStyle/>
          <a:p>
            <a:pPr marL="0" indent="0" algn="l">
              <a:lnSpc>
                <a:spcPts val="2950"/>
              </a:lnSpc>
              <a:buNone/>
            </a:pPr>
            <a:r>
              <a:rPr lang="en-US" sz="2250" dirty="0">
                <a:solidFill>
                  <a:srgbClr val="67534F"/>
                </a:solidFill>
                <a:latin typeface="Marcellus" pitchFamily="34" charset="0"/>
                <a:ea typeface="Marcellus" pitchFamily="34" charset="-122"/>
                <a:cs typeface="Marcellus" pitchFamily="34" charset="-120"/>
              </a:rPr>
              <a:t>4.2 PERFORMANCES</a:t>
            </a:r>
            <a:endParaRPr lang="en-US" sz="2250" dirty="0"/>
          </a:p>
        </p:txBody>
      </p:sp>
      <p:sp>
        <p:nvSpPr>
          <p:cNvPr id="13" name="Text 11"/>
          <p:cNvSpPr/>
          <p:nvPr/>
        </p:nvSpPr>
        <p:spPr>
          <a:xfrm>
            <a:off x="7641788" y="2855595"/>
            <a:ext cx="5855970" cy="263366"/>
          </a:xfrm>
          <a:prstGeom prst="rect">
            <a:avLst/>
          </a:prstGeom>
          <a:noFill/>
          <a:ln/>
        </p:spPr>
        <p:txBody>
          <a:bodyPr wrap="none" lIns="0" tIns="0" rIns="0" bIns="0" rtlCol="0" anchor="t"/>
          <a:lstStyle/>
          <a:p>
            <a:pPr marL="342900" indent="-342900" algn="l">
              <a:lnSpc>
                <a:spcPts val="2050"/>
              </a:lnSpc>
              <a:buSzPct val="100000"/>
              <a:buChar char="•"/>
            </a:pPr>
            <a:r>
              <a:rPr lang="en-US" sz="1550" dirty="0">
                <a:solidFill>
                  <a:srgbClr val="67534F"/>
                </a:solidFill>
                <a:latin typeface="Montserrat" pitchFamily="34" charset="0"/>
                <a:ea typeface="Montserrat" pitchFamily="34" charset="-122"/>
                <a:cs typeface="Montserrat" pitchFamily="34" charset="-120"/>
              </a:rPr>
              <a:t>Réplication de fichiers &lt; 1 Mo en moins de 5 secondes.</a:t>
            </a:r>
            <a:endParaRPr lang="en-US" sz="1550" dirty="0"/>
          </a:p>
        </p:txBody>
      </p:sp>
      <p:sp>
        <p:nvSpPr>
          <p:cNvPr id="14" name="Text 12"/>
          <p:cNvSpPr/>
          <p:nvPr/>
        </p:nvSpPr>
        <p:spPr>
          <a:xfrm>
            <a:off x="7641788" y="3189803"/>
            <a:ext cx="5855970" cy="263366"/>
          </a:xfrm>
          <a:prstGeom prst="rect">
            <a:avLst/>
          </a:prstGeom>
          <a:noFill/>
          <a:ln/>
        </p:spPr>
        <p:txBody>
          <a:bodyPr wrap="none" lIns="0" tIns="0" rIns="0" bIns="0" rtlCol="0" anchor="t"/>
          <a:lstStyle/>
          <a:p>
            <a:pPr marL="342900" indent="-342900" algn="l">
              <a:lnSpc>
                <a:spcPts val="2050"/>
              </a:lnSpc>
              <a:buSzPct val="100000"/>
              <a:buChar char="•"/>
            </a:pPr>
            <a:r>
              <a:rPr lang="en-US" sz="1550" dirty="0">
                <a:solidFill>
                  <a:srgbClr val="67534F"/>
                </a:solidFill>
                <a:latin typeface="Montserrat" pitchFamily="34" charset="0"/>
                <a:ea typeface="Montserrat" pitchFamily="34" charset="-122"/>
                <a:cs typeface="Montserrat" pitchFamily="34" charset="-120"/>
              </a:rPr>
              <a:t>Faible consommation réseau et CPU.</a:t>
            </a:r>
            <a:endParaRPr lang="en-US" sz="1550" dirty="0"/>
          </a:p>
        </p:txBody>
      </p:sp>
      <p:sp>
        <p:nvSpPr>
          <p:cNvPr id="15" name="Text 13"/>
          <p:cNvSpPr/>
          <p:nvPr/>
        </p:nvSpPr>
        <p:spPr>
          <a:xfrm>
            <a:off x="7641788" y="3524012"/>
            <a:ext cx="5855970" cy="526733"/>
          </a:xfrm>
          <a:prstGeom prst="rect">
            <a:avLst/>
          </a:prstGeom>
          <a:noFill/>
          <a:ln/>
        </p:spPr>
        <p:txBody>
          <a:bodyPr wrap="square" lIns="0" tIns="0" rIns="0" bIns="0" rtlCol="0" anchor="t"/>
          <a:lstStyle/>
          <a:p>
            <a:pPr marL="342900" indent="-342900" algn="l">
              <a:lnSpc>
                <a:spcPts val="2050"/>
              </a:lnSpc>
              <a:buSzPct val="100000"/>
              <a:buChar char="•"/>
            </a:pPr>
            <a:r>
              <a:rPr lang="en-US" sz="1550" dirty="0">
                <a:solidFill>
                  <a:srgbClr val="67534F"/>
                </a:solidFill>
                <a:latin typeface="Montserrat" pitchFamily="34" charset="0"/>
                <a:ea typeface="Montserrat" pitchFamily="34" charset="-122"/>
                <a:cs typeface="Montserrat" pitchFamily="34" charset="-120"/>
              </a:rPr>
              <a:t>Détection des modifications en temps réel (&lt; 2 secondes).</a:t>
            </a:r>
            <a:endParaRPr lang="en-US" sz="1550" dirty="0"/>
          </a:p>
        </p:txBody>
      </p:sp>
      <p:sp>
        <p:nvSpPr>
          <p:cNvPr id="16" name="Shape 14"/>
          <p:cNvSpPr/>
          <p:nvPr/>
        </p:nvSpPr>
        <p:spPr>
          <a:xfrm>
            <a:off x="907137" y="4549497"/>
            <a:ext cx="6306741" cy="3017163"/>
          </a:xfrm>
          <a:prstGeom prst="roundRect">
            <a:avLst>
              <a:gd name="adj" fmla="val 2821"/>
            </a:avLst>
          </a:prstGeom>
          <a:solidFill>
            <a:srgbClr val="FFFFF4">
              <a:alpha val="95000"/>
            </a:srgbClr>
          </a:solidFill>
          <a:ln w="22860">
            <a:solidFill>
              <a:srgbClr val="FFE0CC"/>
            </a:solidFill>
            <a:prstDash val="solid"/>
          </a:ln>
        </p:spPr>
        <p:txBody>
          <a:bodyPr/>
          <a:lstStyle/>
          <a:p>
            <a:endParaRPr lang="fr-US"/>
          </a:p>
        </p:txBody>
      </p:sp>
      <p:sp>
        <p:nvSpPr>
          <p:cNvPr id="17" name="Shape 15"/>
          <p:cNvSpPr/>
          <p:nvPr/>
        </p:nvSpPr>
        <p:spPr>
          <a:xfrm>
            <a:off x="929997" y="4572357"/>
            <a:ext cx="6261021" cy="607814"/>
          </a:xfrm>
          <a:prstGeom prst="roundRect">
            <a:avLst>
              <a:gd name="adj" fmla="val 9488"/>
            </a:avLst>
          </a:prstGeom>
          <a:solidFill>
            <a:srgbClr val="FFFFF4"/>
          </a:solidFill>
          <a:ln/>
        </p:spPr>
        <p:txBody>
          <a:bodyPr/>
          <a:lstStyle/>
          <a:p>
            <a:endParaRPr lang="fr-US"/>
          </a:p>
        </p:txBody>
      </p:sp>
      <p:sp>
        <p:nvSpPr>
          <p:cNvPr id="18" name="Text 16"/>
          <p:cNvSpPr/>
          <p:nvPr/>
        </p:nvSpPr>
        <p:spPr>
          <a:xfrm>
            <a:off x="1132523" y="5382697"/>
            <a:ext cx="2912626" cy="378500"/>
          </a:xfrm>
          <a:prstGeom prst="rect">
            <a:avLst/>
          </a:prstGeom>
          <a:noFill/>
          <a:ln/>
        </p:spPr>
        <p:txBody>
          <a:bodyPr wrap="none" lIns="0" tIns="0" rIns="0" bIns="0" rtlCol="0" anchor="t"/>
          <a:lstStyle/>
          <a:p>
            <a:pPr marL="0" indent="0" algn="l">
              <a:lnSpc>
                <a:spcPts val="2950"/>
              </a:lnSpc>
              <a:buNone/>
            </a:pPr>
            <a:r>
              <a:rPr lang="en-US" sz="2250" dirty="0">
                <a:solidFill>
                  <a:srgbClr val="67534F"/>
                </a:solidFill>
                <a:latin typeface="Marcellus" pitchFamily="34" charset="0"/>
                <a:ea typeface="Marcellus" pitchFamily="34" charset="-122"/>
                <a:cs typeface="Marcellus" pitchFamily="34" charset="-120"/>
              </a:rPr>
              <a:t>4.3 ROBUSTESSE</a:t>
            </a:r>
            <a:endParaRPr lang="en-US" sz="2250" dirty="0"/>
          </a:p>
        </p:txBody>
      </p:sp>
      <p:sp>
        <p:nvSpPr>
          <p:cNvPr id="19" name="Text 17"/>
          <p:cNvSpPr/>
          <p:nvPr/>
        </p:nvSpPr>
        <p:spPr>
          <a:xfrm>
            <a:off x="1132523" y="5882759"/>
            <a:ext cx="5855970" cy="526733"/>
          </a:xfrm>
          <a:prstGeom prst="rect">
            <a:avLst/>
          </a:prstGeom>
          <a:noFill/>
          <a:ln/>
        </p:spPr>
        <p:txBody>
          <a:bodyPr wrap="square" lIns="0" tIns="0" rIns="0" bIns="0" rtlCol="0" anchor="t"/>
          <a:lstStyle/>
          <a:p>
            <a:pPr marL="342900" indent="-342900" algn="l">
              <a:lnSpc>
                <a:spcPts val="2050"/>
              </a:lnSpc>
              <a:buSzPct val="100000"/>
              <a:buChar char="•"/>
            </a:pPr>
            <a:r>
              <a:rPr lang="en-US" sz="1550" dirty="0">
                <a:solidFill>
                  <a:srgbClr val="67534F"/>
                </a:solidFill>
                <a:latin typeface="Montserrat" pitchFamily="34" charset="0"/>
                <a:ea typeface="Montserrat" pitchFamily="34" charset="-122"/>
                <a:cs typeface="Montserrat" pitchFamily="34" charset="-120"/>
              </a:rPr>
              <a:t>Tolérance aux pannes : reprise après indisponibilité d'un nœud.</a:t>
            </a:r>
            <a:endParaRPr lang="en-US" sz="1550" dirty="0"/>
          </a:p>
        </p:txBody>
      </p:sp>
      <p:sp>
        <p:nvSpPr>
          <p:cNvPr id="20" name="Text 18"/>
          <p:cNvSpPr/>
          <p:nvPr/>
        </p:nvSpPr>
        <p:spPr>
          <a:xfrm>
            <a:off x="1132523" y="6480334"/>
            <a:ext cx="5855970" cy="263366"/>
          </a:xfrm>
          <a:prstGeom prst="rect">
            <a:avLst/>
          </a:prstGeom>
          <a:noFill/>
          <a:ln/>
        </p:spPr>
        <p:txBody>
          <a:bodyPr wrap="none" lIns="0" tIns="0" rIns="0" bIns="0" rtlCol="0" anchor="t"/>
          <a:lstStyle/>
          <a:p>
            <a:pPr marL="342900" indent="-342900" algn="l">
              <a:lnSpc>
                <a:spcPts val="2050"/>
              </a:lnSpc>
              <a:buSzPct val="100000"/>
              <a:buChar char="•"/>
            </a:pPr>
            <a:r>
              <a:rPr lang="en-US" sz="1550" dirty="0">
                <a:solidFill>
                  <a:srgbClr val="67534F"/>
                </a:solidFill>
                <a:latin typeface="Montserrat" pitchFamily="34" charset="0"/>
                <a:ea typeface="Montserrat" pitchFamily="34" charset="-122"/>
                <a:cs typeface="Montserrat" pitchFamily="34" charset="-120"/>
              </a:rPr>
              <a:t>Architecture sans SPoF (Single Point of Failure).</a:t>
            </a:r>
            <a:endParaRPr lang="en-US" sz="1550" dirty="0"/>
          </a:p>
        </p:txBody>
      </p:sp>
      <p:sp>
        <p:nvSpPr>
          <p:cNvPr id="21" name="Text 19"/>
          <p:cNvSpPr/>
          <p:nvPr/>
        </p:nvSpPr>
        <p:spPr>
          <a:xfrm>
            <a:off x="1132523" y="6814542"/>
            <a:ext cx="5855970" cy="526733"/>
          </a:xfrm>
          <a:prstGeom prst="rect">
            <a:avLst/>
          </a:prstGeom>
          <a:noFill/>
          <a:ln/>
        </p:spPr>
        <p:txBody>
          <a:bodyPr wrap="square" lIns="0" tIns="0" rIns="0" bIns="0" rtlCol="0" anchor="t"/>
          <a:lstStyle/>
          <a:p>
            <a:pPr marL="342900" indent="-342900" algn="l">
              <a:lnSpc>
                <a:spcPts val="2050"/>
              </a:lnSpc>
              <a:buSzPct val="100000"/>
              <a:buChar char="•"/>
            </a:pPr>
            <a:r>
              <a:rPr lang="en-US" sz="1550" dirty="0">
                <a:solidFill>
                  <a:srgbClr val="67534F"/>
                </a:solidFill>
                <a:latin typeface="Montserrat" pitchFamily="34" charset="0"/>
                <a:ea typeface="Montserrat" pitchFamily="34" charset="-122"/>
                <a:cs typeface="Montserrat" pitchFamily="34" charset="-120"/>
              </a:rPr>
              <a:t>Supervision et alertes en cas d'échec de synchronisation.</a:t>
            </a:r>
            <a:endParaRPr lang="en-US" sz="1550" dirty="0"/>
          </a:p>
        </p:txBody>
      </p:sp>
      <p:sp>
        <p:nvSpPr>
          <p:cNvPr id="22" name="Shape 20"/>
          <p:cNvSpPr/>
          <p:nvPr/>
        </p:nvSpPr>
        <p:spPr>
          <a:xfrm>
            <a:off x="7416403" y="4549497"/>
            <a:ext cx="6306741" cy="3017163"/>
          </a:xfrm>
          <a:prstGeom prst="roundRect">
            <a:avLst>
              <a:gd name="adj" fmla="val 2821"/>
            </a:avLst>
          </a:prstGeom>
          <a:solidFill>
            <a:srgbClr val="FFFFF4">
              <a:alpha val="95000"/>
            </a:srgbClr>
          </a:solidFill>
          <a:ln w="22860">
            <a:solidFill>
              <a:srgbClr val="FFE0CC"/>
            </a:solidFill>
            <a:prstDash val="solid"/>
          </a:ln>
        </p:spPr>
        <p:txBody>
          <a:bodyPr/>
          <a:lstStyle/>
          <a:p>
            <a:endParaRPr lang="fr-US"/>
          </a:p>
        </p:txBody>
      </p:sp>
      <p:sp>
        <p:nvSpPr>
          <p:cNvPr id="23" name="Shape 21"/>
          <p:cNvSpPr/>
          <p:nvPr/>
        </p:nvSpPr>
        <p:spPr>
          <a:xfrm>
            <a:off x="7439263" y="4572357"/>
            <a:ext cx="6261021" cy="607814"/>
          </a:xfrm>
          <a:prstGeom prst="roundRect">
            <a:avLst>
              <a:gd name="adj" fmla="val 9488"/>
            </a:avLst>
          </a:prstGeom>
          <a:solidFill>
            <a:srgbClr val="FFFFF4"/>
          </a:solidFill>
          <a:ln/>
        </p:spPr>
        <p:txBody>
          <a:bodyPr/>
          <a:lstStyle/>
          <a:p>
            <a:endParaRPr lang="fr-US"/>
          </a:p>
        </p:txBody>
      </p:sp>
      <p:sp>
        <p:nvSpPr>
          <p:cNvPr id="24" name="Text 22"/>
          <p:cNvSpPr/>
          <p:nvPr/>
        </p:nvSpPr>
        <p:spPr>
          <a:xfrm>
            <a:off x="7641788" y="5382697"/>
            <a:ext cx="4347924" cy="378500"/>
          </a:xfrm>
          <a:prstGeom prst="rect">
            <a:avLst/>
          </a:prstGeom>
          <a:noFill/>
          <a:ln/>
        </p:spPr>
        <p:txBody>
          <a:bodyPr wrap="none" lIns="0" tIns="0" rIns="0" bIns="0" rtlCol="0" anchor="t"/>
          <a:lstStyle/>
          <a:p>
            <a:pPr marL="0" indent="0" algn="l">
              <a:lnSpc>
                <a:spcPts val="2950"/>
              </a:lnSpc>
              <a:buNone/>
            </a:pPr>
            <a:r>
              <a:rPr lang="en-US" sz="2250" dirty="0">
                <a:solidFill>
                  <a:srgbClr val="67534F"/>
                </a:solidFill>
                <a:latin typeface="Marcellus" pitchFamily="34" charset="0"/>
                <a:ea typeface="Marcellus" pitchFamily="34" charset="-122"/>
                <a:cs typeface="Marcellus" pitchFamily="34" charset="-120"/>
              </a:rPr>
              <a:t>4.4 FACILITÉ D'ADMINISTRATION</a:t>
            </a:r>
            <a:endParaRPr lang="en-US" sz="2250" dirty="0"/>
          </a:p>
        </p:txBody>
      </p:sp>
      <p:sp>
        <p:nvSpPr>
          <p:cNvPr id="25" name="Text 23"/>
          <p:cNvSpPr/>
          <p:nvPr/>
        </p:nvSpPr>
        <p:spPr>
          <a:xfrm>
            <a:off x="7641788" y="5882759"/>
            <a:ext cx="5855970" cy="263366"/>
          </a:xfrm>
          <a:prstGeom prst="rect">
            <a:avLst/>
          </a:prstGeom>
          <a:noFill/>
          <a:ln/>
        </p:spPr>
        <p:txBody>
          <a:bodyPr wrap="none" lIns="0" tIns="0" rIns="0" bIns="0" rtlCol="0" anchor="t"/>
          <a:lstStyle/>
          <a:p>
            <a:pPr marL="342900" indent="-342900" algn="l">
              <a:lnSpc>
                <a:spcPts val="2050"/>
              </a:lnSpc>
              <a:buSzPct val="100000"/>
              <a:buChar char="•"/>
            </a:pPr>
            <a:r>
              <a:rPr lang="en-US" sz="1550" dirty="0">
                <a:solidFill>
                  <a:srgbClr val="67534F"/>
                </a:solidFill>
                <a:latin typeface="Montserrat" pitchFamily="34" charset="0"/>
                <a:ea typeface="Montserrat" pitchFamily="34" charset="-122"/>
                <a:cs typeface="Montserrat" pitchFamily="34" charset="-120"/>
              </a:rPr>
              <a:t>Installation automatisée via script ou package .deb.</a:t>
            </a:r>
            <a:endParaRPr lang="en-US" sz="1550" dirty="0"/>
          </a:p>
        </p:txBody>
      </p:sp>
      <p:sp>
        <p:nvSpPr>
          <p:cNvPr id="26" name="Text 24"/>
          <p:cNvSpPr/>
          <p:nvPr/>
        </p:nvSpPr>
        <p:spPr>
          <a:xfrm>
            <a:off x="7641788" y="6216968"/>
            <a:ext cx="5855970" cy="263366"/>
          </a:xfrm>
          <a:prstGeom prst="rect">
            <a:avLst/>
          </a:prstGeom>
          <a:noFill/>
          <a:ln/>
        </p:spPr>
        <p:txBody>
          <a:bodyPr wrap="none" lIns="0" tIns="0" rIns="0" bIns="0" rtlCol="0" anchor="t"/>
          <a:lstStyle/>
          <a:p>
            <a:pPr marL="342900" indent="-342900" algn="l">
              <a:lnSpc>
                <a:spcPts val="2050"/>
              </a:lnSpc>
              <a:buSzPct val="100000"/>
              <a:buChar char="•"/>
            </a:pPr>
            <a:r>
              <a:rPr lang="en-US" sz="1550" dirty="0">
                <a:solidFill>
                  <a:srgbClr val="67534F"/>
                </a:solidFill>
                <a:latin typeface="Montserrat" pitchFamily="34" charset="0"/>
                <a:ea typeface="Montserrat" pitchFamily="34" charset="-122"/>
                <a:cs typeface="Montserrat" pitchFamily="34" charset="-120"/>
              </a:rPr>
              <a:t>Configuration centralisée et modulaire.</a:t>
            </a:r>
            <a:endParaRPr lang="en-US" sz="1550" dirty="0"/>
          </a:p>
        </p:txBody>
      </p:sp>
      <p:sp>
        <p:nvSpPr>
          <p:cNvPr id="27" name="Text 25"/>
          <p:cNvSpPr/>
          <p:nvPr/>
        </p:nvSpPr>
        <p:spPr>
          <a:xfrm>
            <a:off x="7641788" y="6551176"/>
            <a:ext cx="5855970" cy="263366"/>
          </a:xfrm>
          <a:prstGeom prst="rect">
            <a:avLst/>
          </a:prstGeom>
          <a:noFill/>
          <a:ln/>
        </p:spPr>
        <p:txBody>
          <a:bodyPr wrap="none" lIns="0" tIns="0" rIns="0" bIns="0" rtlCol="0" anchor="t"/>
          <a:lstStyle/>
          <a:p>
            <a:pPr marL="342900" indent="-342900" algn="l">
              <a:lnSpc>
                <a:spcPts val="2050"/>
              </a:lnSpc>
              <a:buSzPct val="100000"/>
              <a:buChar char="•"/>
            </a:pPr>
            <a:r>
              <a:rPr lang="en-US" sz="1550" dirty="0">
                <a:solidFill>
                  <a:srgbClr val="67534F"/>
                </a:solidFill>
                <a:latin typeface="Montserrat" pitchFamily="34" charset="0"/>
                <a:ea typeface="Montserrat" pitchFamily="34" charset="-122"/>
                <a:cs typeface="Montserrat" pitchFamily="34" charset="-120"/>
              </a:rPr>
              <a:t>Documentation claire et procédures de dépannage.</a:t>
            </a:r>
            <a:endParaRPr lang="en-US" sz="1550" dirty="0"/>
          </a:p>
        </p:txBody>
      </p:sp>
      <p:sp>
        <p:nvSpPr>
          <p:cNvPr id="28" name="Rectangle 27"/>
          <p:cNvSpPr/>
          <p:nvPr/>
        </p:nvSpPr>
        <p:spPr>
          <a:xfrm>
            <a:off x="12691241" y="7662041"/>
            <a:ext cx="1939159" cy="457200"/>
          </a:xfrm>
          <a:prstGeom prst="rect">
            <a:avLst/>
          </a:prstGeom>
          <a:solidFill>
            <a:srgbClr val="FDFCF1"/>
          </a:solidFill>
          <a:ln>
            <a:solidFill>
              <a:srgbClr val="FD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380773"/>
            <a:ext cx="3912751" cy="508516"/>
          </a:xfrm>
          <a:prstGeom prst="rect">
            <a:avLst/>
          </a:prstGeom>
          <a:noFill/>
          <a:ln/>
        </p:spPr>
        <p:txBody>
          <a:bodyPr wrap="none" lIns="0" tIns="0" rIns="0" bIns="0" rtlCol="0" anchor="t"/>
          <a:lstStyle/>
          <a:p>
            <a:pPr marL="0" indent="0" algn="l">
              <a:lnSpc>
                <a:spcPts val="4000"/>
              </a:lnSpc>
              <a:buNone/>
            </a:pPr>
            <a:r>
              <a:rPr lang="en-US" sz="3050" dirty="0">
                <a:solidFill>
                  <a:srgbClr val="7D3E2C"/>
                </a:solidFill>
                <a:latin typeface="Marcellus" pitchFamily="34" charset="0"/>
                <a:ea typeface="Marcellus" pitchFamily="34" charset="-122"/>
                <a:cs typeface="Marcellus" pitchFamily="34" charset="-120"/>
              </a:rPr>
              <a:t>V. ACTEURS ET RÔLES</a:t>
            </a:r>
            <a:endParaRPr lang="en-US" sz="3050" dirty="0"/>
          </a:p>
        </p:txBody>
      </p:sp>
      <p:sp>
        <p:nvSpPr>
          <p:cNvPr id="3" name="Shape 1"/>
          <p:cNvSpPr/>
          <p:nvPr/>
        </p:nvSpPr>
        <p:spPr>
          <a:xfrm>
            <a:off x="768700" y="1357194"/>
            <a:ext cx="6407944" cy="2159079"/>
          </a:xfrm>
          <a:prstGeom prst="roundRect">
            <a:avLst>
              <a:gd name="adj" fmla="val 4412"/>
            </a:avLst>
          </a:prstGeom>
          <a:solidFill>
            <a:srgbClr val="FFFFF4"/>
          </a:solidFill>
          <a:ln w="22860">
            <a:solidFill>
              <a:srgbClr val="FFE0CC"/>
            </a:solidFill>
            <a:prstDash val="solid"/>
          </a:ln>
        </p:spPr>
        <p:txBody>
          <a:bodyPr/>
          <a:lstStyle/>
          <a:p>
            <a:endParaRPr lang="fr-US"/>
          </a:p>
        </p:txBody>
      </p:sp>
      <p:sp>
        <p:nvSpPr>
          <p:cNvPr id="4" name="Text 2"/>
          <p:cNvSpPr/>
          <p:nvPr/>
        </p:nvSpPr>
        <p:spPr>
          <a:xfrm>
            <a:off x="1043464" y="1486982"/>
            <a:ext cx="3455313" cy="423863"/>
          </a:xfrm>
          <a:prstGeom prst="rect">
            <a:avLst/>
          </a:prstGeom>
          <a:noFill/>
          <a:ln/>
        </p:spPr>
        <p:txBody>
          <a:bodyPr wrap="non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Administrateur système</a:t>
            </a:r>
            <a:endParaRPr lang="en-US" sz="2550" dirty="0"/>
          </a:p>
        </p:txBody>
      </p:sp>
      <p:sp>
        <p:nvSpPr>
          <p:cNvPr id="5" name="Text 3"/>
          <p:cNvSpPr/>
          <p:nvPr/>
        </p:nvSpPr>
        <p:spPr>
          <a:xfrm>
            <a:off x="1043464" y="2022335"/>
            <a:ext cx="5908596" cy="294799"/>
          </a:xfrm>
          <a:prstGeom prst="rect">
            <a:avLst/>
          </a:prstGeom>
          <a:noFill/>
          <a:ln/>
        </p:spPr>
        <p:txBody>
          <a:bodyPr wrap="none" lIns="0" tIns="0" rIns="0" bIns="0" rtlCol="0" anchor="t"/>
          <a:lstStyle/>
          <a:p>
            <a:pPr marL="342900" indent="-342900" algn="l">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Installe et configure le DFR.</a:t>
            </a:r>
            <a:endParaRPr lang="en-US" sz="1750" dirty="0"/>
          </a:p>
        </p:txBody>
      </p:sp>
      <p:sp>
        <p:nvSpPr>
          <p:cNvPr id="6" name="Text 4"/>
          <p:cNvSpPr/>
          <p:nvPr/>
        </p:nvSpPr>
        <p:spPr>
          <a:xfrm>
            <a:off x="1018374" y="2447103"/>
            <a:ext cx="5908596" cy="294799"/>
          </a:xfrm>
          <a:prstGeom prst="rect">
            <a:avLst/>
          </a:prstGeom>
          <a:noFill/>
          <a:ln/>
        </p:spPr>
        <p:txBody>
          <a:bodyPr wrap="none" lIns="0" tIns="0" rIns="0" bIns="0" rtlCol="0" anchor="t"/>
          <a:lstStyle/>
          <a:p>
            <a:pPr marL="342900" indent="-342900" algn="l">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Surveille les logs et l'état des nœuds.</a:t>
            </a:r>
            <a:endParaRPr lang="en-US" sz="1750" dirty="0"/>
          </a:p>
        </p:txBody>
      </p:sp>
      <p:sp>
        <p:nvSpPr>
          <p:cNvPr id="7" name="Text 5"/>
          <p:cNvSpPr/>
          <p:nvPr/>
        </p:nvSpPr>
        <p:spPr>
          <a:xfrm>
            <a:off x="1043464" y="2785039"/>
            <a:ext cx="5908596" cy="294799"/>
          </a:xfrm>
          <a:prstGeom prst="rect">
            <a:avLst/>
          </a:prstGeom>
          <a:noFill/>
          <a:ln/>
        </p:spPr>
        <p:txBody>
          <a:bodyPr wrap="none" lIns="0" tIns="0" rIns="0" bIns="0" rtlCol="0" anchor="t"/>
          <a:lstStyle/>
          <a:p>
            <a:pPr marL="342900" indent="-342900" algn="l">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Gère les clés d'accès et les permissions.</a:t>
            </a:r>
            <a:endParaRPr lang="en-US" sz="1750" dirty="0"/>
          </a:p>
        </p:txBody>
      </p:sp>
      <p:sp>
        <p:nvSpPr>
          <p:cNvPr id="8" name="Shape 6"/>
          <p:cNvSpPr/>
          <p:nvPr/>
        </p:nvSpPr>
        <p:spPr>
          <a:xfrm>
            <a:off x="7426318" y="1357193"/>
            <a:ext cx="6408063" cy="2159079"/>
          </a:xfrm>
          <a:prstGeom prst="roundRect">
            <a:avLst>
              <a:gd name="adj" fmla="val 4412"/>
            </a:avLst>
          </a:prstGeom>
          <a:solidFill>
            <a:srgbClr val="FFFFF4"/>
          </a:solidFill>
          <a:ln w="22860">
            <a:solidFill>
              <a:srgbClr val="FFE0CC"/>
            </a:solidFill>
            <a:prstDash val="solid"/>
          </a:ln>
        </p:spPr>
        <p:txBody>
          <a:bodyPr/>
          <a:lstStyle/>
          <a:p>
            <a:endParaRPr lang="fr-US"/>
          </a:p>
        </p:txBody>
      </p:sp>
      <p:sp>
        <p:nvSpPr>
          <p:cNvPr id="9" name="Text 7"/>
          <p:cNvSpPr/>
          <p:nvPr/>
        </p:nvSpPr>
        <p:spPr>
          <a:xfrm>
            <a:off x="7797491" y="1486982"/>
            <a:ext cx="3260646" cy="423863"/>
          </a:xfrm>
          <a:prstGeom prst="rect">
            <a:avLst/>
          </a:prstGeom>
          <a:noFill/>
          <a:ln/>
        </p:spPr>
        <p:txBody>
          <a:bodyPr wrap="none" lIns="0" tIns="0" rIns="0" bIns="0" rtlCol="0" anchor="t"/>
          <a:lstStyle/>
          <a:p>
            <a:pPr marL="0" indent="0" algn="l">
              <a:lnSpc>
                <a:spcPts val="3300"/>
              </a:lnSpc>
              <a:buNone/>
            </a:pPr>
            <a:r>
              <a:rPr lang="en-US" sz="2550" b="1" dirty="0">
                <a:solidFill>
                  <a:srgbClr val="67534F"/>
                </a:solidFill>
                <a:latin typeface="Marcellus" pitchFamily="34" charset="0"/>
                <a:ea typeface="Marcellus" pitchFamily="34" charset="-122"/>
                <a:cs typeface="Marcellus" pitchFamily="34" charset="-120"/>
              </a:rPr>
              <a:t>Utilisateur final</a:t>
            </a:r>
            <a:r>
              <a:rPr lang="en-US" sz="2550" dirty="0">
                <a:solidFill>
                  <a:srgbClr val="67534F"/>
                </a:solidFill>
                <a:latin typeface="Marcellus" pitchFamily="34" charset="0"/>
                <a:ea typeface="Marcellus" pitchFamily="34" charset="-122"/>
                <a:cs typeface="Marcellus" pitchFamily="34" charset="-120"/>
              </a:rPr>
              <a:t> </a:t>
            </a:r>
            <a:endParaRPr lang="en-US" sz="2550" dirty="0"/>
          </a:p>
        </p:txBody>
      </p:sp>
      <p:sp>
        <p:nvSpPr>
          <p:cNvPr id="10" name="Text 8"/>
          <p:cNvSpPr/>
          <p:nvPr/>
        </p:nvSpPr>
        <p:spPr>
          <a:xfrm>
            <a:off x="7678222" y="2022334"/>
            <a:ext cx="5908715" cy="294799"/>
          </a:xfrm>
          <a:prstGeom prst="rect">
            <a:avLst/>
          </a:prstGeom>
          <a:noFill/>
          <a:ln/>
        </p:spPr>
        <p:txBody>
          <a:bodyPr wrap="none" lIns="0" tIns="0" rIns="0" bIns="0" rtlCol="0" anchor="t"/>
          <a:lstStyle/>
          <a:p>
            <a:pPr marL="342900" indent="-342900" algn="l">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Interagit avec les fichiers localement.</a:t>
            </a:r>
            <a:endParaRPr lang="en-US" sz="1750" dirty="0"/>
          </a:p>
        </p:txBody>
      </p:sp>
      <p:sp>
        <p:nvSpPr>
          <p:cNvPr id="11" name="Text 9"/>
          <p:cNvSpPr/>
          <p:nvPr/>
        </p:nvSpPr>
        <p:spPr>
          <a:xfrm>
            <a:off x="7703311" y="2447103"/>
            <a:ext cx="5908715" cy="294799"/>
          </a:xfrm>
          <a:prstGeom prst="rect">
            <a:avLst/>
          </a:prstGeom>
          <a:noFill/>
          <a:ln/>
        </p:spPr>
        <p:txBody>
          <a:bodyPr wrap="none" lIns="0" tIns="0" rIns="0" bIns="0" rtlCol="0" anchor="t"/>
          <a:lstStyle/>
          <a:p>
            <a:pPr marL="342900" indent="-342900" algn="l">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Bénéficie de la synchronisation transparente.</a:t>
            </a:r>
            <a:endParaRPr lang="en-US" sz="1750" dirty="0"/>
          </a:p>
        </p:txBody>
      </p:sp>
      <p:sp>
        <p:nvSpPr>
          <p:cNvPr id="12" name="Text 10"/>
          <p:cNvSpPr/>
          <p:nvPr/>
        </p:nvSpPr>
        <p:spPr>
          <a:xfrm>
            <a:off x="7678222" y="5130879"/>
            <a:ext cx="5908715" cy="294799"/>
          </a:xfrm>
          <a:prstGeom prst="rect">
            <a:avLst/>
          </a:prstGeom>
          <a:noFill/>
          <a:ln/>
        </p:spPr>
        <p:txBody>
          <a:bodyPr wrap="none" lIns="0" tIns="0" rIns="0" bIns="0" rtlCol="0" anchor="t"/>
          <a:lstStyle/>
          <a:p>
            <a:pPr marL="0" indent="0" algn="l">
              <a:lnSpc>
                <a:spcPts val="2300"/>
              </a:lnSpc>
              <a:buNone/>
            </a:pPr>
            <a:endParaRPr lang="en-US" sz="1750" dirty="0"/>
          </a:p>
        </p:txBody>
      </p:sp>
      <p:sp>
        <p:nvSpPr>
          <p:cNvPr id="13" name="Rectangle 12"/>
          <p:cNvSpPr/>
          <p:nvPr/>
        </p:nvSpPr>
        <p:spPr>
          <a:xfrm>
            <a:off x="12691241" y="7662041"/>
            <a:ext cx="1939159" cy="457200"/>
          </a:xfrm>
          <a:prstGeom prst="rect">
            <a:avLst/>
          </a:prstGeom>
          <a:solidFill>
            <a:srgbClr val="FDFCF1"/>
          </a:solidFill>
          <a:ln>
            <a:solidFill>
              <a:srgbClr val="FD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6CFF0-590E-D840-1AA1-4138F81606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4AEAEC-C8B0-0B89-52B7-658F1FB151EE}"/>
              </a:ext>
            </a:extLst>
          </p:cNvPr>
          <p:cNvSpPr/>
          <p:nvPr/>
        </p:nvSpPr>
        <p:spPr>
          <a:xfrm>
            <a:off x="793790" y="387191"/>
            <a:ext cx="9448086" cy="508516"/>
          </a:xfrm>
          <a:prstGeom prst="rect">
            <a:avLst/>
          </a:prstGeom>
          <a:noFill/>
          <a:ln/>
        </p:spPr>
        <p:txBody>
          <a:bodyPr wrap="none" lIns="0" tIns="0" rIns="0" bIns="0" rtlCol="0" anchor="t"/>
          <a:lstStyle/>
          <a:p>
            <a:pPr marL="0" indent="0" algn="l">
              <a:lnSpc>
                <a:spcPts val="4000"/>
              </a:lnSpc>
              <a:buNone/>
            </a:pPr>
            <a:r>
              <a:rPr lang="en-US" sz="3050" dirty="0">
                <a:solidFill>
                  <a:srgbClr val="7D3E2C"/>
                </a:solidFill>
                <a:latin typeface="Marcellus" pitchFamily="34" charset="0"/>
                <a:ea typeface="Marcellus" pitchFamily="34" charset="-122"/>
                <a:cs typeface="Marcellus" pitchFamily="34" charset="-120"/>
              </a:rPr>
              <a:t>VII. DESCRIPTION TEXTUELLE DES CAS D'UTILISATION</a:t>
            </a:r>
            <a:endParaRPr lang="en-US" sz="3050" dirty="0"/>
          </a:p>
        </p:txBody>
      </p:sp>
      <p:sp>
        <p:nvSpPr>
          <p:cNvPr id="3" name="Shape 1">
            <a:extLst>
              <a:ext uri="{FF2B5EF4-FFF2-40B4-BE49-F238E27FC236}">
                <a16:creationId xmlns:a16="http://schemas.microsoft.com/office/drawing/2014/main" id="{C8C81633-D3DA-6035-FF71-97F55661AA28}"/>
              </a:ext>
            </a:extLst>
          </p:cNvPr>
          <p:cNvSpPr/>
          <p:nvPr/>
        </p:nvSpPr>
        <p:spPr>
          <a:xfrm>
            <a:off x="793789" y="993913"/>
            <a:ext cx="6375637" cy="7125328"/>
          </a:xfrm>
          <a:prstGeom prst="roundRect">
            <a:avLst>
              <a:gd name="adj" fmla="val 2270"/>
            </a:avLst>
          </a:prstGeom>
          <a:solidFill>
            <a:srgbClr val="FFFFF4">
              <a:alpha val="95000"/>
            </a:srgbClr>
          </a:solidFill>
          <a:ln w="30480">
            <a:solidFill>
              <a:srgbClr val="FFE0CC"/>
            </a:solidFill>
            <a:prstDash val="solid"/>
          </a:ln>
        </p:spPr>
        <p:txBody>
          <a:bodyPr/>
          <a:lstStyle/>
          <a:p>
            <a:endParaRPr lang="fr-US"/>
          </a:p>
        </p:txBody>
      </p:sp>
      <p:sp>
        <p:nvSpPr>
          <p:cNvPr id="4" name="Text 2">
            <a:extLst>
              <a:ext uri="{FF2B5EF4-FFF2-40B4-BE49-F238E27FC236}">
                <a16:creationId xmlns:a16="http://schemas.microsoft.com/office/drawing/2014/main" id="{7827279B-6840-5B98-4D0F-EDB77DD58721}"/>
              </a:ext>
            </a:extLst>
          </p:cNvPr>
          <p:cNvSpPr/>
          <p:nvPr/>
        </p:nvSpPr>
        <p:spPr>
          <a:xfrm>
            <a:off x="1051083" y="1120235"/>
            <a:ext cx="5906307" cy="611498"/>
          </a:xfrm>
          <a:prstGeom prst="rect">
            <a:avLst/>
          </a:prstGeom>
          <a:noFill/>
          <a:ln/>
        </p:spPr>
        <p:txBody>
          <a:bodyPr wrap="square" lIns="0" tIns="0" rIns="0" bIns="0" rtlCol="0" anchor="t"/>
          <a:lstStyle/>
          <a:p>
            <a:pPr marL="0" indent="0" algn="l">
              <a:lnSpc>
                <a:spcPts val="3300"/>
              </a:lnSpc>
              <a:buNone/>
            </a:pPr>
            <a:r>
              <a:rPr lang="en-US" sz="2550" dirty="0">
                <a:solidFill>
                  <a:srgbClr val="FF954F"/>
                </a:solidFill>
                <a:latin typeface="Marcellus" pitchFamily="34" charset="0"/>
                <a:ea typeface="Marcellus" pitchFamily="34" charset="-122"/>
                <a:cs typeface="Marcellus" pitchFamily="34" charset="-120"/>
              </a:rPr>
              <a:t>CU1 : </a:t>
            </a:r>
            <a:r>
              <a:rPr lang="en-US" sz="2550" dirty="0" err="1">
                <a:solidFill>
                  <a:srgbClr val="FF954F"/>
                </a:solidFill>
                <a:latin typeface="Marcellus" pitchFamily="34" charset="0"/>
                <a:ea typeface="Marcellus" pitchFamily="34" charset="-122"/>
                <a:cs typeface="Marcellus" pitchFamily="34" charset="-120"/>
              </a:rPr>
              <a:t>Détecter</a:t>
            </a:r>
            <a:r>
              <a:rPr lang="en-US" sz="2550" dirty="0">
                <a:solidFill>
                  <a:srgbClr val="FF954F"/>
                </a:solidFill>
                <a:latin typeface="Marcellus" pitchFamily="34" charset="0"/>
                <a:ea typeface="Marcellus" pitchFamily="34" charset="-122"/>
                <a:cs typeface="Marcellus" pitchFamily="34" charset="-120"/>
              </a:rPr>
              <a:t> modification</a:t>
            </a:r>
            <a:endParaRPr lang="en-US" sz="2550" dirty="0"/>
          </a:p>
        </p:txBody>
      </p:sp>
      <p:sp>
        <p:nvSpPr>
          <p:cNvPr id="5" name="Text 3">
            <a:extLst>
              <a:ext uri="{FF2B5EF4-FFF2-40B4-BE49-F238E27FC236}">
                <a16:creationId xmlns:a16="http://schemas.microsoft.com/office/drawing/2014/main" id="{2F917085-F139-2E8B-A9E7-6FBB67809366}"/>
              </a:ext>
            </a:extLst>
          </p:cNvPr>
          <p:cNvSpPr/>
          <p:nvPr/>
        </p:nvSpPr>
        <p:spPr>
          <a:xfrm>
            <a:off x="1051083" y="1922333"/>
            <a:ext cx="3681770" cy="294799"/>
          </a:xfrm>
          <a:prstGeom prst="rect">
            <a:avLst/>
          </a:prstGeom>
          <a:noFill/>
          <a:ln/>
        </p:spPr>
        <p:txBody>
          <a:bodyPr wrap="none" lIns="0" tIns="0" rIns="0" bIns="0" rtlCol="0" anchor="t"/>
          <a:lstStyle/>
          <a:p>
            <a:pPr marL="342900" indent="-342900" algn="l">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Acteur</a:t>
            </a:r>
            <a:r>
              <a:rPr lang="en-US" sz="1750" dirty="0">
                <a:solidFill>
                  <a:srgbClr val="67534F"/>
                </a:solidFill>
                <a:latin typeface="Montserrat" pitchFamily="34" charset="0"/>
                <a:ea typeface="Montserrat" pitchFamily="34" charset="-122"/>
                <a:cs typeface="Montserrat" pitchFamily="34" charset="-120"/>
              </a:rPr>
              <a:t> : Système DFR</a:t>
            </a:r>
            <a:endParaRPr lang="en-US" sz="1750" dirty="0"/>
          </a:p>
        </p:txBody>
      </p:sp>
      <p:sp>
        <p:nvSpPr>
          <p:cNvPr id="6" name="Text 4">
            <a:extLst>
              <a:ext uri="{FF2B5EF4-FFF2-40B4-BE49-F238E27FC236}">
                <a16:creationId xmlns:a16="http://schemas.microsoft.com/office/drawing/2014/main" id="{618EEBE1-1992-6D88-EF20-5B9174AB3C51}"/>
              </a:ext>
            </a:extLst>
          </p:cNvPr>
          <p:cNvSpPr/>
          <p:nvPr/>
        </p:nvSpPr>
        <p:spPr>
          <a:xfrm>
            <a:off x="1070875" y="2377777"/>
            <a:ext cx="5906306" cy="996099"/>
          </a:xfrm>
          <a:prstGeom prst="rect">
            <a:avLst/>
          </a:prstGeom>
          <a:noFill/>
          <a:ln/>
        </p:spPr>
        <p:txBody>
          <a:bodyPr wrap="square" lIns="0" tIns="0" rIns="0" bIns="0" rtlCol="0" anchor="t"/>
          <a:lstStyle/>
          <a:p>
            <a:pPr marL="342900" indent="-342900" algn="l">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Description</a:t>
            </a:r>
            <a:r>
              <a:rPr lang="en-US" sz="1750" dirty="0">
                <a:solidFill>
                  <a:srgbClr val="67534F"/>
                </a:solidFill>
                <a:latin typeface="Montserrat" pitchFamily="34" charset="0"/>
                <a:ea typeface="Montserrat" pitchFamily="34" charset="-122"/>
                <a:cs typeface="Montserrat" pitchFamily="34" charset="-120"/>
              </a:rPr>
              <a:t> : Le système détecte une modification via inotify et déclenche une synchronisation vers les autres nœuds.</a:t>
            </a:r>
            <a:endParaRPr lang="en-US" sz="1750" dirty="0"/>
          </a:p>
        </p:txBody>
      </p:sp>
      <p:sp>
        <p:nvSpPr>
          <p:cNvPr id="7" name="Text 5">
            <a:extLst>
              <a:ext uri="{FF2B5EF4-FFF2-40B4-BE49-F238E27FC236}">
                <a16:creationId xmlns:a16="http://schemas.microsoft.com/office/drawing/2014/main" id="{A9852CA0-CBEF-F4D5-41E5-9A971B9776E8}"/>
              </a:ext>
            </a:extLst>
          </p:cNvPr>
          <p:cNvSpPr/>
          <p:nvPr/>
        </p:nvSpPr>
        <p:spPr>
          <a:xfrm>
            <a:off x="1051083" y="3530589"/>
            <a:ext cx="5800290" cy="884396"/>
          </a:xfrm>
          <a:prstGeom prst="rect">
            <a:avLst/>
          </a:prstGeom>
          <a:noFill/>
          <a:ln/>
        </p:spPr>
        <p:txBody>
          <a:bodyPr wrap="square" lIns="0" tIns="0" rIns="0" bIns="0" rtlCol="0" anchor="t"/>
          <a:lstStyle/>
          <a:p>
            <a:pPr marL="342900" indent="-342900" algn="l">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Précondition</a:t>
            </a:r>
            <a:r>
              <a:rPr lang="en-US" sz="1750" dirty="0">
                <a:solidFill>
                  <a:srgbClr val="67534F"/>
                </a:solidFill>
                <a:latin typeface="Montserrat" pitchFamily="34" charset="0"/>
                <a:ea typeface="Montserrat" pitchFamily="34" charset="-122"/>
                <a:cs typeface="Montserrat" pitchFamily="34" charset="-120"/>
              </a:rPr>
              <a:t> : Les nœuds sont opérationnels et </a:t>
            </a:r>
            <a:r>
              <a:rPr lang="en-US" sz="1750" dirty="0" err="1">
                <a:solidFill>
                  <a:srgbClr val="67534F"/>
                </a:solidFill>
                <a:latin typeface="Montserrat" pitchFamily="34" charset="0"/>
                <a:ea typeface="Montserrat" pitchFamily="34" charset="-122"/>
                <a:cs typeface="Montserrat" pitchFamily="34" charset="-120"/>
              </a:rPr>
              <a:t>en</a:t>
            </a:r>
            <a:r>
              <a:rPr lang="en-US" sz="1750" dirty="0">
                <a:solidFill>
                  <a:srgbClr val="67534F"/>
                </a:solidFill>
                <a:latin typeface="Montserrat" pitchFamily="34" charset="0"/>
                <a:ea typeface="Montserrat" pitchFamily="34" charset="-122"/>
                <a:cs typeface="Montserrat" pitchFamily="34" charset="-120"/>
              </a:rPr>
              <a:t> réseau.</a:t>
            </a:r>
            <a:endParaRPr lang="en-US" sz="1750" dirty="0"/>
          </a:p>
        </p:txBody>
      </p:sp>
      <p:sp>
        <p:nvSpPr>
          <p:cNvPr id="8" name="Text 6">
            <a:extLst>
              <a:ext uri="{FF2B5EF4-FFF2-40B4-BE49-F238E27FC236}">
                <a16:creationId xmlns:a16="http://schemas.microsoft.com/office/drawing/2014/main" id="{912FFD91-4499-9D6B-AE77-BA8D11BA8C75}"/>
              </a:ext>
            </a:extLst>
          </p:cNvPr>
          <p:cNvSpPr/>
          <p:nvPr/>
        </p:nvSpPr>
        <p:spPr>
          <a:xfrm>
            <a:off x="984823" y="4328141"/>
            <a:ext cx="5164186" cy="884396"/>
          </a:xfrm>
          <a:prstGeom prst="rect">
            <a:avLst/>
          </a:prstGeom>
          <a:noFill/>
          <a:ln/>
        </p:spPr>
        <p:txBody>
          <a:bodyPr wrap="square" lIns="0" tIns="0" rIns="0" bIns="0" rtlCol="0" anchor="t"/>
          <a:lstStyle/>
          <a:p>
            <a:pPr marL="342900" indent="-342900" algn="l">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Postcondition</a:t>
            </a:r>
            <a:r>
              <a:rPr lang="en-US" sz="1750" dirty="0">
                <a:solidFill>
                  <a:srgbClr val="67534F"/>
                </a:solidFill>
                <a:latin typeface="Montserrat" pitchFamily="34" charset="0"/>
                <a:ea typeface="Montserrat" pitchFamily="34" charset="-122"/>
                <a:cs typeface="Montserrat" pitchFamily="34" charset="-120"/>
              </a:rPr>
              <a:t> : Les fichiers sont répliqués avec cohérence.</a:t>
            </a:r>
            <a:endParaRPr lang="en-US" sz="1750" dirty="0"/>
          </a:p>
        </p:txBody>
      </p:sp>
      <p:sp>
        <p:nvSpPr>
          <p:cNvPr id="15" name="Shape 13">
            <a:extLst>
              <a:ext uri="{FF2B5EF4-FFF2-40B4-BE49-F238E27FC236}">
                <a16:creationId xmlns:a16="http://schemas.microsoft.com/office/drawing/2014/main" id="{3EFC897B-A379-A12A-933B-8EA46C23E41D}"/>
              </a:ext>
            </a:extLst>
          </p:cNvPr>
          <p:cNvSpPr/>
          <p:nvPr/>
        </p:nvSpPr>
        <p:spPr>
          <a:xfrm>
            <a:off x="7744891" y="953662"/>
            <a:ext cx="6554023" cy="7125328"/>
          </a:xfrm>
          <a:prstGeom prst="roundRect">
            <a:avLst>
              <a:gd name="adj" fmla="val 2270"/>
            </a:avLst>
          </a:prstGeom>
          <a:solidFill>
            <a:srgbClr val="FFFFF4">
              <a:alpha val="95000"/>
            </a:srgbClr>
          </a:solidFill>
          <a:ln w="30480">
            <a:solidFill>
              <a:srgbClr val="FFE0CC"/>
            </a:solidFill>
            <a:prstDash val="solid"/>
          </a:ln>
        </p:spPr>
        <p:txBody>
          <a:bodyPr/>
          <a:lstStyle/>
          <a:p>
            <a:endParaRPr lang="fr-US"/>
          </a:p>
        </p:txBody>
      </p:sp>
      <p:sp>
        <p:nvSpPr>
          <p:cNvPr id="16" name="Text 14">
            <a:extLst>
              <a:ext uri="{FF2B5EF4-FFF2-40B4-BE49-F238E27FC236}">
                <a16:creationId xmlns:a16="http://schemas.microsoft.com/office/drawing/2014/main" id="{43B23A4B-C1C9-1BE2-5774-515BCE7C5715}"/>
              </a:ext>
            </a:extLst>
          </p:cNvPr>
          <p:cNvSpPr/>
          <p:nvPr/>
        </p:nvSpPr>
        <p:spPr>
          <a:xfrm>
            <a:off x="7883096" y="1289132"/>
            <a:ext cx="3681770" cy="589599"/>
          </a:xfrm>
          <a:prstGeom prst="rect">
            <a:avLst/>
          </a:prstGeom>
          <a:noFill/>
          <a:ln/>
        </p:spPr>
        <p:txBody>
          <a:bodyPr wrap="square" lIns="0" tIns="0" rIns="0" bIns="0" rtlCol="0" anchor="t"/>
          <a:lstStyle/>
          <a:p>
            <a:pPr>
              <a:lnSpc>
                <a:spcPts val="3300"/>
              </a:lnSpc>
            </a:pPr>
            <a:r>
              <a:rPr lang="en-US" sz="2550" dirty="0">
                <a:solidFill>
                  <a:srgbClr val="FF954F"/>
                </a:solidFill>
                <a:latin typeface="Marcellus" pitchFamily="34" charset="0"/>
                <a:ea typeface="Marcellus" pitchFamily="34" charset="-122"/>
                <a:cs typeface="Marcellus" pitchFamily="34" charset="-120"/>
              </a:rPr>
              <a:t>CU2 :</a:t>
            </a:r>
            <a:r>
              <a:rPr lang="en-US" sz="2550" dirty="0" err="1">
                <a:solidFill>
                  <a:srgbClr val="FF954F"/>
                </a:solidFill>
                <a:latin typeface="Marcellus" pitchFamily="34" charset="0"/>
                <a:ea typeface="Marcellus" pitchFamily="34" charset="-122"/>
                <a:cs typeface="Marcellus" pitchFamily="34" charset="-120"/>
              </a:rPr>
              <a:t>Resoudre</a:t>
            </a:r>
            <a:r>
              <a:rPr lang="en-US" sz="2550" dirty="0">
                <a:solidFill>
                  <a:srgbClr val="FF954F"/>
                </a:solidFill>
                <a:latin typeface="Marcellus" pitchFamily="34" charset="0"/>
                <a:ea typeface="Marcellus" pitchFamily="34" charset="-122"/>
                <a:cs typeface="Marcellus" pitchFamily="34" charset="-120"/>
              </a:rPr>
              <a:t> un </a:t>
            </a:r>
            <a:r>
              <a:rPr lang="en-US" sz="2550" dirty="0" err="1">
                <a:solidFill>
                  <a:srgbClr val="FF954F"/>
                </a:solidFill>
                <a:latin typeface="Marcellus" pitchFamily="34" charset="0"/>
                <a:ea typeface="Marcellus" pitchFamily="34" charset="-122"/>
                <a:cs typeface="Marcellus" pitchFamily="34" charset="-120"/>
              </a:rPr>
              <a:t>conflit</a:t>
            </a:r>
            <a:r>
              <a:rPr lang="en-US" sz="2550" dirty="0">
                <a:solidFill>
                  <a:srgbClr val="FF954F"/>
                </a:solidFill>
                <a:latin typeface="Marcellus" pitchFamily="34" charset="0"/>
                <a:ea typeface="Marcellus" pitchFamily="34" charset="-122"/>
                <a:cs typeface="Marcellus" pitchFamily="34" charset="-120"/>
              </a:rPr>
              <a:t> </a:t>
            </a:r>
            <a:endParaRPr lang="en-US" sz="2550" dirty="0"/>
          </a:p>
          <a:p>
            <a:pPr marL="0" indent="0" algn="l">
              <a:lnSpc>
                <a:spcPts val="3300"/>
              </a:lnSpc>
              <a:buNone/>
            </a:pPr>
            <a:endParaRPr lang="en-US" sz="2550" dirty="0"/>
          </a:p>
        </p:txBody>
      </p:sp>
      <p:sp>
        <p:nvSpPr>
          <p:cNvPr id="17" name="Text 15">
            <a:extLst>
              <a:ext uri="{FF2B5EF4-FFF2-40B4-BE49-F238E27FC236}">
                <a16:creationId xmlns:a16="http://schemas.microsoft.com/office/drawing/2014/main" id="{BF0B2ED6-402F-04E9-9B24-C64E7B7B382B}"/>
              </a:ext>
            </a:extLst>
          </p:cNvPr>
          <p:cNvSpPr/>
          <p:nvPr/>
        </p:nvSpPr>
        <p:spPr>
          <a:xfrm>
            <a:off x="7883096" y="1908137"/>
            <a:ext cx="3681770" cy="294799"/>
          </a:xfrm>
          <a:prstGeom prst="rect">
            <a:avLst/>
          </a:prstGeom>
          <a:noFill/>
          <a:ln/>
        </p:spPr>
        <p:txBody>
          <a:bodyPr wrap="none" lIns="0" tIns="0" rIns="0" bIns="0" rtlCol="0" anchor="t"/>
          <a:lstStyle/>
          <a:p>
            <a:pPr marL="342900" indent="-342900">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Acteur</a:t>
            </a:r>
            <a:r>
              <a:rPr lang="en-US" sz="1750" dirty="0">
                <a:solidFill>
                  <a:srgbClr val="67534F"/>
                </a:solidFill>
                <a:latin typeface="Montserrat" pitchFamily="34" charset="0"/>
                <a:ea typeface="Montserrat" pitchFamily="34" charset="-122"/>
                <a:cs typeface="Montserrat" pitchFamily="34" charset="-120"/>
              </a:rPr>
              <a:t> : Système DFR</a:t>
            </a:r>
            <a:endParaRPr lang="en-US" sz="1750" dirty="0"/>
          </a:p>
        </p:txBody>
      </p:sp>
      <p:sp>
        <p:nvSpPr>
          <p:cNvPr id="18" name="Text 16">
            <a:extLst>
              <a:ext uri="{FF2B5EF4-FFF2-40B4-BE49-F238E27FC236}">
                <a16:creationId xmlns:a16="http://schemas.microsoft.com/office/drawing/2014/main" id="{5E5BC934-B0E4-7BE2-4274-0FD718640091}"/>
              </a:ext>
            </a:extLst>
          </p:cNvPr>
          <p:cNvSpPr/>
          <p:nvPr/>
        </p:nvSpPr>
        <p:spPr>
          <a:xfrm>
            <a:off x="7883096" y="2354456"/>
            <a:ext cx="6084695" cy="884396"/>
          </a:xfrm>
          <a:prstGeom prst="rect">
            <a:avLst/>
          </a:prstGeom>
          <a:noFill/>
          <a:ln/>
        </p:spPr>
        <p:txBody>
          <a:bodyPr wrap="square" lIns="0" tIns="0" rIns="0" bIns="0" rtlCol="0" anchor="t"/>
          <a:lstStyle/>
          <a:p>
            <a:pPr marL="342900" indent="-342900">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Description</a:t>
            </a:r>
            <a:r>
              <a:rPr lang="en-US" sz="1750" dirty="0">
                <a:solidFill>
                  <a:srgbClr val="67534F"/>
                </a:solidFill>
                <a:latin typeface="Montserrat" pitchFamily="34" charset="0"/>
                <a:ea typeface="Montserrat" pitchFamily="34" charset="-122"/>
                <a:cs typeface="Montserrat" pitchFamily="34" charset="-120"/>
              </a:rPr>
              <a:t> : En </a:t>
            </a:r>
            <a:r>
              <a:rPr lang="en-US" sz="1750" dirty="0" err="1">
                <a:solidFill>
                  <a:srgbClr val="67534F"/>
                </a:solidFill>
                <a:latin typeface="Montserrat" pitchFamily="34" charset="0"/>
                <a:ea typeface="Montserrat" pitchFamily="34" charset="-122"/>
                <a:cs typeface="Montserrat" pitchFamily="34" charset="-120"/>
              </a:rPr>
              <a:t>cas</a:t>
            </a:r>
            <a:r>
              <a:rPr lang="en-US" sz="1750" dirty="0">
                <a:solidFill>
                  <a:srgbClr val="67534F"/>
                </a:solidFill>
                <a:latin typeface="Montserrat" pitchFamily="34" charset="0"/>
                <a:ea typeface="Montserrat" pitchFamily="34" charset="-122"/>
                <a:cs typeface="Montserrat" pitchFamily="34" charset="-120"/>
              </a:rPr>
              <a:t> de modifications </a:t>
            </a:r>
            <a:r>
              <a:rPr lang="en-US" sz="1750" dirty="0" err="1">
                <a:solidFill>
                  <a:srgbClr val="67534F"/>
                </a:solidFill>
                <a:latin typeface="Montserrat" pitchFamily="34" charset="0"/>
                <a:ea typeface="Montserrat" pitchFamily="34" charset="-122"/>
                <a:cs typeface="Montserrat" pitchFamily="34" charset="-120"/>
              </a:rPr>
              <a:t>concurrentes</a:t>
            </a:r>
            <a:r>
              <a:rPr lang="en-US" sz="1750" dirty="0">
                <a:solidFill>
                  <a:srgbClr val="67534F"/>
                </a:solidFill>
                <a:latin typeface="Montserrat" pitchFamily="34" charset="0"/>
                <a:ea typeface="Montserrat" pitchFamily="34" charset="-122"/>
                <a:cs typeface="Montserrat" pitchFamily="34" charset="-120"/>
              </a:rPr>
              <a:t>, la version la plus </a:t>
            </a:r>
            <a:r>
              <a:rPr lang="en-US" sz="1750" dirty="0" err="1">
                <a:solidFill>
                  <a:srgbClr val="67534F"/>
                </a:solidFill>
                <a:latin typeface="Montserrat" pitchFamily="34" charset="0"/>
                <a:ea typeface="Montserrat" pitchFamily="34" charset="-122"/>
                <a:cs typeface="Montserrat" pitchFamily="34" charset="-120"/>
              </a:rPr>
              <a:t>récente</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basée</a:t>
            </a:r>
            <a:r>
              <a:rPr lang="en-US" sz="1750" dirty="0">
                <a:solidFill>
                  <a:srgbClr val="67534F"/>
                </a:solidFill>
                <a:latin typeface="Montserrat" pitchFamily="34" charset="0"/>
                <a:ea typeface="Montserrat" pitchFamily="34" charset="-122"/>
                <a:cs typeface="Montserrat" pitchFamily="34" charset="-120"/>
              </a:rPr>
              <a:t> sur </a:t>
            </a:r>
            <a:r>
              <a:rPr lang="en-US" sz="1750" dirty="0" err="1">
                <a:solidFill>
                  <a:srgbClr val="67534F"/>
                </a:solidFill>
                <a:latin typeface="Montserrat" pitchFamily="34" charset="0"/>
                <a:ea typeface="Montserrat" pitchFamily="34" charset="-122"/>
                <a:cs typeface="Montserrat" pitchFamily="34" charset="-120"/>
              </a:rPr>
              <a:t>l'horodatage</a:t>
            </a:r>
            <a:r>
              <a:rPr lang="en-US" sz="1750" dirty="0">
                <a:solidFill>
                  <a:srgbClr val="67534F"/>
                </a:solidFill>
                <a:latin typeface="Montserrat" pitchFamily="34" charset="0"/>
                <a:ea typeface="Montserrat" pitchFamily="34" charset="-122"/>
                <a:cs typeface="Montserrat" pitchFamily="34" charset="-120"/>
              </a:rPr>
              <a:t>) est </a:t>
            </a:r>
            <a:r>
              <a:rPr lang="en-US" sz="1750" dirty="0" err="1">
                <a:solidFill>
                  <a:srgbClr val="67534F"/>
                </a:solidFill>
                <a:latin typeface="Montserrat" pitchFamily="34" charset="0"/>
                <a:ea typeface="Montserrat" pitchFamily="34" charset="-122"/>
                <a:cs typeface="Montserrat" pitchFamily="34" charset="-120"/>
              </a:rPr>
              <a:t>conservée</a:t>
            </a:r>
            <a:r>
              <a:rPr lang="en-US" sz="1750" dirty="0">
                <a:solidFill>
                  <a:srgbClr val="67534F"/>
                </a:solidFill>
                <a:latin typeface="Montserrat" pitchFamily="34" charset="0"/>
                <a:ea typeface="Montserrat" pitchFamily="34" charset="-122"/>
                <a:cs typeface="Montserrat" pitchFamily="34" charset="-120"/>
              </a:rPr>
              <a:t>.</a:t>
            </a:r>
            <a:endParaRPr lang="en-US" sz="1750" dirty="0"/>
          </a:p>
        </p:txBody>
      </p:sp>
      <p:sp>
        <p:nvSpPr>
          <p:cNvPr id="19" name="Text 17">
            <a:extLst>
              <a:ext uri="{FF2B5EF4-FFF2-40B4-BE49-F238E27FC236}">
                <a16:creationId xmlns:a16="http://schemas.microsoft.com/office/drawing/2014/main" id="{B6F804BA-8691-F108-BAFA-049B3ECDC539}"/>
              </a:ext>
            </a:extLst>
          </p:cNvPr>
          <p:cNvSpPr/>
          <p:nvPr/>
        </p:nvSpPr>
        <p:spPr>
          <a:xfrm>
            <a:off x="7883096" y="3342643"/>
            <a:ext cx="4946350" cy="589598"/>
          </a:xfrm>
          <a:prstGeom prst="rect">
            <a:avLst/>
          </a:prstGeom>
          <a:noFill/>
          <a:ln/>
        </p:spPr>
        <p:txBody>
          <a:bodyPr wrap="square" lIns="0" tIns="0" rIns="0" bIns="0" rtlCol="0" anchor="t"/>
          <a:lstStyle/>
          <a:p>
            <a:pPr marL="342900" indent="-342900">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Précondition</a:t>
            </a:r>
            <a:r>
              <a:rPr lang="en-US" sz="1750" dirty="0">
                <a:solidFill>
                  <a:srgbClr val="67534F"/>
                </a:solidFill>
                <a:latin typeface="Montserrat" pitchFamily="34" charset="0"/>
                <a:ea typeface="Montserrat" pitchFamily="34" charset="-122"/>
                <a:cs typeface="Montserrat" pitchFamily="34" charset="-120"/>
              </a:rPr>
              <a:t> : </a:t>
            </a:r>
            <a:r>
              <a:rPr lang="en-US" sz="1750" dirty="0" err="1">
                <a:solidFill>
                  <a:srgbClr val="67534F"/>
                </a:solidFill>
                <a:latin typeface="Montserrat" pitchFamily="34" charset="0"/>
                <a:ea typeface="Montserrat" pitchFamily="34" charset="-122"/>
                <a:cs typeface="Montserrat" pitchFamily="34" charset="-120"/>
              </a:rPr>
              <a:t>Conflit</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détecté</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lors</a:t>
            </a:r>
            <a:r>
              <a:rPr lang="en-US" sz="1750" dirty="0">
                <a:solidFill>
                  <a:srgbClr val="67534F"/>
                </a:solidFill>
                <a:latin typeface="Montserrat" pitchFamily="34" charset="0"/>
                <a:ea typeface="Montserrat" pitchFamily="34" charset="-122"/>
                <a:cs typeface="Montserrat" pitchFamily="34" charset="-120"/>
              </a:rPr>
              <a:t> de la </a:t>
            </a:r>
            <a:r>
              <a:rPr lang="en-US" sz="1750" dirty="0" err="1">
                <a:solidFill>
                  <a:srgbClr val="67534F"/>
                </a:solidFill>
                <a:latin typeface="Montserrat" pitchFamily="34" charset="0"/>
                <a:ea typeface="Montserrat" pitchFamily="34" charset="-122"/>
                <a:cs typeface="Montserrat" pitchFamily="34" charset="-120"/>
              </a:rPr>
              <a:t>synchronisation</a:t>
            </a:r>
            <a:r>
              <a:rPr lang="en-US" sz="1750" dirty="0">
                <a:solidFill>
                  <a:srgbClr val="67534F"/>
                </a:solidFill>
                <a:latin typeface="Montserrat" pitchFamily="34" charset="0"/>
                <a:ea typeface="Montserrat" pitchFamily="34" charset="-122"/>
                <a:cs typeface="Montserrat" pitchFamily="34" charset="-120"/>
              </a:rPr>
              <a:t>.</a:t>
            </a:r>
            <a:endParaRPr lang="en-US" sz="1750" dirty="0"/>
          </a:p>
        </p:txBody>
      </p:sp>
      <p:sp>
        <p:nvSpPr>
          <p:cNvPr id="20" name="Text 18">
            <a:extLst>
              <a:ext uri="{FF2B5EF4-FFF2-40B4-BE49-F238E27FC236}">
                <a16:creationId xmlns:a16="http://schemas.microsoft.com/office/drawing/2014/main" id="{113A2CB4-C4E9-E88C-B45E-BAFD8DFA7927}"/>
              </a:ext>
            </a:extLst>
          </p:cNvPr>
          <p:cNvSpPr/>
          <p:nvPr/>
        </p:nvSpPr>
        <p:spPr>
          <a:xfrm>
            <a:off x="7883096" y="4050924"/>
            <a:ext cx="6283478" cy="589598"/>
          </a:xfrm>
          <a:prstGeom prst="rect">
            <a:avLst/>
          </a:prstGeom>
          <a:noFill/>
          <a:ln/>
        </p:spPr>
        <p:txBody>
          <a:bodyPr wrap="square" lIns="0" tIns="0" rIns="0" bIns="0" rtlCol="0" anchor="t"/>
          <a:lstStyle/>
          <a:p>
            <a:pPr marL="342900" indent="-342900">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Postcondition</a:t>
            </a:r>
            <a:r>
              <a:rPr lang="en-US" sz="1750" dirty="0">
                <a:solidFill>
                  <a:srgbClr val="67534F"/>
                </a:solidFill>
                <a:latin typeface="Montserrat" pitchFamily="34" charset="0"/>
                <a:ea typeface="Montserrat" pitchFamily="34" charset="-122"/>
                <a:cs typeface="Montserrat" pitchFamily="34" charset="-120"/>
              </a:rPr>
              <a:t> : Un log est </a:t>
            </a:r>
            <a:r>
              <a:rPr lang="en-US" sz="1750" dirty="0" err="1">
                <a:solidFill>
                  <a:srgbClr val="67534F"/>
                </a:solidFill>
                <a:latin typeface="Montserrat" pitchFamily="34" charset="0"/>
                <a:ea typeface="Montserrat" pitchFamily="34" charset="-122"/>
                <a:cs typeface="Montserrat" pitchFamily="34" charset="-120"/>
              </a:rPr>
              <a:t>généré</a:t>
            </a:r>
            <a:r>
              <a:rPr lang="en-US" sz="1750" dirty="0">
                <a:solidFill>
                  <a:srgbClr val="67534F"/>
                </a:solidFill>
                <a:latin typeface="Montserrat" pitchFamily="34" charset="0"/>
                <a:ea typeface="Montserrat" pitchFamily="34" charset="-122"/>
                <a:cs typeface="Montserrat" pitchFamily="34" charset="-120"/>
              </a:rPr>
              <a:t> et la </a:t>
            </a:r>
            <a:r>
              <a:rPr lang="en-US" sz="1750" dirty="0" err="1">
                <a:solidFill>
                  <a:srgbClr val="67534F"/>
                </a:solidFill>
                <a:latin typeface="Montserrat" pitchFamily="34" charset="0"/>
                <a:ea typeface="Montserrat" pitchFamily="34" charset="-122"/>
                <a:cs typeface="Montserrat" pitchFamily="34" charset="-120"/>
              </a:rPr>
              <a:t>cohérence</a:t>
            </a:r>
            <a:r>
              <a:rPr lang="en-US" sz="1750" dirty="0">
                <a:solidFill>
                  <a:srgbClr val="67534F"/>
                </a:solidFill>
                <a:latin typeface="Montserrat" pitchFamily="34" charset="0"/>
                <a:ea typeface="Montserrat" pitchFamily="34" charset="-122"/>
                <a:cs typeface="Montserrat" pitchFamily="34" charset="-120"/>
              </a:rPr>
              <a:t> est </a:t>
            </a:r>
            <a:r>
              <a:rPr lang="en-US" sz="1750" dirty="0" err="1">
                <a:solidFill>
                  <a:srgbClr val="67534F"/>
                </a:solidFill>
                <a:latin typeface="Montserrat" pitchFamily="34" charset="0"/>
                <a:ea typeface="Montserrat" pitchFamily="34" charset="-122"/>
                <a:cs typeface="Montserrat" pitchFamily="34" charset="-120"/>
              </a:rPr>
              <a:t>maintenue</a:t>
            </a:r>
            <a:r>
              <a:rPr lang="en-US" sz="1750" dirty="0">
                <a:solidFill>
                  <a:srgbClr val="67534F"/>
                </a:solidFill>
                <a:latin typeface="Montserrat" pitchFamily="34" charset="0"/>
                <a:ea typeface="Montserrat" pitchFamily="34" charset="-122"/>
                <a:cs typeface="Montserrat" pitchFamily="34" charset="-120"/>
              </a:rPr>
              <a:t>.</a:t>
            </a:r>
            <a:endParaRPr lang="en-US" sz="1750" dirty="0"/>
          </a:p>
        </p:txBody>
      </p:sp>
      <p:sp>
        <p:nvSpPr>
          <p:cNvPr id="21" name="Rectangle 20">
            <a:extLst>
              <a:ext uri="{FF2B5EF4-FFF2-40B4-BE49-F238E27FC236}">
                <a16:creationId xmlns:a16="http://schemas.microsoft.com/office/drawing/2014/main" id="{CB84754C-E2E4-ABC4-8BFC-34772317C14C}"/>
              </a:ext>
            </a:extLst>
          </p:cNvPr>
          <p:cNvSpPr/>
          <p:nvPr/>
        </p:nvSpPr>
        <p:spPr>
          <a:xfrm>
            <a:off x="12691241" y="7662041"/>
            <a:ext cx="1939159" cy="457200"/>
          </a:xfrm>
          <a:prstGeom prst="rect">
            <a:avLst/>
          </a:prstGeom>
          <a:solidFill>
            <a:srgbClr val="FDFCF1"/>
          </a:solidFill>
          <a:ln>
            <a:solidFill>
              <a:srgbClr val="FD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ext 6">
            <a:extLst>
              <a:ext uri="{FF2B5EF4-FFF2-40B4-BE49-F238E27FC236}">
                <a16:creationId xmlns:a16="http://schemas.microsoft.com/office/drawing/2014/main" id="{6C0CC4E9-539D-EF17-CFFC-F785F7C3C0BA}"/>
              </a:ext>
            </a:extLst>
          </p:cNvPr>
          <p:cNvSpPr/>
          <p:nvPr/>
        </p:nvSpPr>
        <p:spPr>
          <a:xfrm>
            <a:off x="1051083" y="5059322"/>
            <a:ext cx="5906308" cy="3019667"/>
          </a:xfrm>
          <a:prstGeom prst="rect">
            <a:avLst/>
          </a:prstGeom>
          <a:noFill/>
          <a:ln/>
        </p:spPr>
        <p:txBody>
          <a:bodyPr wrap="square" lIns="0" tIns="0" rIns="0" bIns="0" rtlCol="0" anchor="t"/>
          <a:lstStyle/>
          <a:p>
            <a:pPr marL="342900" indent="-342900">
              <a:lnSpc>
                <a:spcPts val="2300"/>
              </a:lnSpc>
              <a:buSzPct val="100000"/>
              <a:buChar char="•"/>
            </a:pPr>
            <a:r>
              <a:rPr lang="en-US" sz="1750" b="1" dirty="0" err="1">
                <a:solidFill>
                  <a:srgbClr val="67534F"/>
                </a:solidFill>
                <a:latin typeface="Montserrat" pitchFamily="34" charset="0"/>
                <a:ea typeface="Montserrat" pitchFamily="34" charset="-122"/>
                <a:cs typeface="Montserrat" pitchFamily="34" charset="-120"/>
              </a:rPr>
              <a:t>Scénario</a:t>
            </a:r>
            <a:r>
              <a:rPr lang="en-US" sz="1750" b="1" dirty="0">
                <a:solidFill>
                  <a:srgbClr val="67534F"/>
                </a:solidFill>
                <a:latin typeface="Montserrat" pitchFamily="34" charset="0"/>
                <a:ea typeface="Montserrat" pitchFamily="34" charset="-122"/>
                <a:cs typeface="Montserrat" pitchFamily="34" charset="-120"/>
              </a:rPr>
              <a:t> nominal</a:t>
            </a:r>
            <a:r>
              <a:rPr lang="en-US" sz="1750" dirty="0">
                <a:solidFill>
                  <a:srgbClr val="67534F"/>
                </a:solidFill>
                <a:latin typeface="Montserrat" pitchFamily="34" charset="0"/>
                <a:ea typeface="Montserrat" pitchFamily="34" charset="-122"/>
                <a:cs typeface="Montserrat" pitchFamily="34" charset="-120"/>
              </a:rPr>
              <a:t> : </a:t>
            </a:r>
          </a:p>
          <a:p>
            <a:pPr marL="342900" indent="-342900">
              <a:lnSpc>
                <a:spcPts val="2300"/>
              </a:lnSpc>
              <a:buSzPct val="100000"/>
              <a:buChar char="•"/>
            </a:pPr>
            <a:r>
              <a:rPr lang="en-US" sz="1750" dirty="0" err="1">
                <a:solidFill>
                  <a:srgbClr val="67534F"/>
                </a:solidFill>
                <a:latin typeface="Montserrat" pitchFamily="34" charset="0"/>
                <a:ea typeface="Montserrat" pitchFamily="34" charset="-122"/>
                <a:cs typeface="Montserrat" pitchFamily="34" charset="-120"/>
              </a:rPr>
              <a:t>L'utilisateur</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dépose</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ou</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modifie</a:t>
            </a:r>
            <a:r>
              <a:rPr lang="en-US" sz="1750" dirty="0">
                <a:solidFill>
                  <a:srgbClr val="67534F"/>
                </a:solidFill>
                <a:latin typeface="Montserrat" pitchFamily="34" charset="0"/>
                <a:ea typeface="Montserrat" pitchFamily="34" charset="-122"/>
                <a:cs typeface="Montserrat" pitchFamily="34" charset="-120"/>
              </a:rPr>
              <a:t> un </a:t>
            </a:r>
            <a:r>
              <a:rPr lang="en-US" sz="1750" dirty="0" err="1">
                <a:solidFill>
                  <a:srgbClr val="67534F"/>
                </a:solidFill>
                <a:latin typeface="Montserrat" pitchFamily="34" charset="0"/>
                <a:ea typeface="Montserrat" pitchFamily="34" charset="-122"/>
                <a:cs typeface="Montserrat" pitchFamily="34" charset="-120"/>
              </a:rPr>
              <a:t>fichier</a:t>
            </a:r>
            <a:r>
              <a:rPr lang="en-US" sz="1750" dirty="0">
                <a:solidFill>
                  <a:srgbClr val="67534F"/>
                </a:solidFill>
                <a:latin typeface="Montserrat" pitchFamily="34" charset="0"/>
                <a:ea typeface="Montserrat" pitchFamily="34" charset="-122"/>
                <a:cs typeface="Montserrat" pitchFamily="34" charset="-120"/>
              </a:rPr>
              <a:t> dans un </a:t>
            </a:r>
            <a:r>
              <a:rPr lang="en-US" sz="1750" dirty="0" err="1">
                <a:solidFill>
                  <a:srgbClr val="67534F"/>
                </a:solidFill>
                <a:latin typeface="Montserrat" pitchFamily="34" charset="0"/>
                <a:ea typeface="Montserrat" pitchFamily="34" charset="-122"/>
                <a:cs typeface="Montserrat" pitchFamily="34" charset="-120"/>
              </a:rPr>
              <a:t>répertoire</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surveillé</a:t>
            </a:r>
            <a:endParaRPr lang="en-US" sz="1750" dirty="0">
              <a:solidFill>
                <a:srgbClr val="67534F"/>
              </a:solidFill>
              <a:latin typeface="Montserrat" pitchFamily="34" charset="0"/>
              <a:ea typeface="Montserrat" pitchFamily="34" charset="-122"/>
              <a:cs typeface="Montserrat" pitchFamily="34" charset="-120"/>
            </a:endParaRP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inotify</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détecte</a:t>
            </a:r>
            <a:r>
              <a:rPr lang="en-US" sz="1750" dirty="0">
                <a:solidFill>
                  <a:srgbClr val="67534F"/>
                </a:solidFill>
                <a:latin typeface="Montserrat" pitchFamily="34" charset="0"/>
                <a:ea typeface="Montserrat" pitchFamily="34" charset="-122"/>
                <a:cs typeface="Montserrat" pitchFamily="34" charset="-120"/>
              </a:rPr>
              <a:t> le </a:t>
            </a:r>
            <a:r>
              <a:rPr lang="en-US" sz="1750" dirty="0" err="1">
                <a:solidFill>
                  <a:srgbClr val="67534F"/>
                </a:solidFill>
                <a:latin typeface="Montserrat" pitchFamily="34" charset="0"/>
                <a:ea typeface="Montserrat" pitchFamily="34" charset="-122"/>
                <a:cs typeface="Montserrat" pitchFamily="34" charset="-120"/>
              </a:rPr>
              <a:t>changement</a:t>
            </a:r>
            <a:r>
              <a:rPr lang="en-US" sz="1750" dirty="0">
                <a:solidFill>
                  <a:srgbClr val="67534F"/>
                </a:solidFill>
                <a:latin typeface="Montserrat" pitchFamily="34" charset="0"/>
                <a:ea typeface="Montserrat" pitchFamily="34" charset="-122"/>
                <a:cs typeface="Montserrat" pitchFamily="34" charset="-120"/>
              </a:rPr>
              <a:t> </a:t>
            </a: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Le </a:t>
            </a:r>
            <a:r>
              <a:rPr lang="en-US" sz="1750" dirty="0" err="1">
                <a:solidFill>
                  <a:srgbClr val="67534F"/>
                </a:solidFill>
                <a:latin typeface="Montserrat" pitchFamily="34" charset="0"/>
                <a:ea typeface="Montserrat" pitchFamily="34" charset="-122"/>
                <a:cs typeface="Montserrat" pitchFamily="34" charset="-120"/>
              </a:rPr>
              <a:t>fichier</a:t>
            </a:r>
            <a:r>
              <a:rPr lang="en-US" sz="1750" dirty="0">
                <a:solidFill>
                  <a:srgbClr val="67534F"/>
                </a:solidFill>
                <a:latin typeface="Montserrat" pitchFamily="34" charset="0"/>
                <a:ea typeface="Montserrat" pitchFamily="34" charset="-122"/>
                <a:cs typeface="Montserrat" pitchFamily="34" charset="-120"/>
              </a:rPr>
              <a:t> est </a:t>
            </a:r>
            <a:r>
              <a:rPr lang="en-US" sz="1750" dirty="0" err="1">
                <a:solidFill>
                  <a:srgbClr val="67534F"/>
                </a:solidFill>
                <a:latin typeface="Montserrat" pitchFamily="34" charset="0"/>
                <a:ea typeface="Montserrat" pitchFamily="34" charset="-122"/>
                <a:cs typeface="Montserrat" pitchFamily="34" charset="-120"/>
              </a:rPr>
              <a:t>transféré</a:t>
            </a:r>
            <a:r>
              <a:rPr lang="en-US" sz="1750" dirty="0">
                <a:solidFill>
                  <a:srgbClr val="67534F"/>
                </a:solidFill>
                <a:latin typeface="Montserrat" pitchFamily="34" charset="0"/>
                <a:ea typeface="Montserrat" pitchFamily="34" charset="-122"/>
                <a:cs typeface="Montserrat" pitchFamily="34" charset="-120"/>
              </a:rPr>
              <a:t> de manière </a:t>
            </a:r>
            <a:r>
              <a:rPr lang="en-US" sz="1750" dirty="0" err="1">
                <a:solidFill>
                  <a:srgbClr val="67534F"/>
                </a:solidFill>
                <a:latin typeface="Montserrat" pitchFamily="34" charset="0"/>
                <a:ea typeface="Montserrat" pitchFamily="34" charset="-122"/>
                <a:cs typeface="Montserrat" pitchFamily="34" charset="-120"/>
              </a:rPr>
              <a:t>chiffrée</a:t>
            </a:r>
            <a:r>
              <a:rPr lang="en-US" sz="1750" dirty="0">
                <a:solidFill>
                  <a:srgbClr val="67534F"/>
                </a:solidFill>
                <a:latin typeface="Montserrat" pitchFamily="34" charset="0"/>
                <a:ea typeface="Montserrat" pitchFamily="34" charset="-122"/>
                <a:cs typeface="Montserrat" pitchFamily="34" charset="-120"/>
              </a:rPr>
              <a:t> vers </a:t>
            </a:r>
            <a:r>
              <a:rPr lang="en-US" sz="1750" dirty="0" err="1">
                <a:solidFill>
                  <a:srgbClr val="67534F"/>
                </a:solidFill>
                <a:latin typeface="Montserrat" pitchFamily="34" charset="0"/>
                <a:ea typeface="Montserrat" pitchFamily="34" charset="-122"/>
                <a:cs typeface="Montserrat" pitchFamily="34" charset="-120"/>
              </a:rPr>
              <a:t>tous</a:t>
            </a:r>
            <a:r>
              <a:rPr lang="en-US" sz="1750" dirty="0">
                <a:solidFill>
                  <a:srgbClr val="67534F"/>
                </a:solidFill>
                <a:latin typeface="Montserrat" pitchFamily="34" charset="0"/>
                <a:ea typeface="Montserrat" pitchFamily="34" charset="-122"/>
                <a:cs typeface="Montserrat" pitchFamily="34" charset="-120"/>
              </a:rPr>
              <a:t> les </a:t>
            </a:r>
            <a:r>
              <a:rPr lang="en-US" sz="1750" dirty="0" err="1">
                <a:solidFill>
                  <a:srgbClr val="67534F"/>
                </a:solidFill>
                <a:latin typeface="Montserrat" pitchFamily="34" charset="0"/>
                <a:ea typeface="Montserrat" pitchFamily="34" charset="-122"/>
                <a:cs typeface="Montserrat" pitchFamily="34" charset="-120"/>
              </a:rPr>
              <a:t>autres</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nœuds</a:t>
            </a:r>
            <a:endParaRPr lang="en-US" sz="1750" dirty="0">
              <a:solidFill>
                <a:srgbClr val="67534F"/>
              </a:solidFill>
              <a:latin typeface="Montserrat" pitchFamily="34" charset="0"/>
              <a:ea typeface="Montserrat" pitchFamily="34" charset="-122"/>
              <a:cs typeface="Montserrat" pitchFamily="34" charset="-120"/>
            </a:endParaRP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La </a:t>
            </a:r>
            <a:r>
              <a:rPr lang="en-US" sz="1750" dirty="0" err="1">
                <a:solidFill>
                  <a:srgbClr val="67534F"/>
                </a:solidFill>
                <a:latin typeface="Montserrat" pitchFamily="34" charset="0"/>
                <a:ea typeface="Montserrat" pitchFamily="34" charset="-122"/>
                <a:cs typeface="Montserrat" pitchFamily="34" charset="-120"/>
              </a:rPr>
              <a:t>réplication</a:t>
            </a:r>
            <a:r>
              <a:rPr lang="en-US" sz="1750" dirty="0">
                <a:solidFill>
                  <a:srgbClr val="67534F"/>
                </a:solidFill>
                <a:latin typeface="Montserrat" pitchFamily="34" charset="0"/>
                <a:ea typeface="Montserrat" pitchFamily="34" charset="-122"/>
                <a:cs typeface="Montserrat" pitchFamily="34" charset="-120"/>
              </a:rPr>
              <a:t> est </a:t>
            </a:r>
            <a:r>
              <a:rPr lang="en-US" sz="1750" dirty="0" err="1">
                <a:solidFill>
                  <a:srgbClr val="67534F"/>
                </a:solidFill>
                <a:latin typeface="Montserrat" pitchFamily="34" charset="0"/>
                <a:ea typeface="Montserrat" pitchFamily="34" charset="-122"/>
                <a:cs typeface="Montserrat" pitchFamily="34" charset="-120"/>
              </a:rPr>
              <a:t>journalisée</a:t>
            </a:r>
            <a:r>
              <a:rPr lang="en-US" sz="1750" dirty="0">
                <a:solidFill>
                  <a:srgbClr val="67534F"/>
                </a:solidFill>
                <a:latin typeface="Montserrat" pitchFamily="34" charset="0"/>
                <a:ea typeface="Montserrat" pitchFamily="34" charset="-122"/>
                <a:cs typeface="Montserrat" pitchFamily="34" charset="-120"/>
              </a:rPr>
              <a:t> dans les logs </a:t>
            </a:r>
            <a:r>
              <a:rPr lang="en-US" sz="1750" dirty="0" err="1">
                <a:solidFill>
                  <a:srgbClr val="67534F"/>
                </a:solidFill>
                <a:latin typeface="Montserrat" pitchFamily="34" charset="0"/>
                <a:ea typeface="Montserrat" pitchFamily="34" charset="-122"/>
                <a:cs typeface="Montserrat" pitchFamily="34" charset="-120"/>
              </a:rPr>
              <a:t>système</a:t>
            </a:r>
            <a:endParaRPr lang="en-US" sz="1750" dirty="0">
              <a:solidFill>
                <a:srgbClr val="67534F"/>
              </a:solidFill>
              <a:latin typeface="Montserrat" pitchFamily="34" charset="0"/>
              <a:ea typeface="Montserrat" pitchFamily="34" charset="-122"/>
              <a:cs typeface="Montserrat" pitchFamily="34" charset="-120"/>
            </a:endParaRPr>
          </a:p>
          <a:p>
            <a:pPr marL="342900" indent="-342900" algn="l">
              <a:lnSpc>
                <a:spcPts val="2300"/>
              </a:lnSpc>
              <a:buSzPct val="100000"/>
              <a:buChar char="•"/>
            </a:pPr>
            <a:endParaRPr lang="en-US" sz="1750" dirty="0"/>
          </a:p>
        </p:txBody>
      </p:sp>
      <p:sp>
        <p:nvSpPr>
          <p:cNvPr id="23" name="Text 6">
            <a:extLst>
              <a:ext uri="{FF2B5EF4-FFF2-40B4-BE49-F238E27FC236}">
                <a16:creationId xmlns:a16="http://schemas.microsoft.com/office/drawing/2014/main" id="{AB83BEA2-92DD-B17C-1A04-D951752A0CB5}"/>
              </a:ext>
            </a:extLst>
          </p:cNvPr>
          <p:cNvSpPr/>
          <p:nvPr/>
        </p:nvSpPr>
        <p:spPr>
          <a:xfrm>
            <a:off x="7930302" y="4673358"/>
            <a:ext cx="6236271" cy="2602580"/>
          </a:xfrm>
          <a:prstGeom prst="rect">
            <a:avLst/>
          </a:prstGeom>
          <a:noFill/>
          <a:ln/>
        </p:spPr>
        <p:txBody>
          <a:bodyPr wrap="square" lIns="0" tIns="0" rIns="0" bIns="0" rtlCol="0" anchor="t"/>
          <a:lstStyle/>
          <a:p>
            <a:pPr marL="342900" indent="-342900">
              <a:lnSpc>
                <a:spcPts val="2300"/>
              </a:lnSpc>
              <a:buSzPct val="100000"/>
              <a:buChar char="•"/>
            </a:pPr>
            <a:r>
              <a:rPr lang="en-US" sz="1750" b="1" dirty="0" err="1">
                <a:solidFill>
                  <a:srgbClr val="67534F"/>
                </a:solidFill>
                <a:latin typeface="Montserrat" pitchFamily="34" charset="0"/>
                <a:ea typeface="Montserrat" pitchFamily="34" charset="-122"/>
                <a:cs typeface="Montserrat" pitchFamily="34" charset="-120"/>
              </a:rPr>
              <a:t>Scénario</a:t>
            </a:r>
            <a:r>
              <a:rPr lang="en-US" sz="1750" b="1" dirty="0">
                <a:solidFill>
                  <a:srgbClr val="67534F"/>
                </a:solidFill>
                <a:latin typeface="Montserrat" pitchFamily="34" charset="0"/>
                <a:ea typeface="Montserrat" pitchFamily="34" charset="-122"/>
                <a:cs typeface="Montserrat" pitchFamily="34" charset="-120"/>
              </a:rPr>
              <a:t> nominal</a:t>
            </a:r>
            <a:r>
              <a:rPr lang="en-US" sz="1750" dirty="0">
                <a:solidFill>
                  <a:srgbClr val="67534F"/>
                </a:solidFill>
                <a:latin typeface="Montserrat" pitchFamily="34" charset="0"/>
                <a:ea typeface="Montserrat" pitchFamily="34" charset="-122"/>
                <a:cs typeface="Montserrat" pitchFamily="34" charset="-120"/>
              </a:rPr>
              <a:t> :</a:t>
            </a: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 Le </a:t>
            </a:r>
            <a:r>
              <a:rPr lang="en-US" sz="1750" dirty="0" err="1">
                <a:solidFill>
                  <a:srgbClr val="67534F"/>
                </a:solidFill>
                <a:latin typeface="Montserrat" pitchFamily="34" charset="0"/>
                <a:ea typeface="Montserrat" pitchFamily="34" charset="-122"/>
                <a:cs typeface="Montserrat" pitchFamily="34" charset="-120"/>
              </a:rPr>
              <a:t>système</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détecte</a:t>
            </a:r>
            <a:r>
              <a:rPr lang="en-US" sz="1750" dirty="0">
                <a:solidFill>
                  <a:srgbClr val="67534F"/>
                </a:solidFill>
                <a:latin typeface="Montserrat" pitchFamily="34" charset="0"/>
                <a:ea typeface="Montserrat" pitchFamily="34" charset="-122"/>
                <a:cs typeface="Montserrat" pitchFamily="34" charset="-120"/>
              </a:rPr>
              <a:t> un </a:t>
            </a:r>
            <a:r>
              <a:rPr lang="en-US" sz="1750" dirty="0" err="1">
                <a:solidFill>
                  <a:srgbClr val="67534F"/>
                </a:solidFill>
                <a:latin typeface="Montserrat" pitchFamily="34" charset="0"/>
                <a:ea typeface="Montserrat" pitchFamily="34" charset="-122"/>
                <a:cs typeface="Montserrat" pitchFamily="34" charset="-120"/>
              </a:rPr>
              <a:t>conflit</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lors</a:t>
            </a:r>
            <a:r>
              <a:rPr lang="en-US" sz="1750" dirty="0">
                <a:solidFill>
                  <a:srgbClr val="67534F"/>
                </a:solidFill>
                <a:latin typeface="Montserrat" pitchFamily="34" charset="0"/>
                <a:ea typeface="Montserrat" pitchFamily="34" charset="-122"/>
                <a:cs typeface="Montserrat" pitchFamily="34" charset="-120"/>
              </a:rPr>
              <a:t> de la </a:t>
            </a:r>
            <a:r>
              <a:rPr lang="en-US" sz="1750" dirty="0" err="1">
                <a:solidFill>
                  <a:srgbClr val="67534F"/>
                </a:solidFill>
                <a:latin typeface="Montserrat" pitchFamily="34" charset="0"/>
                <a:ea typeface="Montserrat" pitchFamily="34" charset="-122"/>
                <a:cs typeface="Montserrat" pitchFamily="34" charset="-120"/>
              </a:rPr>
              <a:t>synchronisation</a:t>
            </a:r>
            <a:endParaRPr lang="en-US" sz="1750" dirty="0">
              <a:solidFill>
                <a:srgbClr val="67534F"/>
              </a:solidFill>
              <a:latin typeface="Montserrat" pitchFamily="34" charset="0"/>
              <a:ea typeface="Montserrat" pitchFamily="34" charset="-122"/>
              <a:cs typeface="Montserrat" pitchFamily="34" charset="-120"/>
            </a:endParaRP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 Il compare les </a:t>
            </a:r>
            <a:r>
              <a:rPr lang="en-US" sz="1750" dirty="0" err="1">
                <a:solidFill>
                  <a:srgbClr val="67534F"/>
                </a:solidFill>
                <a:latin typeface="Montserrat" pitchFamily="34" charset="0"/>
                <a:ea typeface="Montserrat" pitchFamily="34" charset="-122"/>
                <a:cs typeface="Montserrat" pitchFamily="34" charset="-120"/>
              </a:rPr>
              <a:t>horodatages</a:t>
            </a:r>
            <a:r>
              <a:rPr lang="en-US" sz="1750" dirty="0">
                <a:solidFill>
                  <a:srgbClr val="67534F"/>
                </a:solidFill>
                <a:latin typeface="Montserrat" pitchFamily="34" charset="0"/>
                <a:ea typeface="Montserrat" pitchFamily="34" charset="-122"/>
                <a:cs typeface="Montserrat" pitchFamily="34" charset="-120"/>
              </a:rPr>
              <a:t> des </a:t>
            </a:r>
            <a:r>
              <a:rPr lang="en-US" sz="1750" dirty="0" err="1">
                <a:solidFill>
                  <a:srgbClr val="67534F"/>
                </a:solidFill>
                <a:latin typeface="Montserrat" pitchFamily="34" charset="0"/>
                <a:ea typeface="Montserrat" pitchFamily="34" charset="-122"/>
                <a:cs typeface="Montserrat" pitchFamily="34" charset="-120"/>
              </a:rPr>
              <a:t>différentes</a:t>
            </a:r>
            <a:r>
              <a:rPr lang="en-US" sz="1750" dirty="0">
                <a:solidFill>
                  <a:srgbClr val="67534F"/>
                </a:solidFill>
                <a:latin typeface="Montserrat" pitchFamily="34" charset="0"/>
                <a:ea typeface="Montserrat" pitchFamily="34" charset="-122"/>
                <a:cs typeface="Montserrat" pitchFamily="34" charset="-120"/>
              </a:rPr>
              <a:t> versions</a:t>
            </a: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 Il conserve la version la plus </a:t>
            </a:r>
            <a:r>
              <a:rPr lang="en-US" sz="1750" dirty="0" err="1">
                <a:solidFill>
                  <a:srgbClr val="67534F"/>
                </a:solidFill>
                <a:latin typeface="Montserrat" pitchFamily="34" charset="0"/>
                <a:ea typeface="Montserrat" pitchFamily="34" charset="-122"/>
                <a:cs typeface="Montserrat" pitchFamily="34" charset="-120"/>
              </a:rPr>
              <a:t>récente</a:t>
            </a:r>
            <a:r>
              <a:rPr lang="en-US" sz="1750" dirty="0">
                <a:solidFill>
                  <a:srgbClr val="67534F"/>
                </a:solidFill>
                <a:latin typeface="Montserrat" pitchFamily="34" charset="0"/>
                <a:ea typeface="Montserrat" pitchFamily="34" charset="-122"/>
                <a:cs typeface="Montserrat" pitchFamily="34" charset="-120"/>
              </a:rPr>
              <a:t> (Last Writer Wins)</a:t>
            </a: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 Il </a:t>
            </a:r>
            <a:r>
              <a:rPr lang="en-US" sz="1750" dirty="0" err="1">
                <a:solidFill>
                  <a:srgbClr val="67534F"/>
                </a:solidFill>
                <a:latin typeface="Montserrat" pitchFamily="34" charset="0"/>
                <a:ea typeface="Montserrat" pitchFamily="34" charset="-122"/>
                <a:cs typeface="Montserrat" pitchFamily="34" charset="-120"/>
              </a:rPr>
              <a:t>réplique</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cette</a:t>
            </a:r>
            <a:r>
              <a:rPr lang="en-US" sz="1750" dirty="0">
                <a:solidFill>
                  <a:srgbClr val="67534F"/>
                </a:solidFill>
                <a:latin typeface="Montserrat" pitchFamily="34" charset="0"/>
                <a:ea typeface="Montserrat" pitchFamily="34" charset="-122"/>
                <a:cs typeface="Montserrat" pitchFamily="34" charset="-120"/>
              </a:rPr>
              <a:t> version sur </a:t>
            </a:r>
            <a:r>
              <a:rPr lang="en-US" sz="1750" dirty="0" err="1">
                <a:solidFill>
                  <a:srgbClr val="67534F"/>
                </a:solidFill>
                <a:latin typeface="Montserrat" pitchFamily="34" charset="0"/>
                <a:ea typeface="Montserrat" pitchFamily="34" charset="-122"/>
                <a:cs typeface="Montserrat" pitchFamily="34" charset="-120"/>
              </a:rPr>
              <a:t>tous</a:t>
            </a:r>
            <a:r>
              <a:rPr lang="en-US" sz="1750" dirty="0">
                <a:solidFill>
                  <a:srgbClr val="67534F"/>
                </a:solidFill>
                <a:latin typeface="Montserrat" pitchFamily="34" charset="0"/>
                <a:ea typeface="Montserrat" pitchFamily="34" charset="-122"/>
                <a:cs typeface="Montserrat" pitchFamily="34" charset="-120"/>
              </a:rPr>
              <a:t> les </a:t>
            </a:r>
            <a:r>
              <a:rPr lang="en-US" sz="1750" dirty="0" err="1">
                <a:solidFill>
                  <a:srgbClr val="67534F"/>
                </a:solidFill>
                <a:latin typeface="Montserrat" pitchFamily="34" charset="0"/>
                <a:ea typeface="Montserrat" pitchFamily="34" charset="-122"/>
                <a:cs typeface="Montserrat" pitchFamily="34" charset="-120"/>
              </a:rPr>
              <a:t>nœuds</a:t>
            </a:r>
            <a:endParaRPr lang="en-US" sz="1750" dirty="0">
              <a:solidFill>
                <a:srgbClr val="67534F"/>
              </a:solidFill>
              <a:latin typeface="Montserrat" pitchFamily="34" charset="0"/>
              <a:ea typeface="Montserrat" pitchFamily="34" charset="-122"/>
              <a:cs typeface="Montserrat" pitchFamily="34" charset="-120"/>
            </a:endParaRP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Il </a:t>
            </a:r>
            <a:r>
              <a:rPr lang="en-US" sz="1750" dirty="0" err="1">
                <a:solidFill>
                  <a:srgbClr val="67534F"/>
                </a:solidFill>
                <a:latin typeface="Montserrat" pitchFamily="34" charset="0"/>
                <a:ea typeface="Montserrat" pitchFamily="34" charset="-122"/>
                <a:cs typeface="Montserrat" pitchFamily="34" charset="-120"/>
              </a:rPr>
              <a:t>génère</a:t>
            </a:r>
            <a:r>
              <a:rPr lang="en-US" sz="1750" dirty="0">
                <a:solidFill>
                  <a:srgbClr val="67534F"/>
                </a:solidFill>
                <a:latin typeface="Montserrat" pitchFamily="34" charset="0"/>
                <a:ea typeface="Montserrat" pitchFamily="34" charset="-122"/>
                <a:cs typeface="Montserrat" pitchFamily="34" charset="-120"/>
              </a:rPr>
              <a:t> un log </a:t>
            </a:r>
            <a:r>
              <a:rPr lang="en-US" sz="1750" dirty="0" err="1">
                <a:solidFill>
                  <a:srgbClr val="67534F"/>
                </a:solidFill>
                <a:latin typeface="Montserrat" pitchFamily="34" charset="0"/>
                <a:ea typeface="Montserrat" pitchFamily="34" charset="-122"/>
                <a:cs typeface="Montserrat" pitchFamily="34" charset="-120"/>
              </a:rPr>
              <a:t>détaillant</a:t>
            </a:r>
            <a:r>
              <a:rPr lang="en-US" sz="1750" dirty="0">
                <a:solidFill>
                  <a:srgbClr val="67534F"/>
                </a:solidFill>
                <a:latin typeface="Montserrat" pitchFamily="34" charset="0"/>
                <a:ea typeface="Montserrat" pitchFamily="34" charset="-122"/>
                <a:cs typeface="Montserrat" pitchFamily="34" charset="-120"/>
              </a:rPr>
              <a:t> le </a:t>
            </a:r>
            <a:r>
              <a:rPr lang="en-US" sz="1750" dirty="0" err="1">
                <a:solidFill>
                  <a:srgbClr val="67534F"/>
                </a:solidFill>
                <a:latin typeface="Montserrat" pitchFamily="34" charset="0"/>
                <a:ea typeface="Montserrat" pitchFamily="34" charset="-122"/>
                <a:cs typeface="Montserrat" pitchFamily="34" charset="-120"/>
              </a:rPr>
              <a:t>conflit</a:t>
            </a:r>
            <a:r>
              <a:rPr lang="en-US" sz="1750" dirty="0">
                <a:solidFill>
                  <a:srgbClr val="67534F"/>
                </a:solidFill>
                <a:latin typeface="Montserrat" pitchFamily="34" charset="0"/>
                <a:ea typeface="Montserrat" pitchFamily="34" charset="-122"/>
                <a:cs typeface="Montserrat" pitchFamily="34" charset="-120"/>
              </a:rPr>
              <a:t> et </a:t>
            </a:r>
            <a:r>
              <a:rPr lang="en-US" sz="1750" dirty="0" err="1">
                <a:solidFill>
                  <a:srgbClr val="67534F"/>
                </a:solidFill>
                <a:latin typeface="Montserrat" pitchFamily="34" charset="0"/>
                <a:ea typeface="Montserrat" pitchFamily="34" charset="-122"/>
                <a:cs typeface="Montserrat" pitchFamily="34" charset="-120"/>
              </a:rPr>
              <a:t>sa</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résolution</a:t>
            </a:r>
            <a:endParaRPr lang="en-US" sz="1750" dirty="0">
              <a:solidFill>
                <a:srgbClr val="67534F"/>
              </a:solidFill>
              <a:latin typeface="Montserrat" pitchFamily="34" charset="0"/>
              <a:ea typeface="Montserrat" pitchFamily="34" charset="-122"/>
              <a:cs typeface="Montserrat" pitchFamily="34" charset="-120"/>
            </a:endParaRPr>
          </a:p>
          <a:p>
            <a:pPr algn="l">
              <a:lnSpc>
                <a:spcPts val="2300"/>
              </a:lnSpc>
              <a:buSzPct val="100000"/>
            </a:pPr>
            <a:endParaRPr lang="en-US" sz="1750" dirty="0"/>
          </a:p>
        </p:txBody>
      </p:sp>
    </p:spTree>
    <p:extLst>
      <p:ext uri="{BB962C8B-B14F-4D97-AF65-F5344CB8AC3E}">
        <p14:creationId xmlns:p14="http://schemas.microsoft.com/office/powerpoint/2010/main" val="541991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387191"/>
            <a:ext cx="9448086" cy="508516"/>
          </a:xfrm>
          <a:prstGeom prst="rect">
            <a:avLst/>
          </a:prstGeom>
          <a:noFill/>
          <a:ln/>
        </p:spPr>
        <p:txBody>
          <a:bodyPr wrap="none" lIns="0" tIns="0" rIns="0" bIns="0" rtlCol="0" anchor="t"/>
          <a:lstStyle/>
          <a:p>
            <a:pPr marL="0" indent="0" algn="l">
              <a:lnSpc>
                <a:spcPts val="4000"/>
              </a:lnSpc>
              <a:buNone/>
            </a:pPr>
            <a:r>
              <a:rPr lang="en-US" sz="3050" dirty="0">
                <a:solidFill>
                  <a:srgbClr val="7D3E2C"/>
                </a:solidFill>
                <a:latin typeface="Marcellus" pitchFamily="34" charset="0"/>
                <a:ea typeface="Marcellus" pitchFamily="34" charset="-122"/>
                <a:cs typeface="Marcellus" pitchFamily="34" charset="-120"/>
              </a:rPr>
              <a:t>VII. DESCRIPTION TEXTUELLE DES CAS D'UTILISATION</a:t>
            </a:r>
            <a:endParaRPr lang="en-US" sz="3050" dirty="0"/>
          </a:p>
        </p:txBody>
      </p:sp>
      <p:sp>
        <p:nvSpPr>
          <p:cNvPr id="3" name="Shape 1"/>
          <p:cNvSpPr/>
          <p:nvPr/>
        </p:nvSpPr>
        <p:spPr>
          <a:xfrm>
            <a:off x="793790" y="993913"/>
            <a:ext cx="6831190" cy="7125328"/>
          </a:xfrm>
          <a:prstGeom prst="roundRect">
            <a:avLst>
              <a:gd name="adj" fmla="val 2270"/>
            </a:avLst>
          </a:prstGeom>
          <a:solidFill>
            <a:srgbClr val="FFFFF4">
              <a:alpha val="95000"/>
            </a:srgbClr>
          </a:solidFill>
          <a:ln w="30480">
            <a:solidFill>
              <a:srgbClr val="FFE0CC"/>
            </a:solidFill>
            <a:prstDash val="solid"/>
          </a:ln>
        </p:spPr>
        <p:txBody>
          <a:bodyPr/>
          <a:lstStyle/>
          <a:p>
            <a:endParaRPr lang="fr-US"/>
          </a:p>
        </p:txBody>
      </p:sp>
      <p:sp>
        <p:nvSpPr>
          <p:cNvPr id="4" name="Text 2"/>
          <p:cNvSpPr/>
          <p:nvPr/>
        </p:nvSpPr>
        <p:spPr>
          <a:xfrm>
            <a:off x="1117344" y="1163211"/>
            <a:ext cx="6507636" cy="578824"/>
          </a:xfrm>
          <a:prstGeom prst="rect">
            <a:avLst/>
          </a:prstGeom>
          <a:noFill/>
          <a:ln/>
        </p:spPr>
        <p:txBody>
          <a:bodyPr wrap="square" lIns="0" tIns="0" rIns="0" bIns="0" rtlCol="0" anchor="t"/>
          <a:lstStyle/>
          <a:p>
            <a:pPr>
              <a:lnSpc>
                <a:spcPts val="3300"/>
              </a:lnSpc>
            </a:pPr>
            <a:r>
              <a:rPr lang="en-US" sz="2550" dirty="0">
                <a:solidFill>
                  <a:srgbClr val="FF954F"/>
                </a:solidFill>
                <a:latin typeface="Marcellus" pitchFamily="34" charset="0"/>
                <a:ea typeface="Marcellus" pitchFamily="34" charset="-122"/>
                <a:cs typeface="Marcellus" pitchFamily="34" charset="-120"/>
              </a:rPr>
              <a:t>CU3 : Supervision par </a:t>
            </a:r>
            <a:r>
              <a:rPr lang="en-US" sz="2550" dirty="0" err="1">
                <a:solidFill>
                  <a:srgbClr val="FF954F"/>
                </a:solidFill>
                <a:latin typeface="Marcellus" pitchFamily="34" charset="0"/>
                <a:ea typeface="Marcellus" pitchFamily="34" charset="-122"/>
                <a:cs typeface="Marcellus" pitchFamily="34" charset="-120"/>
              </a:rPr>
              <a:t>l'administrateur</a:t>
            </a:r>
            <a:r>
              <a:rPr lang="en-US" sz="2550" dirty="0">
                <a:solidFill>
                  <a:srgbClr val="FF954F"/>
                </a:solidFill>
                <a:latin typeface="Marcellus" pitchFamily="34" charset="0"/>
                <a:ea typeface="Marcellus" pitchFamily="34" charset="-122"/>
                <a:cs typeface="Marcellus" pitchFamily="34" charset="-120"/>
              </a:rPr>
              <a:t> (configure un </a:t>
            </a:r>
            <a:r>
              <a:rPr lang="en-US" sz="2550" dirty="0" err="1">
                <a:solidFill>
                  <a:srgbClr val="FF954F"/>
                </a:solidFill>
                <a:latin typeface="Marcellus" pitchFamily="34" charset="0"/>
                <a:ea typeface="Marcellus" pitchFamily="34" charset="-122"/>
                <a:cs typeface="Marcellus" pitchFamily="34" charset="-120"/>
              </a:rPr>
              <a:t>noeud</a:t>
            </a:r>
            <a:endParaRPr lang="en-US" sz="2550" dirty="0"/>
          </a:p>
        </p:txBody>
      </p:sp>
      <p:sp>
        <p:nvSpPr>
          <p:cNvPr id="5" name="Text 3"/>
          <p:cNvSpPr/>
          <p:nvPr/>
        </p:nvSpPr>
        <p:spPr>
          <a:xfrm>
            <a:off x="1051084" y="1976494"/>
            <a:ext cx="3681770" cy="294799"/>
          </a:xfrm>
          <a:prstGeom prst="rect">
            <a:avLst/>
          </a:prstGeom>
          <a:noFill/>
          <a:ln/>
        </p:spPr>
        <p:txBody>
          <a:bodyPr wrap="none" lIns="0" tIns="0" rIns="0" bIns="0" rtlCol="0" anchor="t"/>
          <a:lstStyle/>
          <a:p>
            <a:pPr marL="342900" indent="-342900">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Acteur</a:t>
            </a:r>
            <a:r>
              <a:rPr lang="en-US" sz="1750" dirty="0">
                <a:solidFill>
                  <a:srgbClr val="67534F"/>
                </a:solidFill>
                <a:latin typeface="Montserrat" pitchFamily="34" charset="0"/>
                <a:ea typeface="Montserrat" pitchFamily="34" charset="-122"/>
                <a:cs typeface="Montserrat" pitchFamily="34" charset="-120"/>
              </a:rPr>
              <a:t> : </a:t>
            </a:r>
            <a:r>
              <a:rPr lang="en-US" sz="1750" dirty="0" err="1">
                <a:solidFill>
                  <a:srgbClr val="67534F"/>
                </a:solidFill>
                <a:latin typeface="Montserrat" pitchFamily="34" charset="0"/>
                <a:ea typeface="Montserrat" pitchFamily="34" charset="-122"/>
                <a:cs typeface="Montserrat" pitchFamily="34" charset="-120"/>
              </a:rPr>
              <a:t>Administrateur</a:t>
            </a:r>
            <a:endParaRPr lang="en-US" sz="1750" dirty="0"/>
          </a:p>
        </p:txBody>
      </p:sp>
      <p:sp>
        <p:nvSpPr>
          <p:cNvPr id="6" name="Text 4"/>
          <p:cNvSpPr/>
          <p:nvPr/>
        </p:nvSpPr>
        <p:spPr>
          <a:xfrm>
            <a:off x="1051082" y="2435936"/>
            <a:ext cx="6383387" cy="764107"/>
          </a:xfrm>
          <a:prstGeom prst="rect">
            <a:avLst/>
          </a:prstGeom>
          <a:noFill/>
          <a:ln/>
        </p:spPr>
        <p:txBody>
          <a:bodyPr wrap="square" lIns="0" tIns="0" rIns="0" bIns="0" rtlCol="0" anchor="t"/>
          <a:lstStyle/>
          <a:p>
            <a:pPr marL="342900" indent="-342900">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Description</a:t>
            </a:r>
            <a:r>
              <a:rPr lang="en-US" sz="1750" dirty="0">
                <a:solidFill>
                  <a:srgbClr val="67534F"/>
                </a:solidFill>
                <a:latin typeface="Montserrat" pitchFamily="34" charset="0"/>
                <a:ea typeface="Montserrat" pitchFamily="34" charset="-122"/>
                <a:cs typeface="Montserrat" pitchFamily="34" charset="-120"/>
              </a:rPr>
              <a:t> : Consultation des logs et </a:t>
            </a:r>
            <a:r>
              <a:rPr lang="en-US" sz="1750" dirty="0" err="1">
                <a:solidFill>
                  <a:srgbClr val="67534F"/>
                </a:solidFill>
                <a:latin typeface="Montserrat" pitchFamily="34" charset="0"/>
                <a:ea typeface="Montserrat" pitchFamily="34" charset="-122"/>
                <a:cs typeface="Montserrat" pitchFamily="34" charset="-120"/>
              </a:rPr>
              <a:t>vérification</a:t>
            </a:r>
            <a:r>
              <a:rPr lang="en-US" sz="1750" dirty="0">
                <a:solidFill>
                  <a:srgbClr val="67534F"/>
                </a:solidFill>
                <a:latin typeface="Montserrat" pitchFamily="34" charset="0"/>
                <a:ea typeface="Montserrat" pitchFamily="34" charset="-122"/>
                <a:cs typeface="Montserrat" pitchFamily="34" charset="-120"/>
              </a:rPr>
              <a:t> de </a:t>
            </a:r>
            <a:r>
              <a:rPr lang="en-US" sz="1750" dirty="0" err="1">
                <a:solidFill>
                  <a:srgbClr val="67534F"/>
                </a:solidFill>
                <a:latin typeface="Montserrat" pitchFamily="34" charset="0"/>
                <a:ea typeface="Montserrat" pitchFamily="34" charset="-122"/>
                <a:cs typeface="Montserrat" pitchFamily="34" charset="-120"/>
              </a:rPr>
              <a:t>l'état</a:t>
            </a:r>
            <a:r>
              <a:rPr lang="en-US" sz="1750" dirty="0">
                <a:solidFill>
                  <a:srgbClr val="67534F"/>
                </a:solidFill>
                <a:latin typeface="Montserrat" pitchFamily="34" charset="0"/>
                <a:ea typeface="Montserrat" pitchFamily="34" charset="-122"/>
                <a:cs typeface="Montserrat" pitchFamily="34" charset="-120"/>
              </a:rPr>
              <a:t> des </a:t>
            </a:r>
            <a:r>
              <a:rPr lang="en-US" sz="1750" dirty="0" err="1">
                <a:solidFill>
                  <a:srgbClr val="67534F"/>
                </a:solidFill>
                <a:latin typeface="Montserrat" pitchFamily="34" charset="0"/>
                <a:ea typeface="Montserrat" pitchFamily="34" charset="-122"/>
                <a:cs typeface="Montserrat" pitchFamily="34" charset="-120"/>
              </a:rPr>
              <a:t>nœuds</a:t>
            </a:r>
            <a:r>
              <a:rPr lang="en-US" sz="1750" dirty="0">
                <a:solidFill>
                  <a:srgbClr val="67534F"/>
                </a:solidFill>
                <a:latin typeface="Montserrat" pitchFamily="34" charset="0"/>
                <a:ea typeface="Montserrat" pitchFamily="34" charset="-122"/>
                <a:cs typeface="Montserrat" pitchFamily="34" charset="-120"/>
              </a:rPr>
              <a:t>.</a:t>
            </a:r>
            <a:endParaRPr lang="en-US" sz="1750" dirty="0"/>
          </a:p>
        </p:txBody>
      </p:sp>
      <p:sp>
        <p:nvSpPr>
          <p:cNvPr id="7" name="Text 5"/>
          <p:cNvSpPr/>
          <p:nvPr/>
        </p:nvSpPr>
        <p:spPr>
          <a:xfrm>
            <a:off x="1051083" y="3316791"/>
            <a:ext cx="5521993" cy="619458"/>
          </a:xfrm>
          <a:prstGeom prst="rect">
            <a:avLst/>
          </a:prstGeom>
          <a:noFill/>
          <a:ln/>
        </p:spPr>
        <p:txBody>
          <a:bodyPr wrap="square" lIns="0" tIns="0" rIns="0" bIns="0" rtlCol="0" anchor="t"/>
          <a:lstStyle/>
          <a:p>
            <a:pPr marL="342900" indent="-342900">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Précondition</a:t>
            </a:r>
            <a:r>
              <a:rPr lang="en-US" sz="1750" dirty="0">
                <a:solidFill>
                  <a:srgbClr val="67534F"/>
                </a:solidFill>
                <a:latin typeface="Montserrat" pitchFamily="34" charset="0"/>
                <a:ea typeface="Montserrat" pitchFamily="34" charset="-122"/>
                <a:cs typeface="Montserrat" pitchFamily="34" charset="-120"/>
              </a:rPr>
              <a:t> : </a:t>
            </a:r>
            <a:r>
              <a:rPr lang="en-US" sz="1750" dirty="0" err="1">
                <a:solidFill>
                  <a:srgbClr val="67534F"/>
                </a:solidFill>
                <a:latin typeface="Montserrat" pitchFamily="34" charset="0"/>
                <a:ea typeface="Montserrat" pitchFamily="34" charset="-122"/>
                <a:cs typeface="Montserrat" pitchFamily="34" charset="-120"/>
              </a:rPr>
              <a:t>Accès</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sécurisé</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ou</a:t>
            </a:r>
            <a:r>
              <a:rPr lang="en-US" sz="1750" dirty="0">
                <a:solidFill>
                  <a:srgbClr val="67534F"/>
                </a:solidFill>
                <a:latin typeface="Montserrat" pitchFamily="34" charset="0"/>
                <a:ea typeface="Montserrat" pitchFamily="34" charset="-122"/>
                <a:cs typeface="Montserrat" pitchFamily="34" charset="-120"/>
              </a:rPr>
              <a:t> interface de monitoring.</a:t>
            </a:r>
            <a:endParaRPr lang="en-US" sz="1750" dirty="0"/>
          </a:p>
        </p:txBody>
      </p:sp>
      <p:sp>
        <p:nvSpPr>
          <p:cNvPr id="8" name="Text 6"/>
          <p:cNvSpPr/>
          <p:nvPr/>
        </p:nvSpPr>
        <p:spPr>
          <a:xfrm>
            <a:off x="984821" y="4095631"/>
            <a:ext cx="5654516" cy="884396"/>
          </a:xfrm>
          <a:prstGeom prst="rect">
            <a:avLst/>
          </a:prstGeom>
          <a:noFill/>
          <a:ln/>
        </p:spPr>
        <p:txBody>
          <a:bodyPr wrap="square" lIns="0" tIns="0" rIns="0" bIns="0" rtlCol="0" anchor="t"/>
          <a:lstStyle/>
          <a:p>
            <a:pPr marL="342900" indent="-342900">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Postcondition</a:t>
            </a:r>
            <a:r>
              <a:rPr lang="en-US" sz="1750" dirty="0">
                <a:solidFill>
                  <a:srgbClr val="67534F"/>
                </a:solidFill>
                <a:latin typeface="Montserrat" pitchFamily="34" charset="0"/>
                <a:ea typeface="Montserrat" pitchFamily="34" charset="-122"/>
                <a:cs typeface="Montserrat" pitchFamily="34" charset="-120"/>
              </a:rPr>
              <a:t> : </a:t>
            </a:r>
            <a:r>
              <a:rPr lang="en-US" sz="1750" dirty="0" err="1">
                <a:solidFill>
                  <a:srgbClr val="67534F"/>
                </a:solidFill>
                <a:latin typeface="Montserrat" pitchFamily="34" charset="0"/>
                <a:ea typeface="Montserrat" pitchFamily="34" charset="-122"/>
                <a:cs typeface="Montserrat" pitchFamily="34" charset="-120"/>
              </a:rPr>
              <a:t>Décision</a:t>
            </a:r>
            <a:r>
              <a:rPr lang="en-US" sz="1750" dirty="0">
                <a:solidFill>
                  <a:srgbClr val="67534F"/>
                </a:solidFill>
                <a:latin typeface="Montserrat" pitchFamily="34" charset="0"/>
                <a:ea typeface="Montserrat" pitchFamily="34" charset="-122"/>
                <a:cs typeface="Montserrat" pitchFamily="34" charset="-120"/>
              </a:rPr>
              <a:t> de maintenance </a:t>
            </a:r>
            <a:r>
              <a:rPr lang="en-US" sz="1750" dirty="0" err="1">
                <a:solidFill>
                  <a:srgbClr val="67534F"/>
                </a:solidFill>
                <a:latin typeface="Montserrat" pitchFamily="34" charset="0"/>
                <a:ea typeface="Montserrat" pitchFamily="34" charset="-122"/>
                <a:cs typeface="Montserrat" pitchFamily="34" charset="-120"/>
              </a:rPr>
              <a:t>ou</a:t>
            </a:r>
            <a:r>
              <a:rPr lang="en-US" sz="1750" dirty="0">
                <a:solidFill>
                  <a:srgbClr val="67534F"/>
                </a:solidFill>
                <a:latin typeface="Montserrat" pitchFamily="34" charset="0"/>
                <a:ea typeface="Montserrat" pitchFamily="34" charset="-122"/>
                <a:cs typeface="Montserrat" pitchFamily="34" charset="-120"/>
              </a:rPr>
              <a:t> correction.</a:t>
            </a:r>
            <a:endParaRPr lang="en-US" sz="1750" dirty="0"/>
          </a:p>
        </p:txBody>
      </p:sp>
      <p:sp>
        <p:nvSpPr>
          <p:cNvPr id="10" name="Text 8"/>
          <p:cNvSpPr/>
          <p:nvPr/>
        </p:nvSpPr>
        <p:spPr>
          <a:xfrm>
            <a:off x="5474256" y="2216229"/>
            <a:ext cx="3681770" cy="847725"/>
          </a:xfrm>
          <a:prstGeom prst="rect">
            <a:avLst/>
          </a:prstGeom>
          <a:noFill/>
          <a:ln/>
        </p:spPr>
        <p:txBody>
          <a:bodyPr wrap="square" lIns="0" tIns="0" rIns="0" bIns="0" rtlCol="0" anchor="t"/>
          <a:lstStyle/>
          <a:p>
            <a:pPr marL="0" indent="0" algn="l">
              <a:lnSpc>
                <a:spcPts val="3300"/>
              </a:lnSpc>
              <a:buNone/>
            </a:pPr>
            <a:endParaRPr lang="en-US" sz="2550" dirty="0"/>
          </a:p>
        </p:txBody>
      </p:sp>
      <p:sp>
        <p:nvSpPr>
          <p:cNvPr id="15" name="Shape 13"/>
          <p:cNvSpPr/>
          <p:nvPr/>
        </p:nvSpPr>
        <p:spPr>
          <a:xfrm>
            <a:off x="7858540" y="1007165"/>
            <a:ext cx="6427304" cy="7125328"/>
          </a:xfrm>
          <a:prstGeom prst="roundRect">
            <a:avLst>
              <a:gd name="adj" fmla="val 2270"/>
            </a:avLst>
          </a:prstGeom>
          <a:solidFill>
            <a:srgbClr val="FFFFF4">
              <a:alpha val="95000"/>
            </a:srgbClr>
          </a:solidFill>
          <a:ln w="30480">
            <a:solidFill>
              <a:srgbClr val="FFE0CC"/>
            </a:solidFill>
            <a:prstDash val="solid"/>
          </a:ln>
        </p:spPr>
        <p:txBody>
          <a:bodyPr/>
          <a:lstStyle/>
          <a:p>
            <a:endParaRPr lang="fr-US"/>
          </a:p>
        </p:txBody>
      </p:sp>
      <p:sp>
        <p:nvSpPr>
          <p:cNvPr id="16" name="Text 14"/>
          <p:cNvSpPr/>
          <p:nvPr/>
        </p:nvSpPr>
        <p:spPr>
          <a:xfrm>
            <a:off x="8187633" y="1249253"/>
            <a:ext cx="5925932" cy="847725"/>
          </a:xfrm>
          <a:prstGeom prst="rect">
            <a:avLst/>
          </a:prstGeom>
          <a:noFill/>
          <a:ln/>
        </p:spPr>
        <p:txBody>
          <a:bodyPr wrap="square" lIns="0" tIns="0" rIns="0" bIns="0" rtlCol="0" anchor="t"/>
          <a:lstStyle/>
          <a:p>
            <a:pPr>
              <a:lnSpc>
                <a:spcPts val="3300"/>
              </a:lnSpc>
            </a:pPr>
            <a:r>
              <a:rPr lang="en-US" sz="2550" dirty="0">
                <a:solidFill>
                  <a:srgbClr val="FF954F"/>
                </a:solidFill>
                <a:latin typeface="Marcellus" pitchFamily="34" charset="0"/>
                <a:ea typeface="Marcellus" pitchFamily="34" charset="-122"/>
                <a:cs typeface="Marcellus" pitchFamily="34" charset="-120"/>
              </a:rPr>
              <a:t>CU4 : Consulter les logs </a:t>
            </a:r>
            <a:endParaRPr lang="en-US" sz="2550" dirty="0"/>
          </a:p>
        </p:txBody>
      </p:sp>
      <p:sp>
        <p:nvSpPr>
          <p:cNvPr id="17" name="Text 15"/>
          <p:cNvSpPr/>
          <p:nvPr/>
        </p:nvSpPr>
        <p:spPr>
          <a:xfrm>
            <a:off x="8187632" y="2088790"/>
            <a:ext cx="5648859" cy="340039"/>
          </a:xfrm>
          <a:prstGeom prst="rect">
            <a:avLst/>
          </a:prstGeom>
          <a:noFill/>
          <a:ln/>
        </p:spPr>
        <p:txBody>
          <a:bodyPr wrap="none" lIns="0" tIns="0" rIns="0" bIns="0" rtlCol="0" anchor="t"/>
          <a:lstStyle/>
          <a:p>
            <a:pPr marL="342900" indent="-342900">
              <a:lnSpc>
                <a:spcPts val="2300"/>
              </a:lnSpc>
              <a:buSzPct val="100000"/>
              <a:buChar char="•"/>
            </a:pPr>
            <a:r>
              <a:rPr lang="en-US" sz="1750" b="1" dirty="0" err="1">
                <a:solidFill>
                  <a:srgbClr val="67534F"/>
                </a:solidFill>
                <a:latin typeface="Montserrat" pitchFamily="34" charset="0"/>
                <a:ea typeface="Montserrat" pitchFamily="34" charset="-122"/>
                <a:cs typeface="Montserrat" pitchFamily="34" charset="-120"/>
              </a:rPr>
              <a:t>Acteur</a:t>
            </a:r>
            <a:r>
              <a:rPr lang="en-US" sz="1750" dirty="0">
                <a:solidFill>
                  <a:srgbClr val="67534F"/>
                </a:solidFill>
                <a:latin typeface="Montserrat" pitchFamily="34" charset="0"/>
                <a:ea typeface="Montserrat" pitchFamily="34" charset="-122"/>
                <a:cs typeface="Montserrat" pitchFamily="34" charset="-120"/>
              </a:rPr>
              <a:t> : </a:t>
            </a:r>
            <a:r>
              <a:rPr lang="en-US" sz="1750" dirty="0" err="1">
                <a:solidFill>
                  <a:srgbClr val="67534F"/>
                </a:solidFill>
                <a:latin typeface="Montserrat" pitchFamily="34" charset="0"/>
                <a:ea typeface="Montserrat" pitchFamily="34" charset="-122"/>
                <a:cs typeface="Montserrat" pitchFamily="34" charset="-120"/>
              </a:rPr>
              <a:t>Administrateur</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système</a:t>
            </a:r>
            <a:endParaRPr lang="en-US" sz="1750" dirty="0"/>
          </a:p>
        </p:txBody>
      </p:sp>
      <p:sp>
        <p:nvSpPr>
          <p:cNvPr id="18" name="Text 16"/>
          <p:cNvSpPr/>
          <p:nvPr/>
        </p:nvSpPr>
        <p:spPr>
          <a:xfrm>
            <a:off x="8171610" y="2531792"/>
            <a:ext cx="6153989" cy="1224489"/>
          </a:xfrm>
          <a:prstGeom prst="rect">
            <a:avLst/>
          </a:prstGeom>
          <a:noFill/>
          <a:ln/>
        </p:spPr>
        <p:txBody>
          <a:bodyPr wrap="square" lIns="0" tIns="0" rIns="0" bIns="0" rtlCol="0" anchor="t"/>
          <a:lstStyle/>
          <a:p>
            <a:pPr marL="342900" indent="-342900">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Description</a:t>
            </a:r>
            <a:r>
              <a:rPr lang="en-US" sz="1750" dirty="0">
                <a:solidFill>
                  <a:srgbClr val="67534F"/>
                </a:solidFill>
                <a:latin typeface="Montserrat" pitchFamily="34" charset="0"/>
                <a:ea typeface="Montserrat" pitchFamily="34" charset="-122"/>
                <a:cs typeface="Montserrat" pitchFamily="34" charset="-120"/>
              </a:rPr>
              <a:t> : </a:t>
            </a:r>
            <a:r>
              <a:rPr lang="fr-FR" sz="1750" dirty="0">
                <a:solidFill>
                  <a:srgbClr val="67534F"/>
                </a:solidFill>
                <a:latin typeface="Montserrat" pitchFamily="34" charset="0"/>
              </a:rPr>
              <a:t>L'administrateur consulte les journaux d'activité du système DFR pour surveiller l'état des synchronisations, détecter les erreurs et auditer les opérations de réplication.</a:t>
            </a:r>
            <a:endParaRPr lang="en-US" sz="1750" dirty="0">
              <a:solidFill>
                <a:srgbClr val="67534F"/>
              </a:solidFill>
              <a:latin typeface="Montserrat" pitchFamily="34" charset="0"/>
            </a:endParaRPr>
          </a:p>
        </p:txBody>
      </p:sp>
      <p:sp>
        <p:nvSpPr>
          <p:cNvPr id="19" name="Text 17"/>
          <p:cNvSpPr/>
          <p:nvPr/>
        </p:nvSpPr>
        <p:spPr>
          <a:xfrm>
            <a:off x="8140971" y="3756282"/>
            <a:ext cx="5941953" cy="589598"/>
          </a:xfrm>
          <a:prstGeom prst="rect">
            <a:avLst/>
          </a:prstGeom>
          <a:noFill/>
          <a:ln/>
        </p:spPr>
        <p:txBody>
          <a:bodyPr wrap="square" lIns="0" tIns="0" rIns="0" bIns="0" rtlCol="0" anchor="t"/>
          <a:lstStyle/>
          <a:p>
            <a:pPr marL="342900" indent="-342900">
              <a:lnSpc>
                <a:spcPts val="2300"/>
              </a:lnSpc>
              <a:buSzPct val="100000"/>
              <a:buChar char="•"/>
            </a:pPr>
            <a:r>
              <a:rPr lang="en-US" sz="1750" b="1" dirty="0" err="1">
                <a:solidFill>
                  <a:srgbClr val="67534F"/>
                </a:solidFill>
                <a:latin typeface="Montserrat" pitchFamily="34" charset="0"/>
                <a:ea typeface="Montserrat" pitchFamily="34" charset="-122"/>
                <a:cs typeface="Montserrat" pitchFamily="34" charset="-120"/>
              </a:rPr>
              <a:t>Précondition</a:t>
            </a:r>
            <a:r>
              <a:rPr lang="en-US" sz="1750" dirty="0">
                <a:solidFill>
                  <a:srgbClr val="67534F"/>
                </a:solidFill>
                <a:latin typeface="Montserrat" pitchFamily="34" charset="0"/>
                <a:ea typeface="Montserrat" pitchFamily="34" charset="-122"/>
                <a:cs typeface="Montserrat" pitchFamily="34" charset="-120"/>
              </a:rPr>
              <a:t> : la </a:t>
            </a:r>
            <a:r>
              <a:rPr lang="en-US" sz="1750" dirty="0" err="1">
                <a:solidFill>
                  <a:srgbClr val="67534F"/>
                </a:solidFill>
                <a:latin typeface="Montserrat" pitchFamily="34" charset="0"/>
                <a:ea typeface="Montserrat" pitchFamily="34" charset="-122"/>
                <a:cs typeface="Montserrat" pitchFamily="34" charset="-120"/>
              </a:rPr>
              <a:t>journalisation</a:t>
            </a:r>
            <a:r>
              <a:rPr lang="en-US" sz="1750" dirty="0">
                <a:solidFill>
                  <a:srgbClr val="67534F"/>
                </a:solidFill>
                <a:latin typeface="Montserrat" pitchFamily="34" charset="0"/>
                <a:ea typeface="Montserrat" pitchFamily="34" charset="-122"/>
                <a:cs typeface="Montserrat" pitchFamily="34" charset="-120"/>
              </a:rPr>
              <a:t> est </a:t>
            </a:r>
            <a:r>
              <a:rPr lang="en-US" sz="1750" dirty="0" err="1">
                <a:solidFill>
                  <a:srgbClr val="67534F"/>
                </a:solidFill>
                <a:latin typeface="Montserrat" pitchFamily="34" charset="0"/>
                <a:ea typeface="Montserrat" pitchFamily="34" charset="-122"/>
                <a:cs typeface="Montserrat" pitchFamily="34" charset="-120"/>
              </a:rPr>
              <a:t>activée</a:t>
            </a:r>
            <a:r>
              <a:rPr lang="en-US" sz="1750" dirty="0">
                <a:solidFill>
                  <a:srgbClr val="67534F"/>
                </a:solidFill>
                <a:latin typeface="Montserrat" pitchFamily="34" charset="0"/>
                <a:ea typeface="Montserrat" pitchFamily="34" charset="-122"/>
                <a:cs typeface="Montserrat" pitchFamily="34" charset="-120"/>
              </a:rPr>
              <a:t>.</a:t>
            </a:r>
            <a:endParaRPr lang="en-US" sz="1750" dirty="0"/>
          </a:p>
        </p:txBody>
      </p:sp>
      <p:sp>
        <p:nvSpPr>
          <p:cNvPr id="20" name="Text 18"/>
          <p:cNvSpPr/>
          <p:nvPr/>
        </p:nvSpPr>
        <p:spPr>
          <a:xfrm>
            <a:off x="8101216" y="4336448"/>
            <a:ext cx="5941952" cy="589598"/>
          </a:xfrm>
          <a:prstGeom prst="rect">
            <a:avLst/>
          </a:prstGeom>
          <a:noFill/>
          <a:ln/>
        </p:spPr>
        <p:txBody>
          <a:bodyPr wrap="square" lIns="0" tIns="0" rIns="0" bIns="0" rtlCol="0" anchor="t"/>
          <a:lstStyle/>
          <a:p>
            <a:pPr marL="342900" indent="-342900">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Postcondition</a:t>
            </a:r>
            <a:r>
              <a:rPr lang="en-US" sz="1750" dirty="0">
                <a:solidFill>
                  <a:srgbClr val="67534F"/>
                </a:solidFill>
                <a:latin typeface="Montserrat" pitchFamily="34" charset="0"/>
                <a:ea typeface="Montserrat" pitchFamily="34" charset="-122"/>
                <a:cs typeface="Montserrat" pitchFamily="34" charset="-120"/>
              </a:rPr>
              <a:t> : Les logs </a:t>
            </a:r>
            <a:r>
              <a:rPr lang="en-US" sz="1750" dirty="0" err="1">
                <a:solidFill>
                  <a:srgbClr val="67534F"/>
                </a:solidFill>
                <a:latin typeface="Montserrat" pitchFamily="34" charset="0"/>
                <a:ea typeface="Montserrat" pitchFamily="34" charset="-122"/>
                <a:cs typeface="Montserrat" pitchFamily="34" charset="-120"/>
              </a:rPr>
              <a:t>sont</a:t>
            </a:r>
            <a:r>
              <a:rPr lang="en-US" sz="1750" dirty="0">
                <a:solidFill>
                  <a:srgbClr val="67534F"/>
                </a:solidFill>
                <a:latin typeface="Montserrat" pitchFamily="34" charset="0"/>
                <a:ea typeface="Montserrat" pitchFamily="34" charset="-122"/>
                <a:cs typeface="Montserrat" pitchFamily="34" charset="-120"/>
              </a:rPr>
              <a:t> archives </a:t>
            </a:r>
            <a:r>
              <a:rPr lang="en-US" sz="1750" dirty="0" err="1">
                <a:solidFill>
                  <a:srgbClr val="67534F"/>
                </a:solidFill>
                <a:latin typeface="Montserrat" pitchFamily="34" charset="0"/>
                <a:ea typeface="Montserrat" pitchFamily="34" charset="-122"/>
                <a:cs typeface="Montserrat" pitchFamily="34" charset="-120"/>
              </a:rPr>
              <a:t>conformement</a:t>
            </a:r>
            <a:r>
              <a:rPr lang="en-US" sz="1750" dirty="0">
                <a:solidFill>
                  <a:srgbClr val="67534F"/>
                </a:solidFill>
                <a:latin typeface="Montserrat" pitchFamily="34" charset="0"/>
                <a:ea typeface="Montserrat" pitchFamily="34" charset="-122"/>
                <a:cs typeface="Montserrat" pitchFamily="34" charset="-120"/>
              </a:rPr>
              <a:t> a la politique de retention </a:t>
            </a:r>
            <a:endParaRPr lang="en-US" sz="1750" dirty="0"/>
          </a:p>
        </p:txBody>
      </p:sp>
      <p:sp>
        <p:nvSpPr>
          <p:cNvPr id="21" name="Rectangle 20"/>
          <p:cNvSpPr/>
          <p:nvPr/>
        </p:nvSpPr>
        <p:spPr>
          <a:xfrm>
            <a:off x="12691241" y="7662041"/>
            <a:ext cx="1939159" cy="457200"/>
          </a:xfrm>
          <a:prstGeom prst="rect">
            <a:avLst/>
          </a:prstGeom>
          <a:solidFill>
            <a:srgbClr val="FDFCF1"/>
          </a:solidFill>
          <a:ln>
            <a:solidFill>
              <a:srgbClr val="FD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ext 6">
            <a:extLst>
              <a:ext uri="{FF2B5EF4-FFF2-40B4-BE49-F238E27FC236}">
                <a16:creationId xmlns:a16="http://schemas.microsoft.com/office/drawing/2014/main" id="{2FFE6E1A-874D-8754-E075-386AC5F0FA80}"/>
              </a:ext>
            </a:extLst>
          </p:cNvPr>
          <p:cNvSpPr/>
          <p:nvPr/>
        </p:nvSpPr>
        <p:spPr>
          <a:xfrm>
            <a:off x="1014320" y="4831837"/>
            <a:ext cx="6420149" cy="3249908"/>
          </a:xfrm>
          <a:prstGeom prst="rect">
            <a:avLst/>
          </a:prstGeom>
          <a:noFill/>
          <a:ln/>
        </p:spPr>
        <p:txBody>
          <a:bodyPr wrap="square" lIns="0" tIns="0" rIns="0" bIns="0" rtlCol="0" anchor="t"/>
          <a:lstStyle/>
          <a:p>
            <a:pPr marL="342900" indent="-342900">
              <a:lnSpc>
                <a:spcPts val="2300"/>
              </a:lnSpc>
              <a:buSzPct val="100000"/>
              <a:buChar char="•"/>
            </a:pPr>
            <a:r>
              <a:rPr lang="en-US" sz="1750" b="1" dirty="0" err="1">
                <a:solidFill>
                  <a:srgbClr val="67534F"/>
                </a:solidFill>
                <a:latin typeface="Montserrat" pitchFamily="34" charset="0"/>
                <a:ea typeface="Montserrat" pitchFamily="34" charset="-122"/>
                <a:cs typeface="Montserrat" pitchFamily="34" charset="-120"/>
              </a:rPr>
              <a:t>Scénario</a:t>
            </a:r>
            <a:r>
              <a:rPr lang="en-US" sz="1750" b="1" dirty="0">
                <a:solidFill>
                  <a:srgbClr val="67534F"/>
                </a:solidFill>
                <a:latin typeface="Montserrat" pitchFamily="34" charset="0"/>
                <a:ea typeface="Montserrat" pitchFamily="34" charset="-122"/>
                <a:cs typeface="Montserrat" pitchFamily="34" charset="-120"/>
              </a:rPr>
              <a:t> nominal</a:t>
            </a:r>
            <a:r>
              <a:rPr lang="en-US" sz="1750" dirty="0">
                <a:solidFill>
                  <a:srgbClr val="67534F"/>
                </a:solidFill>
                <a:latin typeface="Montserrat" pitchFamily="34" charset="0"/>
                <a:ea typeface="Montserrat" pitchFamily="34" charset="-122"/>
                <a:cs typeface="Montserrat" pitchFamily="34" charset="-120"/>
              </a:rPr>
              <a:t> : </a:t>
            </a:r>
            <a:r>
              <a:rPr lang="en-US" sz="1750" dirty="0" err="1">
                <a:solidFill>
                  <a:srgbClr val="67534F"/>
                </a:solidFill>
                <a:latin typeface="Montserrat" pitchFamily="34" charset="0"/>
                <a:ea typeface="Montserrat" pitchFamily="34" charset="-122"/>
                <a:cs typeface="Montserrat" pitchFamily="34" charset="-120"/>
              </a:rPr>
              <a:t>nstallation</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automatisée</a:t>
            </a:r>
            <a:r>
              <a:rPr lang="en-US" sz="1750" dirty="0">
                <a:solidFill>
                  <a:srgbClr val="67534F"/>
                </a:solidFill>
                <a:latin typeface="Montserrat" pitchFamily="34" charset="0"/>
                <a:ea typeface="Montserrat" pitchFamily="34" charset="-122"/>
                <a:cs typeface="Montserrat" pitchFamily="34" charset="-120"/>
              </a:rPr>
              <a:t> via script </a:t>
            </a:r>
            <a:r>
              <a:rPr lang="en-US" sz="1750" dirty="0" err="1">
                <a:solidFill>
                  <a:srgbClr val="67534F"/>
                </a:solidFill>
                <a:latin typeface="Montserrat" pitchFamily="34" charset="0"/>
                <a:ea typeface="Montserrat" pitchFamily="34" charset="-122"/>
                <a:cs typeface="Montserrat" pitchFamily="34" charset="-120"/>
              </a:rPr>
              <a:t>ou</a:t>
            </a:r>
            <a:r>
              <a:rPr lang="en-US" sz="1750" dirty="0">
                <a:solidFill>
                  <a:srgbClr val="67534F"/>
                </a:solidFill>
                <a:latin typeface="Montserrat" pitchFamily="34" charset="0"/>
                <a:ea typeface="Montserrat" pitchFamily="34" charset="-122"/>
                <a:cs typeface="Montserrat" pitchFamily="34" charset="-120"/>
              </a:rPr>
              <a:t> package .deb</a:t>
            </a: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 Configuration des </a:t>
            </a:r>
            <a:r>
              <a:rPr lang="en-US" sz="1750" dirty="0" err="1">
                <a:solidFill>
                  <a:srgbClr val="67534F"/>
                </a:solidFill>
                <a:latin typeface="Montserrat" pitchFamily="34" charset="0"/>
                <a:ea typeface="Montserrat" pitchFamily="34" charset="-122"/>
                <a:cs typeface="Montserrat" pitchFamily="34" charset="-120"/>
              </a:rPr>
              <a:t>clés</a:t>
            </a:r>
            <a:r>
              <a:rPr lang="en-US" sz="1750" dirty="0">
                <a:solidFill>
                  <a:srgbClr val="67534F"/>
                </a:solidFill>
                <a:latin typeface="Montserrat" pitchFamily="34" charset="0"/>
                <a:ea typeface="Montserrat" pitchFamily="34" charset="-122"/>
                <a:cs typeface="Montserrat" pitchFamily="34" charset="-120"/>
              </a:rPr>
              <a:t> SSH pour </a:t>
            </a:r>
            <a:r>
              <a:rPr lang="en-US" sz="1750" dirty="0" err="1">
                <a:solidFill>
                  <a:srgbClr val="67534F"/>
                </a:solidFill>
                <a:latin typeface="Montserrat" pitchFamily="34" charset="0"/>
                <a:ea typeface="Montserrat" pitchFamily="34" charset="-122"/>
                <a:cs typeface="Montserrat" pitchFamily="34" charset="-120"/>
              </a:rPr>
              <a:t>l'authentification</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sécurisée</a:t>
            </a:r>
            <a:endParaRPr lang="en-US" sz="1750" dirty="0">
              <a:solidFill>
                <a:srgbClr val="67534F"/>
              </a:solidFill>
              <a:latin typeface="Montserrat" pitchFamily="34" charset="0"/>
              <a:ea typeface="Montserrat" pitchFamily="34" charset="-122"/>
              <a:cs typeface="Montserrat" pitchFamily="34" charset="-120"/>
            </a:endParaRP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Définition</a:t>
            </a:r>
            <a:r>
              <a:rPr lang="en-US" sz="1750" dirty="0">
                <a:solidFill>
                  <a:srgbClr val="67534F"/>
                </a:solidFill>
                <a:latin typeface="Montserrat" pitchFamily="34" charset="0"/>
                <a:ea typeface="Montserrat" pitchFamily="34" charset="-122"/>
                <a:cs typeface="Montserrat" pitchFamily="34" charset="-120"/>
              </a:rPr>
              <a:t> des </a:t>
            </a:r>
            <a:r>
              <a:rPr lang="en-US" sz="1750" dirty="0" err="1">
                <a:solidFill>
                  <a:srgbClr val="67534F"/>
                </a:solidFill>
                <a:latin typeface="Montserrat" pitchFamily="34" charset="0"/>
                <a:ea typeface="Montserrat" pitchFamily="34" charset="-122"/>
                <a:cs typeface="Montserrat" pitchFamily="34" charset="-120"/>
              </a:rPr>
              <a:t>répertoires</a:t>
            </a:r>
            <a:r>
              <a:rPr lang="en-US" sz="1750" dirty="0">
                <a:solidFill>
                  <a:srgbClr val="67534F"/>
                </a:solidFill>
                <a:latin typeface="Montserrat" pitchFamily="34" charset="0"/>
                <a:ea typeface="Montserrat" pitchFamily="34" charset="-122"/>
                <a:cs typeface="Montserrat" pitchFamily="34" charset="-120"/>
              </a:rPr>
              <a:t> à </a:t>
            </a:r>
            <a:r>
              <a:rPr lang="en-US" sz="1750" dirty="0" err="1">
                <a:solidFill>
                  <a:srgbClr val="67534F"/>
                </a:solidFill>
                <a:latin typeface="Montserrat" pitchFamily="34" charset="0"/>
                <a:ea typeface="Montserrat" pitchFamily="34" charset="-122"/>
                <a:cs typeface="Montserrat" pitchFamily="34" charset="-120"/>
              </a:rPr>
              <a:t>surveiller</a:t>
            </a:r>
            <a:r>
              <a:rPr lang="en-US" sz="1750" dirty="0">
                <a:solidFill>
                  <a:srgbClr val="67534F"/>
                </a:solidFill>
                <a:latin typeface="Montserrat" pitchFamily="34" charset="0"/>
                <a:ea typeface="Montserrat" pitchFamily="34" charset="-122"/>
                <a:cs typeface="Montserrat" pitchFamily="34" charset="-120"/>
              </a:rPr>
              <a:t> et des </a:t>
            </a:r>
            <a:r>
              <a:rPr lang="en-US" sz="1750" dirty="0" err="1">
                <a:solidFill>
                  <a:srgbClr val="67534F"/>
                </a:solidFill>
                <a:latin typeface="Montserrat" pitchFamily="34" charset="0"/>
                <a:ea typeface="Montserrat" pitchFamily="34" charset="-122"/>
                <a:cs typeface="Montserrat" pitchFamily="34" charset="-120"/>
              </a:rPr>
              <a:t>nœuds</a:t>
            </a:r>
            <a:r>
              <a:rPr lang="en-US" sz="1750" dirty="0">
                <a:solidFill>
                  <a:srgbClr val="67534F"/>
                </a:solidFill>
                <a:latin typeface="Montserrat" pitchFamily="34" charset="0"/>
                <a:ea typeface="Montserrat" pitchFamily="34" charset="-122"/>
                <a:cs typeface="Montserrat" pitchFamily="34" charset="-120"/>
              </a:rPr>
              <a:t> pairs</a:t>
            </a: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 Configuration des </a:t>
            </a:r>
            <a:r>
              <a:rPr lang="en-US" sz="1750" dirty="0" err="1">
                <a:solidFill>
                  <a:srgbClr val="67534F"/>
                </a:solidFill>
                <a:latin typeface="Montserrat" pitchFamily="34" charset="0"/>
                <a:ea typeface="Montserrat" pitchFamily="34" charset="-122"/>
                <a:cs typeface="Montserrat" pitchFamily="34" charset="-120"/>
              </a:rPr>
              <a:t>paramètres</a:t>
            </a:r>
            <a:r>
              <a:rPr lang="en-US" sz="1750" dirty="0">
                <a:solidFill>
                  <a:srgbClr val="67534F"/>
                </a:solidFill>
                <a:latin typeface="Montserrat" pitchFamily="34" charset="0"/>
                <a:ea typeface="Montserrat" pitchFamily="34" charset="-122"/>
                <a:cs typeface="Montserrat" pitchFamily="34" charset="-120"/>
              </a:rPr>
              <a:t> de performance et de </a:t>
            </a:r>
            <a:r>
              <a:rPr lang="en-US" sz="1750" dirty="0" err="1">
                <a:solidFill>
                  <a:srgbClr val="67534F"/>
                </a:solidFill>
                <a:latin typeface="Montserrat" pitchFamily="34" charset="0"/>
                <a:ea typeface="Montserrat" pitchFamily="34" charset="-122"/>
                <a:cs typeface="Montserrat" pitchFamily="34" charset="-120"/>
              </a:rPr>
              <a:t>sécurité</a:t>
            </a:r>
            <a:endParaRPr lang="en-US" sz="1750" dirty="0">
              <a:solidFill>
                <a:srgbClr val="67534F"/>
              </a:solidFill>
              <a:latin typeface="Montserrat" pitchFamily="34" charset="0"/>
              <a:ea typeface="Montserrat" pitchFamily="34" charset="-122"/>
              <a:cs typeface="Montserrat" pitchFamily="34" charset="-120"/>
            </a:endParaRP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Démarrage</a:t>
            </a:r>
            <a:r>
              <a:rPr lang="en-US" sz="1750" dirty="0">
                <a:solidFill>
                  <a:srgbClr val="67534F"/>
                </a:solidFill>
                <a:latin typeface="Montserrat" pitchFamily="34" charset="0"/>
                <a:ea typeface="Montserrat" pitchFamily="34" charset="-122"/>
                <a:cs typeface="Montserrat" pitchFamily="34" charset="-120"/>
              </a:rPr>
              <a:t> du service DFR via </a:t>
            </a:r>
            <a:r>
              <a:rPr lang="en-US" sz="1750" dirty="0" err="1">
                <a:solidFill>
                  <a:srgbClr val="67534F"/>
                </a:solidFill>
                <a:latin typeface="Montserrat" pitchFamily="34" charset="0"/>
                <a:ea typeface="Montserrat" pitchFamily="34" charset="-122"/>
                <a:cs typeface="Montserrat" pitchFamily="34" charset="-120"/>
              </a:rPr>
              <a:t>systemd</a:t>
            </a:r>
            <a:endParaRPr lang="en-US" sz="1750" dirty="0">
              <a:solidFill>
                <a:srgbClr val="67534F"/>
              </a:solidFill>
              <a:latin typeface="Montserrat" pitchFamily="34" charset="0"/>
              <a:ea typeface="Montserrat" pitchFamily="34" charset="-122"/>
              <a:cs typeface="Montserrat" pitchFamily="34" charset="-120"/>
            </a:endParaRPr>
          </a:p>
          <a:p>
            <a:pPr marL="342900" indent="-342900">
              <a:lnSpc>
                <a:spcPts val="2300"/>
              </a:lnSpc>
              <a:buSzPct val="100000"/>
              <a:buChar char="•"/>
            </a:pPr>
            <a:r>
              <a:rPr lang="en-US" sz="1750" dirty="0" err="1">
                <a:solidFill>
                  <a:srgbClr val="67534F"/>
                </a:solidFill>
                <a:latin typeface="Montserrat" pitchFamily="34" charset="0"/>
                <a:ea typeface="Montserrat" pitchFamily="34" charset="-122"/>
                <a:cs typeface="Montserrat" pitchFamily="34" charset="-120"/>
              </a:rPr>
              <a:t>Vérification</a:t>
            </a:r>
            <a:r>
              <a:rPr lang="en-US" sz="1750" dirty="0">
                <a:solidFill>
                  <a:srgbClr val="67534F"/>
                </a:solidFill>
                <a:latin typeface="Montserrat" pitchFamily="34" charset="0"/>
                <a:ea typeface="Montserrat" pitchFamily="34" charset="-122"/>
                <a:cs typeface="Montserrat" pitchFamily="34" charset="-120"/>
              </a:rPr>
              <a:t> de </a:t>
            </a:r>
            <a:r>
              <a:rPr lang="en-US" sz="1750" dirty="0" err="1">
                <a:solidFill>
                  <a:srgbClr val="67534F"/>
                </a:solidFill>
                <a:latin typeface="Montserrat" pitchFamily="34" charset="0"/>
                <a:ea typeface="Montserrat" pitchFamily="34" charset="-122"/>
                <a:cs typeface="Montserrat" pitchFamily="34" charset="-120"/>
              </a:rPr>
              <a:t>l'état</a:t>
            </a:r>
            <a:r>
              <a:rPr lang="en-US" sz="1750" dirty="0">
                <a:solidFill>
                  <a:srgbClr val="67534F"/>
                </a:solidFill>
                <a:latin typeface="Montserrat" pitchFamily="34" charset="0"/>
                <a:ea typeface="Montserrat" pitchFamily="34" charset="-122"/>
                <a:cs typeface="Montserrat" pitchFamily="34" charset="-120"/>
              </a:rPr>
              <a:t> du </a:t>
            </a:r>
            <a:r>
              <a:rPr lang="en-US" sz="1750" dirty="0" err="1">
                <a:solidFill>
                  <a:srgbClr val="67534F"/>
                </a:solidFill>
                <a:latin typeface="Montserrat" pitchFamily="34" charset="0"/>
                <a:ea typeface="Montserrat" pitchFamily="34" charset="-122"/>
                <a:cs typeface="Montserrat" pitchFamily="34" charset="-120"/>
              </a:rPr>
              <a:t>nœud</a:t>
            </a:r>
            <a:r>
              <a:rPr lang="en-US" sz="1750" dirty="0">
                <a:solidFill>
                  <a:srgbClr val="67534F"/>
                </a:solidFill>
                <a:latin typeface="Montserrat" pitchFamily="34" charset="0"/>
                <a:ea typeface="Montserrat" pitchFamily="34" charset="-122"/>
                <a:cs typeface="Montserrat" pitchFamily="34" charset="-120"/>
              </a:rPr>
              <a:t> et des </a:t>
            </a:r>
            <a:r>
              <a:rPr lang="en-US" sz="1750" dirty="0" err="1">
                <a:solidFill>
                  <a:srgbClr val="67534F"/>
                </a:solidFill>
                <a:latin typeface="Montserrat" pitchFamily="34" charset="0"/>
                <a:ea typeface="Montserrat" pitchFamily="34" charset="-122"/>
                <a:cs typeface="Montserrat" pitchFamily="34" charset="-120"/>
              </a:rPr>
              <a:t>connexions</a:t>
            </a:r>
            <a:endParaRPr lang="en-US" sz="1750" dirty="0">
              <a:solidFill>
                <a:srgbClr val="67534F"/>
              </a:solidFill>
              <a:latin typeface="Montserrat" pitchFamily="34" charset="0"/>
              <a:ea typeface="Montserrat" pitchFamily="34" charset="-122"/>
              <a:cs typeface="Montserrat" pitchFamily="34" charset="-120"/>
            </a:endParaRPr>
          </a:p>
          <a:p>
            <a:pPr marL="342900" indent="-342900">
              <a:lnSpc>
                <a:spcPts val="2300"/>
              </a:lnSpc>
              <a:buSzPct val="100000"/>
              <a:buChar char="•"/>
            </a:pPr>
            <a:endParaRPr lang="en-US" sz="1750" dirty="0"/>
          </a:p>
        </p:txBody>
      </p:sp>
      <p:sp>
        <p:nvSpPr>
          <p:cNvPr id="23" name="Text 6">
            <a:extLst>
              <a:ext uri="{FF2B5EF4-FFF2-40B4-BE49-F238E27FC236}">
                <a16:creationId xmlns:a16="http://schemas.microsoft.com/office/drawing/2014/main" id="{10B9D820-BABA-A7B3-55C1-4760097B64DD}"/>
              </a:ext>
            </a:extLst>
          </p:cNvPr>
          <p:cNvSpPr/>
          <p:nvPr/>
        </p:nvSpPr>
        <p:spPr>
          <a:xfrm>
            <a:off x="8140971" y="5164824"/>
            <a:ext cx="5941952" cy="2322796"/>
          </a:xfrm>
          <a:prstGeom prst="rect">
            <a:avLst/>
          </a:prstGeom>
          <a:noFill/>
          <a:ln/>
        </p:spPr>
        <p:txBody>
          <a:bodyPr wrap="square" lIns="0" tIns="0" rIns="0" bIns="0" rtlCol="0" anchor="t"/>
          <a:lstStyle/>
          <a:p>
            <a:pPr marL="342900" indent="-342900">
              <a:lnSpc>
                <a:spcPts val="2300"/>
              </a:lnSpc>
              <a:buSzPct val="100000"/>
              <a:buChar char="•"/>
            </a:pPr>
            <a:r>
              <a:rPr lang="en-US" sz="1750" b="1" dirty="0" err="1">
                <a:solidFill>
                  <a:srgbClr val="67534F"/>
                </a:solidFill>
                <a:latin typeface="Montserrat" pitchFamily="34" charset="0"/>
                <a:ea typeface="Montserrat" pitchFamily="34" charset="-122"/>
                <a:cs typeface="Montserrat" pitchFamily="34" charset="-120"/>
              </a:rPr>
              <a:t>Scénario</a:t>
            </a:r>
            <a:r>
              <a:rPr lang="en-US" sz="1750" b="1" dirty="0">
                <a:solidFill>
                  <a:srgbClr val="67534F"/>
                </a:solidFill>
                <a:latin typeface="Montserrat" pitchFamily="34" charset="0"/>
                <a:ea typeface="Montserrat" pitchFamily="34" charset="-122"/>
                <a:cs typeface="Montserrat" pitchFamily="34" charset="-120"/>
              </a:rPr>
              <a:t> nominal</a:t>
            </a:r>
            <a:r>
              <a:rPr lang="en-US" sz="1750" dirty="0">
                <a:solidFill>
                  <a:srgbClr val="67534F"/>
                </a:solidFill>
                <a:latin typeface="Montserrat" pitchFamily="34" charset="0"/>
                <a:ea typeface="Montserrat" pitchFamily="34" charset="-122"/>
                <a:cs typeface="Montserrat" pitchFamily="34" charset="-120"/>
              </a:rPr>
              <a:t> : </a:t>
            </a:r>
            <a:r>
              <a:rPr lang="en-US" sz="1750" dirty="0" err="1">
                <a:solidFill>
                  <a:srgbClr val="67534F"/>
                </a:solidFill>
                <a:latin typeface="Montserrat" pitchFamily="34" charset="0"/>
                <a:ea typeface="Montserrat" pitchFamily="34" charset="-122"/>
                <a:cs typeface="Montserrat" pitchFamily="34" charset="-120"/>
              </a:rPr>
              <a:t>Accès</a:t>
            </a:r>
            <a:r>
              <a:rPr lang="en-US" sz="1750" dirty="0">
                <a:solidFill>
                  <a:srgbClr val="67534F"/>
                </a:solidFill>
                <a:latin typeface="Montserrat" pitchFamily="34" charset="0"/>
                <a:ea typeface="Montserrat" pitchFamily="34" charset="-122"/>
                <a:cs typeface="Montserrat" pitchFamily="34" charset="-120"/>
              </a:rPr>
              <a:t> aux logs via interface de monitoring.</a:t>
            </a:r>
          </a:p>
          <a:p>
            <a:pPr marL="342900" indent="-342900">
              <a:lnSpc>
                <a:spcPts val="2300"/>
              </a:lnSpc>
              <a:buSzPct val="100000"/>
              <a:buChar char="•"/>
            </a:pPr>
            <a:r>
              <a:rPr lang="en-US" sz="1750" dirty="0" err="1">
                <a:solidFill>
                  <a:srgbClr val="67534F"/>
                </a:solidFill>
                <a:latin typeface="Montserrat" pitchFamily="34" charset="0"/>
                <a:ea typeface="Montserrat" pitchFamily="34" charset="-122"/>
                <a:cs typeface="Montserrat" pitchFamily="34" charset="-120"/>
              </a:rPr>
              <a:t>Filtrage</a:t>
            </a:r>
            <a:r>
              <a:rPr lang="en-US" sz="1750" dirty="0">
                <a:solidFill>
                  <a:srgbClr val="67534F"/>
                </a:solidFill>
                <a:latin typeface="Montserrat" pitchFamily="34" charset="0"/>
                <a:ea typeface="Montserrat" pitchFamily="34" charset="-122"/>
                <a:cs typeface="Montserrat" pitchFamily="34" charset="-120"/>
              </a:rPr>
              <a:t> des logs par date, </a:t>
            </a:r>
            <a:r>
              <a:rPr lang="en-US" sz="1750" dirty="0" err="1">
                <a:solidFill>
                  <a:srgbClr val="67534F"/>
                </a:solidFill>
                <a:latin typeface="Montserrat" pitchFamily="34" charset="0"/>
                <a:ea typeface="Montserrat" pitchFamily="34" charset="-122"/>
                <a:cs typeface="Montserrat" pitchFamily="34" charset="-120"/>
              </a:rPr>
              <a:t>nœud</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ou</a:t>
            </a:r>
            <a:r>
              <a:rPr lang="en-US" sz="1750" dirty="0">
                <a:solidFill>
                  <a:srgbClr val="67534F"/>
                </a:solidFill>
                <a:latin typeface="Montserrat" pitchFamily="34" charset="0"/>
                <a:ea typeface="Montserrat" pitchFamily="34" charset="-122"/>
                <a:cs typeface="Montserrat" pitchFamily="34" charset="-120"/>
              </a:rPr>
              <a:t> type </a:t>
            </a:r>
            <a:r>
              <a:rPr lang="en-US" sz="1750" dirty="0" err="1">
                <a:solidFill>
                  <a:srgbClr val="67534F"/>
                </a:solidFill>
                <a:latin typeface="Montserrat" pitchFamily="34" charset="0"/>
                <a:ea typeface="Montserrat" pitchFamily="34" charset="-122"/>
                <a:cs typeface="Montserrat" pitchFamily="34" charset="-120"/>
              </a:rPr>
              <a:t>d'événement</a:t>
            </a:r>
            <a:endParaRPr lang="en-US" sz="1750" dirty="0">
              <a:solidFill>
                <a:srgbClr val="67534F"/>
              </a:solidFill>
              <a:latin typeface="Montserrat" pitchFamily="34" charset="0"/>
              <a:ea typeface="Montserrat" pitchFamily="34" charset="-122"/>
              <a:cs typeface="Montserrat" pitchFamily="34" charset="-120"/>
            </a:endParaRP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Export des logs pour </a:t>
            </a:r>
            <a:r>
              <a:rPr lang="en-US" sz="1750" dirty="0" err="1">
                <a:solidFill>
                  <a:srgbClr val="67534F"/>
                </a:solidFill>
                <a:latin typeface="Montserrat" pitchFamily="34" charset="0"/>
                <a:ea typeface="Montserrat" pitchFamily="34" charset="-122"/>
                <a:cs typeface="Montserrat" pitchFamily="34" charset="-120"/>
              </a:rPr>
              <a:t>archivage</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ou</a:t>
            </a:r>
            <a:r>
              <a:rPr lang="en-US" sz="1750" dirty="0">
                <a:solidFill>
                  <a:srgbClr val="67534F"/>
                </a:solidFill>
                <a:latin typeface="Montserrat" pitchFamily="34" charset="0"/>
                <a:ea typeface="Montserrat" pitchFamily="34" charset="-122"/>
                <a:cs typeface="Montserrat" pitchFamily="34" charset="-120"/>
              </a:rPr>
              <a:t> audit</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7D73E-B192-EC05-60AA-C6DCDE49033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A7B8686-50EF-D165-22B0-D8C6D15DE727}"/>
              </a:ext>
            </a:extLst>
          </p:cNvPr>
          <p:cNvSpPr/>
          <p:nvPr/>
        </p:nvSpPr>
        <p:spPr>
          <a:xfrm>
            <a:off x="727529" y="157218"/>
            <a:ext cx="9448086" cy="508516"/>
          </a:xfrm>
          <a:prstGeom prst="rect">
            <a:avLst/>
          </a:prstGeom>
          <a:noFill/>
          <a:ln/>
        </p:spPr>
        <p:txBody>
          <a:bodyPr wrap="none" lIns="0" tIns="0" rIns="0" bIns="0" rtlCol="0" anchor="t"/>
          <a:lstStyle/>
          <a:p>
            <a:pPr marL="0" indent="0" algn="l">
              <a:lnSpc>
                <a:spcPts val="4000"/>
              </a:lnSpc>
              <a:buNone/>
            </a:pPr>
            <a:r>
              <a:rPr lang="en-US" sz="3050" dirty="0">
                <a:solidFill>
                  <a:srgbClr val="7D3E2C"/>
                </a:solidFill>
                <a:latin typeface="Marcellus" pitchFamily="34" charset="0"/>
                <a:ea typeface="Marcellus" pitchFamily="34" charset="-122"/>
                <a:cs typeface="Marcellus" pitchFamily="34" charset="-120"/>
              </a:rPr>
              <a:t>VII. DESCRIPTION TEXTUELLE DES CAS D'UTILISATION</a:t>
            </a:r>
            <a:endParaRPr lang="en-US" sz="3050" dirty="0"/>
          </a:p>
        </p:txBody>
      </p:sp>
      <p:sp>
        <p:nvSpPr>
          <p:cNvPr id="9" name="Shape 7">
            <a:extLst>
              <a:ext uri="{FF2B5EF4-FFF2-40B4-BE49-F238E27FC236}">
                <a16:creationId xmlns:a16="http://schemas.microsoft.com/office/drawing/2014/main" id="{D023B427-0E1D-452B-951F-1094DBCBD66C}"/>
              </a:ext>
            </a:extLst>
          </p:cNvPr>
          <p:cNvSpPr/>
          <p:nvPr/>
        </p:nvSpPr>
        <p:spPr>
          <a:xfrm>
            <a:off x="1934817" y="968611"/>
            <a:ext cx="12404035" cy="7150630"/>
          </a:xfrm>
          <a:prstGeom prst="roundRect">
            <a:avLst>
              <a:gd name="adj" fmla="val 2270"/>
            </a:avLst>
          </a:prstGeom>
          <a:solidFill>
            <a:srgbClr val="FFFFF4">
              <a:alpha val="95000"/>
            </a:srgbClr>
          </a:solidFill>
          <a:ln w="30480">
            <a:solidFill>
              <a:srgbClr val="FFE0CC"/>
            </a:solidFill>
            <a:prstDash val="solid"/>
          </a:ln>
        </p:spPr>
        <p:txBody>
          <a:bodyPr/>
          <a:lstStyle/>
          <a:p>
            <a:endParaRPr lang="fr-US"/>
          </a:p>
        </p:txBody>
      </p:sp>
      <p:sp>
        <p:nvSpPr>
          <p:cNvPr id="10" name="Text 8">
            <a:extLst>
              <a:ext uri="{FF2B5EF4-FFF2-40B4-BE49-F238E27FC236}">
                <a16:creationId xmlns:a16="http://schemas.microsoft.com/office/drawing/2014/main" id="{12A5ADF3-14AB-9EDF-F982-3F14D51BC8E7}"/>
              </a:ext>
            </a:extLst>
          </p:cNvPr>
          <p:cNvSpPr/>
          <p:nvPr/>
        </p:nvSpPr>
        <p:spPr>
          <a:xfrm>
            <a:off x="2425148" y="1358505"/>
            <a:ext cx="9780104" cy="513546"/>
          </a:xfrm>
          <a:prstGeom prst="rect">
            <a:avLst/>
          </a:prstGeom>
          <a:noFill/>
          <a:ln/>
        </p:spPr>
        <p:txBody>
          <a:bodyPr wrap="square" lIns="0" tIns="0" rIns="0" bIns="0" rtlCol="0" anchor="t"/>
          <a:lstStyle/>
          <a:p>
            <a:pPr marL="0" indent="0" algn="l">
              <a:lnSpc>
                <a:spcPts val="3300"/>
              </a:lnSpc>
              <a:buNone/>
            </a:pPr>
            <a:r>
              <a:rPr lang="en-US" sz="2550" dirty="0">
                <a:solidFill>
                  <a:srgbClr val="FF954F"/>
                </a:solidFill>
                <a:latin typeface="Marcellus" pitchFamily="34" charset="0"/>
                <a:ea typeface="Marcellus" pitchFamily="34" charset="-122"/>
                <a:cs typeface="Marcellus" pitchFamily="34" charset="-120"/>
              </a:rPr>
              <a:t>   CU5 : </a:t>
            </a:r>
            <a:r>
              <a:rPr lang="en-US" sz="2550" dirty="0" err="1">
                <a:solidFill>
                  <a:srgbClr val="FF954F"/>
                </a:solidFill>
                <a:latin typeface="Marcellus" pitchFamily="34" charset="0"/>
                <a:ea typeface="Marcellus" pitchFamily="34" charset="-122"/>
                <a:cs typeface="Marcellus" pitchFamily="34" charset="-120"/>
              </a:rPr>
              <a:t>Déposer</a:t>
            </a:r>
            <a:r>
              <a:rPr lang="en-US" sz="2550" dirty="0">
                <a:solidFill>
                  <a:srgbClr val="FF954F"/>
                </a:solidFill>
                <a:latin typeface="Marcellus" pitchFamily="34" charset="0"/>
                <a:ea typeface="Marcellus" pitchFamily="34" charset="-122"/>
                <a:cs typeface="Marcellus" pitchFamily="34" charset="-120"/>
              </a:rPr>
              <a:t> un  </a:t>
            </a:r>
            <a:r>
              <a:rPr lang="en-US" sz="2550" dirty="0" err="1">
                <a:solidFill>
                  <a:srgbClr val="FF954F"/>
                </a:solidFill>
                <a:latin typeface="Marcellus" pitchFamily="34" charset="0"/>
                <a:ea typeface="Marcellus" pitchFamily="34" charset="-122"/>
                <a:cs typeface="Marcellus" pitchFamily="34" charset="-120"/>
              </a:rPr>
              <a:t>fichier</a:t>
            </a:r>
            <a:r>
              <a:rPr lang="en-US" sz="2550" dirty="0">
                <a:solidFill>
                  <a:srgbClr val="FF954F"/>
                </a:solidFill>
                <a:latin typeface="Marcellus" pitchFamily="34" charset="0"/>
                <a:ea typeface="Marcellus" pitchFamily="34" charset="-122"/>
                <a:cs typeface="Marcellus" pitchFamily="34" charset="-120"/>
              </a:rPr>
              <a:t> par </a:t>
            </a:r>
            <a:r>
              <a:rPr lang="en-US" sz="2550" dirty="0" err="1">
                <a:solidFill>
                  <a:srgbClr val="FF954F"/>
                </a:solidFill>
                <a:latin typeface="Marcellus" pitchFamily="34" charset="0"/>
                <a:ea typeface="Marcellus" pitchFamily="34" charset="-122"/>
                <a:cs typeface="Marcellus" pitchFamily="34" charset="-120"/>
              </a:rPr>
              <a:t>l’utilisateur</a:t>
            </a:r>
            <a:r>
              <a:rPr lang="en-US" sz="2550" dirty="0">
                <a:solidFill>
                  <a:srgbClr val="FF954F"/>
                </a:solidFill>
                <a:latin typeface="Marcellus" pitchFamily="34" charset="0"/>
                <a:ea typeface="Marcellus" pitchFamily="34" charset="-122"/>
                <a:cs typeface="Marcellus" pitchFamily="34" charset="-120"/>
              </a:rPr>
              <a:t> </a:t>
            </a:r>
            <a:endParaRPr lang="en-US" sz="2550" dirty="0"/>
          </a:p>
        </p:txBody>
      </p:sp>
      <p:sp>
        <p:nvSpPr>
          <p:cNvPr id="11" name="Text 9">
            <a:extLst>
              <a:ext uri="{FF2B5EF4-FFF2-40B4-BE49-F238E27FC236}">
                <a16:creationId xmlns:a16="http://schemas.microsoft.com/office/drawing/2014/main" id="{9314BBC0-D8C6-C409-12CD-3AA5FA37A4E6}"/>
              </a:ext>
            </a:extLst>
          </p:cNvPr>
          <p:cNvSpPr/>
          <p:nvPr/>
        </p:nvSpPr>
        <p:spPr>
          <a:xfrm>
            <a:off x="2640683" y="2052847"/>
            <a:ext cx="3681770" cy="294799"/>
          </a:xfrm>
          <a:prstGeom prst="rect">
            <a:avLst/>
          </a:prstGeom>
          <a:noFill/>
          <a:ln/>
        </p:spPr>
        <p:txBody>
          <a:bodyPr wrap="none" lIns="0" tIns="0" rIns="0" bIns="0" rtlCol="0" anchor="t"/>
          <a:lstStyle/>
          <a:p>
            <a:pPr marL="342900" indent="-342900" algn="l">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Acteur</a:t>
            </a:r>
            <a:r>
              <a:rPr lang="en-US" sz="1750" dirty="0">
                <a:solidFill>
                  <a:srgbClr val="67534F"/>
                </a:solidFill>
                <a:latin typeface="Montserrat" pitchFamily="34" charset="0"/>
                <a:ea typeface="Montserrat" pitchFamily="34" charset="-122"/>
                <a:cs typeface="Montserrat" pitchFamily="34" charset="-120"/>
              </a:rPr>
              <a:t> : </a:t>
            </a:r>
            <a:r>
              <a:rPr lang="en-US" sz="1750" dirty="0" err="1">
                <a:solidFill>
                  <a:srgbClr val="67534F"/>
                </a:solidFill>
                <a:latin typeface="Montserrat" pitchFamily="34" charset="0"/>
              </a:rPr>
              <a:t>Utilisateur</a:t>
            </a:r>
            <a:r>
              <a:rPr lang="en-US" sz="1750" dirty="0">
                <a:solidFill>
                  <a:srgbClr val="67534F"/>
                </a:solidFill>
                <a:latin typeface="Montserrat" pitchFamily="34" charset="0"/>
              </a:rPr>
              <a:t> final </a:t>
            </a:r>
          </a:p>
        </p:txBody>
      </p:sp>
      <p:sp>
        <p:nvSpPr>
          <p:cNvPr id="12" name="Text 10">
            <a:extLst>
              <a:ext uri="{FF2B5EF4-FFF2-40B4-BE49-F238E27FC236}">
                <a16:creationId xmlns:a16="http://schemas.microsoft.com/office/drawing/2014/main" id="{D5FD6FCB-E495-A404-CF23-768A4BBE4A09}"/>
              </a:ext>
            </a:extLst>
          </p:cNvPr>
          <p:cNvSpPr/>
          <p:nvPr/>
        </p:nvSpPr>
        <p:spPr>
          <a:xfrm>
            <a:off x="2640683" y="2650523"/>
            <a:ext cx="9097628" cy="997354"/>
          </a:xfrm>
          <a:prstGeom prst="rect">
            <a:avLst/>
          </a:prstGeom>
          <a:noFill/>
          <a:ln/>
        </p:spPr>
        <p:txBody>
          <a:bodyPr wrap="square" lIns="0" tIns="0" rIns="0" bIns="0" rtlCol="0" anchor="t"/>
          <a:lstStyle/>
          <a:p>
            <a:pPr marL="342900" indent="-342900">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Description</a:t>
            </a:r>
            <a:r>
              <a:rPr lang="en-US" sz="1750" dirty="0">
                <a:solidFill>
                  <a:srgbClr val="67534F"/>
                </a:solidFill>
                <a:latin typeface="Montserrat" pitchFamily="34" charset="0"/>
                <a:ea typeface="Montserrat" pitchFamily="34" charset="-122"/>
                <a:cs typeface="Montserrat" pitchFamily="34" charset="-120"/>
              </a:rPr>
              <a:t> : </a:t>
            </a:r>
            <a:r>
              <a:rPr lang="fr-FR" sz="1750" dirty="0">
                <a:solidFill>
                  <a:srgbClr val="67534F"/>
                </a:solidFill>
                <a:latin typeface="Montserrat" pitchFamily="34" charset="0"/>
              </a:rPr>
              <a:t>L'utilisateur interagit normalement avec les fichiers dans les répertoires surveillés, bénéficiant d'une synchronisation transparente sans action supplémentaire requise.</a:t>
            </a:r>
            <a:endParaRPr lang="en-US" sz="1750" dirty="0">
              <a:solidFill>
                <a:srgbClr val="67534F"/>
              </a:solidFill>
              <a:latin typeface="Montserrat" pitchFamily="34" charset="0"/>
            </a:endParaRPr>
          </a:p>
        </p:txBody>
      </p:sp>
      <p:sp>
        <p:nvSpPr>
          <p:cNvPr id="13" name="Text 11">
            <a:extLst>
              <a:ext uri="{FF2B5EF4-FFF2-40B4-BE49-F238E27FC236}">
                <a16:creationId xmlns:a16="http://schemas.microsoft.com/office/drawing/2014/main" id="{6D7CA368-FFFD-602D-6E68-EBD3C3BDE64A}"/>
              </a:ext>
            </a:extLst>
          </p:cNvPr>
          <p:cNvSpPr/>
          <p:nvPr/>
        </p:nvSpPr>
        <p:spPr>
          <a:xfrm>
            <a:off x="2640683" y="3789730"/>
            <a:ext cx="9512727" cy="884396"/>
          </a:xfrm>
          <a:prstGeom prst="rect">
            <a:avLst/>
          </a:prstGeom>
          <a:noFill/>
          <a:ln/>
        </p:spPr>
        <p:txBody>
          <a:bodyPr wrap="square" lIns="0" tIns="0" rIns="0" bIns="0" rtlCol="0" anchor="t"/>
          <a:lstStyle/>
          <a:p>
            <a:pPr marL="342900" indent="-342900" algn="l">
              <a:lnSpc>
                <a:spcPts val="2300"/>
              </a:lnSpc>
              <a:buSzPct val="100000"/>
              <a:buChar char="•"/>
            </a:pPr>
            <a:r>
              <a:rPr lang="en-US" sz="1750" b="1" dirty="0" err="1">
                <a:solidFill>
                  <a:srgbClr val="67534F"/>
                </a:solidFill>
                <a:latin typeface="Montserrat" pitchFamily="34" charset="0"/>
                <a:ea typeface="Montserrat" pitchFamily="34" charset="-122"/>
                <a:cs typeface="Montserrat" pitchFamily="34" charset="-120"/>
              </a:rPr>
              <a:t>Précondition</a:t>
            </a:r>
            <a:r>
              <a:rPr lang="en-US" sz="1750" dirty="0">
                <a:solidFill>
                  <a:srgbClr val="67534F"/>
                </a:solidFill>
                <a:latin typeface="Montserrat" pitchFamily="34" charset="0"/>
                <a:ea typeface="Montserrat" pitchFamily="34" charset="-122"/>
                <a:cs typeface="Montserrat" pitchFamily="34" charset="-120"/>
              </a:rPr>
              <a:t> : Le repertoire </a:t>
            </a:r>
            <a:r>
              <a:rPr lang="en-US" sz="1750" dirty="0" err="1">
                <a:solidFill>
                  <a:srgbClr val="67534F"/>
                </a:solidFill>
                <a:latin typeface="Montserrat" pitchFamily="34" charset="0"/>
                <a:ea typeface="Montserrat" pitchFamily="34" charset="-122"/>
                <a:cs typeface="Montserrat" pitchFamily="34" charset="-120"/>
              </a:rPr>
              <a:t>est</a:t>
            </a:r>
            <a:r>
              <a:rPr lang="en-US" sz="1750" dirty="0">
                <a:solidFill>
                  <a:srgbClr val="67534F"/>
                </a:solidFill>
                <a:latin typeface="Montserrat" pitchFamily="34" charset="0"/>
                <a:ea typeface="Montserrat" pitchFamily="34" charset="-122"/>
                <a:cs typeface="Montserrat" pitchFamily="34" charset="-120"/>
              </a:rPr>
              <a:t> configure pour la surveillance DFR, </a:t>
            </a:r>
            <a:r>
              <a:rPr lang="en-US" sz="1750" dirty="0" err="1">
                <a:solidFill>
                  <a:srgbClr val="67534F"/>
                </a:solidFill>
                <a:latin typeface="Montserrat" pitchFamily="34" charset="0"/>
                <a:ea typeface="Montserrat" pitchFamily="34" charset="-122"/>
                <a:cs typeface="Montserrat" pitchFamily="34" charset="-120"/>
              </a:rPr>
              <a:t>l’utlisateur</a:t>
            </a:r>
            <a:r>
              <a:rPr lang="en-US" sz="1750" dirty="0">
                <a:solidFill>
                  <a:srgbClr val="67534F"/>
                </a:solidFill>
                <a:latin typeface="Montserrat" pitchFamily="34" charset="0"/>
                <a:ea typeface="Montserrat" pitchFamily="34" charset="-122"/>
                <a:cs typeface="Montserrat" pitchFamily="34" charset="-120"/>
              </a:rPr>
              <a:t> dispose des permissions et le DFR </a:t>
            </a:r>
            <a:r>
              <a:rPr lang="en-US" sz="1750" dirty="0" err="1">
                <a:solidFill>
                  <a:srgbClr val="67534F"/>
                </a:solidFill>
                <a:latin typeface="Montserrat" pitchFamily="34" charset="0"/>
                <a:ea typeface="Montserrat" pitchFamily="34" charset="-122"/>
                <a:cs typeface="Montserrat" pitchFamily="34" charset="-120"/>
              </a:rPr>
              <a:t>est</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opérationnel</a:t>
            </a:r>
            <a:r>
              <a:rPr lang="en-US" sz="1750" dirty="0">
                <a:solidFill>
                  <a:srgbClr val="67534F"/>
                </a:solidFill>
                <a:latin typeface="Montserrat" pitchFamily="34" charset="0"/>
                <a:ea typeface="Montserrat" pitchFamily="34" charset="-122"/>
                <a:cs typeface="Montserrat" pitchFamily="34" charset="-120"/>
              </a:rPr>
              <a:t> sur le </a:t>
            </a:r>
            <a:r>
              <a:rPr lang="en-US" sz="1750" dirty="0" err="1">
                <a:solidFill>
                  <a:srgbClr val="67534F"/>
                </a:solidFill>
                <a:latin typeface="Montserrat" pitchFamily="34" charset="0"/>
                <a:ea typeface="Montserrat" pitchFamily="34" charset="-122"/>
                <a:cs typeface="Montserrat" pitchFamily="34" charset="-120"/>
              </a:rPr>
              <a:t>noeud</a:t>
            </a:r>
            <a:r>
              <a:rPr lang="en-US" sz="1750" dirty="0">
                <a:solidFill>
                  <a:srgbClr val="67534F"/>
                </a:solidFill>
                <a:latin typeface="Montserrat" pitchFamily="34" charset="0"/>
                <a:ea typeface="Montserrat" pitchFamily="34" charset="-122"/>
                <a:cs typeface="Montserrat" pitchFamily="34" charset="-120"/>
              </a:rPr>
              <a:t> local</a:t>
            </a:r>
            <a:endParaRPr lang="en-US" sz="1750" dirty="0"/>
          </a:p>
        </p:txBody>
      </p:sp>
      <p:sp>
        <p:nvSpPr>
          <p:cNvPr id="14" name="Text 12">
            <a:extLst>
              <a:ext uri="{FF2B5EF4-FFF2-40B4-BE49-F238E27FC236}">
                <a16:creationId xmlns:a16="http://schemas.microsoft.com/office/drawing/2014/main" id="{5F151673-9366-0084-C64B-7652D2714760}"/>
              </a:ext>
            </a:extLst>
          </p:cNvPr>
          <p:cNvSpPr/>
          <p:nvPr/>
        </p:nvSpPr>
        <p:spPr>
          <a:xfrm>
            <a:off x="2640683" y="4564046"/>
            <a:ext cx="9234431" cy="672033"/>
          </a:xfrm>
          <a:prstGeom prst="rect">
            <a:avLst/>
          </a:prstGeom>
          <a:noFill/>
          <a:ln/>
        </p:spPr>
        <p:txBody>
          <a:bodyPr wrap="square" lIns="0" tIns="0" rIns="0" bIns="0" rtlCol="0" anchor="t"/>
          <a:lstStyle/>
          <a:p>
            <a:pPr marL="342900" indent="-342900" algn="l">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Postcondition</a:t>
            </a:r>
            <a:r>
              <a:rPr lang="en-US" sz="1750" dirty="0">
                <a:solidFill>
                  <a:srgbClr val="67534F"/>
                </a:solidFill>
                <a:latin typeface="Montserrat" pitchFamily="34" charset="0"/>
                <a:ea typeface="Montserrat" pitchFamily="34" charset="-122"/>
                <a:cs typeface="Montserrat" pitchFamily="34" charset="-120"/>
              </a:rPr>
              <a:t> : Le </a:t>
            </a:r>
            <a:r>
              <a:rPr lang="en-US" sz="1750" dirty="0" err="1">
                <a:solidFill>
                  <a:srgbClr val="67534F"/>
                </a:solidFill>
                <a:latin typeface="Montserrat" pitchFamily="34" charset="0"/>
                <a:ea typeface="Montserrat" pitchFamily="34" charset="-122"/>
                <a:cs typeface="Montserrat" pitchFamily="34" charset="-120"/>
              </a:rPr>
              <a:t>fichier</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est</a:t>
            </a:r>
            <a:r>
              <a:rPr lang="en-US" sz="1750" dirty="0">
                <a:solidFill>
                  <a:srgbClr val="67534F"/>
                </a:solidFill>
                <a:latin typeface="Montserrat" pitchFamily="34" charset="0"/>
                <a:ea typeface="Montserrat" pitchFamily="34" charset="-122"/>
                <a:cs typeface="Montserrat" pitchFamily="34" charset="-120"/>
              </a:rPr>
              <a:t> disponible, la replication se fait </a:t>
            </a:r>
            <a:r>
              <a:rPr lang="en-US" sz="1750" dirty="0" err="1">
                <a:solidFill>
                  <a:srgbClr val="67534F"/>
                </a:solidFill>
                <a:latin typeface="Montserrat" pitchFamily="34" charset="0"/>
                <a:ea typeface="Montserrat" pitchFamily="34" charset="-122"/>
                <a:cs typeface="Montserrat" pitchFamily="34" charset="-120"/>
              </a:rPr>
              <a:t>automatiquement</a:t>
            </a:r>
            <a:r>
              <a:rPr lang="en-US" sz="1750" dirty="0">
                <a:solidFill>
                  <a:srgbClr val="67534F"/>
                </a:solidFill>
                <a:latin typeface="Montserrat" pitchFamily="34" charset="0"/>
                <a:ea typeface="Montserrat" pitchFamily="34" charset="-122"/>
                <a:cs typeface="Montserrat" pitchFamily="34" charset="-120"/>
              </a:rPr>
              <a:t> </a:t>
            </a:r>
            <a:endParaRPr lang="en-US" sz="1750" dirty="0"/>
          </a:p>
        </p:txBody>
      </p:sp>
      <p:sp>
        <p:nvSpPr>
          <p:cNvPr id="18" name="Text 16">
            <a:extLst>
              <a:ext uri="{FF2B5EF4-FFF2-40B4-BE49-F238E27FC236}">
                <a16:creationId xmlns:a16="http://schemas.microsoft.com/office/drawing/2014/main" id="{E9D8CF24-0651-D392-0FFA-AE0A3FB60683}"/>
              </a:ext>
            </a:extLst>
          </p:cNvPr>
          <p:cNvSpPr/>
          <p:nvPr/>
        </p:nvSpPr>
        <p:spPr>
          <a:xfrm>
            <a:off x="9897427" y="3574137"/>
            <a:ext cx="3681770" cy="884396"/>
          </a:xfrm>
          <a:prstGeom prst="rect">
            <a:avLst/>
          </a:prstGeom>
          <a:noFill/>
          <a:ln/>
        </p:spPr>
        <p:txBody>
          <a:bodyPr wrap="square" lIns="0" tIns="0" rIns="0" bIns="0" rtlCol="0" anchor="t"/>
          <a:lstStyle/>
          <a:p>
            <a:pPr marL="342900" indent="-342900" algn="l">
              <a:lnSpc>
                <a:spcPts val="2300"/>
              </a:lnSpc>
              <a:buSzPct val="100000"/>
              <a:buChar char="•"/>
            </a:pPr>
            <a:endParaRPr lang="en-US" sz="1750" dirty="0"/>
          </a:p>
        </p:txBody>
      </p:sp>
      <p:sp>
        <p:nvSpPr>
          <p:cNvPr id="20" name="Text 18">
            <a:extLst>
              <a:ext uri="{FF2B5EF4-FFF2-40B4-BE49-F238E27FC236}">
                <a16:creationId xmlns:a16="http://schemas.microsoft.com/office/drawing/2014/main" id="{0EF9F446-89DF-7F05-4C8F-748A68C9C52E}"/>
              </a:ext>
            </a:extLst>
          </p:cNvPr>
          <p:cNvSpPr/>
          <p:nvPr/>
        </p:nvSpPr>
        <p:spPr>
          <a:xfrm>
            <a:off x="9897427" y="5206722"/>
            <a:ext cx="3681770" cy="589598"/>
          </a:xfrm>
          <a:prstGeom prst="rect">
            <a:avLst/>
          </a:prstGeom>
          <a:noFill/>
          <a:ln/>
        </p:spPr>
        <p:txBody>
          <a:bodyPr wrap="square" lIns="0" tIns="0" rIns="0" bIns="0" rtlCol="0" anchor="t"/>
          <a:lstStyle/>
          <a:p>
            <a:pPr marL="342900" indent="-342900" algn="l">
              <a:lnSpc>
                <a:spcPts val="2300"/>
              </a:lnSpc>
              <a:buSzPct val="100000"/>
              <a:buChar char="•"/>
            </a:pPr>
            <a:endParaRPr lang="en-US" sz="1750" dirty="0"/>
          </a:p>
        </p:txBody>
      </p:sp>
      <p:sp>
        <p:nvSpPr>
          <p:cNvPr id="21" name="Rectangle 20">
            <a:extLst>
              <a:ext uri="{FF2B5EF4-FFF2-40B4-BE49-F238E27FC236}">
                <a16:creationId xmlns:a16="http://schemas.microsoft.com/office/drawing/2014/main" id="{68A53846-F95C-14A3-E7F0-8CAB2C643A4F}"/>
              </a:ext>
            </a:extLst>
          </p:cNvPr>
          <p:cNvSpPr/>
          <p:nvPr/>
        </p:nvSpPr>
        <p:spPr>
          <a:xfrm>
            <a:off x="12691241" y="7662041"/>
            <a:ext cx="1939159" cy="457200"/>
          </a:xfrm>
          <a:prstGeom prst="rect">
            <a:avLst/>
          </a:prstGeom>
          <a:solidFill>
            <a:srgbClr val="FDFCF1"/>
          </a:solidFill>
          <a:ln>
            <a:solidFill>
              <a:srgbClr val="FD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Text 6">
            <a:extLst>
              <a:ext uri="{FF2B5EF4-FFF2-40B4-BE49-F238E27FC236}">
                <a16:creationId xmlns:a16="http://schemas.microsoft.com/office/drawing/2014/main" id="{C30856C8-4644-EBA0-3F60-886877F5AB96}"/>
              </a:ext>
            </a:extLst>
          </p:cNvPr>
          <p:cNvSpPr/>
          <p:nvPr/>
        </p:nvSpPr>
        <p:spPr>
          <a:xfrm>
            <a:off x="2640683" y="5240017"/>
            <a:ext cx="10359700" cy="1492087"/>
          </a:xfrm>
          <a:prstGeom prst="rect">
            <a:avLst/>
          </a:prstGeom>
          <a:noFill/>
          <a:ln/>
        </p:spPr>
        <p:txBody>
          <a:bodyPr wrap="square" lIns="0" tIns="0" rIns="0" bIns="0" rtlCol="0" anchor="t"/>
          <a:lstStyle/>
          <a:p>
            <a:pPr marL="342900" indent="-342900">
              <a:lnSpc>
                <a:spcPts val="2300"/>
              </a:lnSpc>
              <a:buSzPct val="100000"/>
              <a:buChar char="•"/>
            </a:pPr>
            <a:r>
              <a:rPr lang="en-US" sz="1750" b="1" dirty="0" err="1">
                <a:solidFill>
                  <a:srgbClr val="67534F"/>
                </a:solidFill>
                <a:latin typeface="Montserrat" pitchFamily="34" charset="0"/>
                <a:ea typeface="Montserrat" pitchFamily="34" charset="-122"/>
                <a:cs typeface="Montserrat" pitchFamily="34" charset="-120"/>
              </a:rPr>
              <a:t>Scénario</a:t>
            </a:r>
            <a:r>
              <a:rPr lang="en-US" sz="1750" b="1" dirty="0">
                <a:solidFill>
                  <a:srgbClr val="67534F"/>
                </a:solidFill>
                <a:latin typeface="Montserrat" pitchFamily="34" charset="0"/>
                <a:ea typeface="Montserrat" pitchFamily="34" charset="-122"/>
                <a:cs typeface="Montserrat" pitchFamily="34" charset="-120"/>
              </a:rPr>
              <a:t> nominal</a:t>
            </a:r>
            <a:r>
              <a:rPr lang="en-US" sz="1750" dirty="0">
                <a:solidFill>
                  <a:srgbClr val="67534F"/>
                </a:solidFill>
                <a:latin typeface="Montserrat" pitchFamily="34" charset="0"/>
                <a:ea typeface="Montserrat" pitchFamily="34" charset="-122"/>
                <a:cs typeface="Montserrat" pitchFamily="34" charset="-120"/>
              </a:rPr>
              <a:t> : </a:t>
            </a:r>
            <a:r>
              <a:rPr lang="en-US" sz="1750" dirty="0" err="1">
                <a:solidFill>
                  <a:srgbClr val="67534F"/>
                </a:solidFill>
                <a:latin typeface="Montserrat" pitchFamily="34" charset="0"/>
                <a:ea typeface="Montserrat" pitchFamily="34" charset="-122"/>
                <a:cs typeface="Montserrat" pitchFamily="34" charset="-120"/>
              </a:rPr>
              <a:t>L'utilisateur</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crée</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modifie</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renomme</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ou</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supprime</a:t>
            </a:r>
            <a:r>
              <a:rPr lang="en-US" sz="1750" dirty="0">
                <a:solidFill>
                  <a:srgbClr val="67534F"/>
                </a:solidFill>
                <a:latin typeface="Montserrat" pitchFamily="34" charset="0"/>
                <a:ea typeface="Montserrat" pitchFamily="34" charset="-122"/>
                <a:cs typeface="Montserrat" pitchFamily="34" charset="-120"/>
              </a:rPr>
              <a:t> un </a:t>
            </a:r>
            <a:r>
              <a:rPr lang="en-US" sz="1750" dirty="0" err="1">
                <a:solidFill>
                  <a:srgbClr val="67534F"/>
                </a:solidFill>
                <a:latin typeface="Montserrat" pitchFamily="34" charset="0"/>
                <a:ea typeface="Montserrat" pitchFamily="34" charset="-122"/>
                <a:cs typeface="Montserrat" pitchFamily="34" charset="-120"/>
              </a:rPr>
              <a:t>fichier</a:t>
            </a:r>
            <a:endParaRPr lang="en-US" sz="1750" dirty="0">
              <a:solidFill>
                <a:srgbClr val="67534F"/>
              </a:solidFill>
              <a:latin typeface="Montserrat" pitchFamily="34" charset="0"/>
              <a:ea typeface="Montserrat" pitchFamily="34" charset="-122"/>
              <a:cs typeface="Montserrat" pitchFamily="34" charset="-120"/>
            </a:endParaRP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Le </a:t>
            </a:r>
            <a:r>
              <a:rPr lang="en-US" sz="1750" dirty="0" err="1">
                <a:solidFill>
                  <a:srgbClr val="67534F"/>
                </a:solidFill>
                <a:latin typeface="Montserrat" pitchFamily="34" charset="0"/>
                <a:ea typeface="Montserrat" pitchFamily="34" charset="-122"/>
                <a:cs typeface="Montserrat" pitchFamily="34" charset="-120"/>
              </a:rPr>
              <a:t>système</a:t>
            </a:r>
            <a:r>
              <a:rPr lang="en-US" sz="1750" dirty="0">
                <a:solidFill>
                  <a:srgbClr val="67534F"/>
                </a:solidFill>
                <a:latin typeface="Montserrat" pitchFamily="34" charset="0"/>
                <a:ea typeface="Montserrat" pitchFamily="34" charset="-122"/>
                <a:cs typeface="Montserrat" pitchFamily="34" charset="-120"/>
              </a:rPr>
              <a:t> DFR </a:t>
            </a:r>
            <a:r>
              <a:rPr lang="en-US" sz="1750" dirty="0" err="1">
                <a:solidFill>
                  <a:srgbClr val="67534F"/>
                </a:solidFill>
                <a:latin typeface="Montserrat" pitchFamily="34" charset="0"/>
                <a:ea typeface="Montserrat" pitchFamily="34" charset="-122"/>
                <a:cs typeface="Montserrat" pitchFamily="34" charset="-120"/>
              </a:rPr>
              <a:t>détecte</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automatiquement</a:t>
            </a:r>
            <a:r>
              <a:rPr lang="en-US" sz="1750" dirty="0">
                <a:solidFill>
                  <a:srgbClr val="67534F"/>
                </a:solidFill>
                <a:latin typeface="Montserrat" pitchFamily="34" charset="0"/>
                <a:ea typeface="Montserrat" pitchFamily="34" charset="-122"/>
                <a:cs typeface="Montserrat" pitchFamily="34" charset="-120"/>
              </a:rPr>
              <a:t> le </a:t>
            </a:r>
            <a:r>
              <a:rPr lang="en-US" sz="1750" dirty="0" err="1">
                <a:solidFill>
                  <a:srgbClr val="67534F"/>
                </a:solidFill>
                <a:latin typeface="Montserrat" pitchFamily="34" charset="0"/>
                <a:ea typeface="Montserrat" pitchFamily="34" charset="-122"/>
                <a:cs typeface="Montserrat" pitchFamily="34" charset="-120"/>
              </a:rPr>
              <a:t>changement</a:t>
            </a:r>
            <a:r>
              <a:rPr lang="en-US" sz="1750" dirty="0">
                <a:solidFill>
                  <a:srgbClr val="67534F"/>
                </a:solidFill>
                <a:latin typeface="Montserrat" pitchFamily="34" charset="0"/>
                <a:ea typeface="Montserrat" pitchFamily="34" charset="-122"/>
                <a:cs typeface="Montserrat" pitchFamily="34" charset="-120"/>
              </a:rPr>
              <a:t> (CU1)</a:t>
            </a: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 La </a:t>
            </a:r>
            <a:r>
              <a:rPr lang="en-US" sz="1750" dirty="0" err="1">
                <a:solidFill>
                  <a:srgbClr val="67534F"/>
                </a:solidFill>
                <a:latin typeface="Montserrat" pitchFamily="34" charset="0"/>
                <a:ea typeface="Montserrat" pitchFamily="34" charset="-122"/>
                <a:cs typeface="Montserrat" pitchFamily="34" charset="-120"/>
              </a:rPr>
              <a:t>synchronisation</a:t>
            </a:r>
            <a:r>
              <a:rPr lang="en-US" sz="1750" dirty="0">
                <a:solidFill>
                  <a:srgbClr val="67534F"/>
                </a:solidFill>
                <a:latin typeface="Montserrat" pitchFamily="34" charset="0"/>
                <a:ea typeface="Montserrat" pitchFamily="34" charset="-122"/>
                <a:cs typeface="Montserrat" pitchFamily="34" charset="-120"/>
              </a:rPr>
              <a:t> se </a:t>
            </a:r>
            <a:r>
              <a:rPr lang="en-US" sz="1750" dirty="0" err="1">
                <a:solidFill>
                  <a:srgbClr val="67534F"/>
                </a:solidFill>
                <a:latin typeface="Montserrat" pitchFamily="34" charset="0"/>
                <a:ea typeface="Montserrat" pitchFamily="34" charset="-122"/>
                <a:cs typeface="Montserrat" pitchFamily="34" charset="-120"/>
              </a:rPr>
              <a:t>produit</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en</a:t>
            </a:r>
            <a:r>
              <a:rPr lang="en-US" sz="1750" dirty="0">
                <a:solidFill>
                  <a:srgbClr val="67534F"/>
                </a:solidFill>
                <a:latin typeface="Montserrat" pitchFamily="34" charset="0"/>
                <a:ea typeface="Montserrat" pitchFamily="34" charset="-122"/>
                <a:cs typeface="Montserrat" pitchFamily="34" charset="-120"/>
              </a:rPr>
              <a:t> arrière-plan sans interaction </a:t>
            </a:r>
            <a:r>
              <a:rPr lang="en-US" sz="1750" dirty="0" err="1">
                <a:solidFill>
                  <a:srgbClr val="67534F"/>
                </a:solidFill>
                <a:latin typeface="Montserrat" pitchFamily="34" charset="0"/>
                <a:ea typeface="Montserrat" pitchFamily="34" charset="-122"/>
                <a:cs typeface="Montserrat" pitchFamily="34" charset="-120"/>
              </a:rPr>
              <a:t>utilisateur</a:t>
            </a:r>
            <a:endParaRPr lang="en-US" sz="1750" dirty="0">
              <a:solidFill>
                <a:srgbClr val="67534F"/>
              </a:solidFill>
              <a:latin typeface="Montserrat" pitchFamily="34" charset="0"/>
              <a:ea typeface="Montserrat" pitchFamily="34" charset="-122"/>
              <a:cs typeface="Montserrat" pitchFamily="34" charset="-120"/>
            </a:endParaRP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L'utilisateur</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peut</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accéder</a:t>
            </a:r>
            <a:r>
              <a:rPr lang="en-US" sz="1750" dirty="0">
                <a:solidFill>
                  <a:srgbClr val="67534F"/>
                </a:solidFill>
                <a:latin typeface="Montserrat" pitchFamily="34" charset="0"/>
                <a:ea typeface="Montserrat" pitchFamily="34" charset="-122"/>
                <a:cs typeface="Montserrat" pitchFamily="34" charset="-120"/>
              </a:rPr>
              <a:t> au </a:t>
            </a:r>
            <a:r>
              <a:rPr lang="en-US" sz="1750" dirty="0" err="1">
                <a:solidFill>
                  <a:srgbClr val="67534F"/>
                </a:solidFill>
                <a:latin typeface="Montserrat" pitchFamily="34" charset="0"/>
                <a:ea typeface="Montserrat" pitchFamily="34" charset="-122"/>
                <a:cs typeface="Montserrat" pitchFamily="34" charset="-120"/>
              </a:rPr>
              <a:t>fichier</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depuis</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d'autres</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nœuds</a:t>
            </a:r>
            <a:endParaRPr lang="en-US" sz="1750" dirty="0"/>
          </a:p>
        </p:txBody>
      </p:sp>
    </p:spTree>
    <p:extLst>
      <p:ext uri="{BB962C8B-B14F-4D97-AF65-F5344CB8AC3E}">
        <p14:creationId xmlns:p14="http://schemas.microsoft.com/office/powerpoint/2010/main" val="1766654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3B4B0-666E-B153-DF3A-16B68A11F34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10CE8A0-3680-639F-1DBD-2E3BE852C6F7}"/>
              </a:ext>
            </a:extLst>
          </p:cNvPr>
          <p:cNvSpPr/>
          <p:nvPr/>
        </p:nvSpPr>
        <p:spPr>
          <a:xfrm>
            <a:off x="727529" y="157218"/>
            <a:ext cx="9448086" cy="508516"/>
          </a:xfrm>
          <a:prstGeom prst="rect">
            <a:avLst/>
          </a:prstGeom>
          <a:noFill/>
          <a:ln/>
        </p:spPr>
        <p:txBody>
          <a:bodyPr wrap="none" lIns="0" tIns="0" rIns="0" bIns="0" rtlCol="0" anchor="t"/>
          <a:lstStyle/>
          <a:p>
            <a:pPr marL="0" indent="0" algn="l">
              <a:lnSpc>
                <a:spcPts val="4000"/>
              </a:lnSpc>
              <a:buNone/>
            </a:pPr>
            <a:r>
              <a:rPr lang="en-US" sz="3050" dirty="0">
                <a:solidFill>
                  <a:srgbClr val="7D3E2C"/>
                </a:solidFill>
                <a:latin typeface="Marcellus" pitchFamily="34" charset="0"/>
                <a:ea typeface="Marcellus" pitchFamily="34" charset="-122"/>
                <a:cs typeface="Marcellus" pitchFamily="34" charset="-120"/>
              </a:rPr>
              <a:t>VII. DESCRIPTION TEXTUELLE DES CAS D'UTILISATION</a:t>
            </a:r>
            <a:endParaRPr lang="en-US" sz="3050" dirty="0"/>
          </a:p>
        </p:txBody>
      </p:sp>
      <p:sp>
        <p:nvSpPr>
          <p:cNvPr id="9" name="Shape 7">
            <a:extLst>
              <a:ext uri="{FF2B5EF4-FFF2-40B4-BE49-F238E27FC236}">
                <a16:creationId xmlns:a16="http://schemas.microsoft.com/office/drawing/2014/main" id="{A7CC4C9D-A7C3-2F8C-24CB-8A98861E26E7}"/>
              </a:ext>
            </a:extLst>
          </p:cNvPr>
          <p:cNvSpPr/>
          <p:nvPr/>
        </p:nvSpPr>
        <p:spPr>
          <a:xfrm>
            <a:off x="1934817" y="968611"/>
            <a:ext cx="12404035" cy="7150630"/>
          </a:xfrm>
          <a:prstGeom prst="roundRect">
            <a:avLst>
              <a:gd name="adj" fmla="val 2270"/>
            </a:avLst>
          </a:prstGeom>
          <a:solidFill>
            <a:srgbClr val="FFFFF4">
              <a:alpha val="95000"/>
            </a:srgbClr>
          </a:solidFill>
          <a:ln w="30480">
            <a:solidFill>
              <a:srgbClr val="FFE0CC"/>
            </a:solidFill>
            <a:prstDash val="solid"/>
          </a:ln>
        </p:spPr>
        <p:txBody>
          <a:bodyPr/>
          <a:lstStyle/>
          <a:p>
            <a:endParaRPr lang="fr-US"/>
          </a:p>
        </p:txBody>
      </p:sp>
      <p:sp>
        <p:nvSpPr>
          <p:cNvPr id="10" name="Text 8">
            <a:extLst>
              <a:ext uri="{FF2B5EF4-FFF2-40B4-BE49-F238E27FC236}">
                <a16:creationId xmlns:a16="http://schemas.microsoft.com/office/drawing/2014/main" id="{BC3CAC7F-4262-F90F-F646-046ADE827185}"/>
              </a:ext>
            </a:extLst>
          </p:cNvPr>
          <p:cNvSpPr/>
          <p:nvPr/>
        </p:nvSpPr>
        <p:spPr>
          <a:xfrm>
            <a:off x="2425148" y="1358505"/>
            <a:ext cx="9780104" cy="513546"/>
          </a:xfrm>
          <a:prstGeom prst="rect">
            <a:avLst/>
          </a:prstGeom>
          <a:noFill/>
          <a:ln/>
        </p:spPr>
        <p:txBody>
          <a:bodyPr wrap="square" lIns="0" tIns="0" rIns="0" bIns="0" rtlCol="0" anchor="t"/>
          <a:lstStyle/>
          <a:p>
            <a:pPr marL="0" indent="0" algn="l">
              <a:lnSpc>
                <a:spcPts val="3300"/>
              </a:lnSpc>
              <a:buNone/>
            </a:pPr>
            <a:r>
              <a:rPr lang="en-US" sz="2550" dirty="0">
                <a:solidFill>
                  <a:srgbClr val="FF954F"/>
                </a:solidFill>
                <a:latin typeface="Marcellus" pitchFamily="34" charset="0"/>
                <a:ea typeface="Marcellus" pitchFamily="34" charset="-122"/>
                <a:cs typeface="Marcellus" pitchFamily="34" charset="-120"/>
              </a:rPr>
              <a:t>   CU6 : Modifier un  </a:t>
            </a:r>
            <a:r>
              <a:rPr lang="en-US" sz="2550" dirty="0" err="1">
                <a:solidFill>
                  <a:srgbClr val="FF954F"/>
                </a:solidFill>
                <a:latin typeface="Marcellus" pitchFamily="34" charset="0"/>
                <a:ea typeface="Marcellus" pitchFamily="34" charset="-122"/>
                <a:cs typeface="Marcellus" pitchFamily="34" charset="-120"/>
              </a:rPr>
              <a:t>fichier</a:t>
            </a:r>
            <a:r>
              <a:rPr lang="en-US" sz="2550" dirty="0">
                <a:solidFill>
                  <a:srgbClr val="FF954F"/>
                </a:solidFill>
                <a:latin typeface="Marcellus" pitchFamily="34" charset="0"/>
                <a:ea typeface="Marcellus" pitchFamily="34" charset="-122"/>
                <a:cs typeface="Marcellus" pitchFamily="34" charset="-120"/>
              </a:rPr>
              <a:t> par </a:t>
            </a:r>
            <a:r>
              <a:rPr lang="en-US" sz="2550" dirty="0" err="1">
                <a:solidFill>
                  <a:srgbClr val="FF954F"/>
                </a:solidFill>
                <a:latin typeface="Marcellus" pitchFamily="34" charset="0"/>
                <a:ea typeface="Marcellus" pitchFamily="34" charset="-122"/>
                <a:cs typeface="Marcellus" pitchFamily="34" charset="-120"/>
              </a:rPr>
              <a:t>l’utilisateur</a:t>
            </a:r>
            <a:r>
              <a:rPr lang="en-US" sz="2550" dirty="0">
                <a:solidFill>
                  <a:srgbClr val="FF954F"/>
                </a:solidFill>
                <a:latin typeface="Marcellus" pitchFamily="34" charset="0"/>
                <a:ea typeface="Marcellus" pitchFamily="34" charset="-122"/>
                <a:cs typeface="Marcellus" pitchFamily="34" charset="-120"/>
              </a:rPr>
              <a:t> </a:t>
            </a:r>
            <a:endParaRPr lang="en-US" sz="2550" dirty="0"/>
          </a:p>
        </p:txBody>
      </p:sp>
      <p:sp>
        <p:nvSpPr>
          <p:cNvPr id="11" name="Text 9">
            <a:extLst>
              <a:ext uri="{FF2B5EF4-FFF2-40B4-BE49-F238E27FC236}">
                <a16:creationId xmlns:a16="http://schemas.microsoft.com/office/drawing/2014/main" id="{FFE8D879-3087-E7CC-33F5-5CD1F5241602}"/>
              </a:ext>
            </a:extLst>
          </p:cNvPr>
          <p:cNvSpPr/>
          <p:nvPr/>
        </p:nvSpPr>
        <p:spPr>
          <a:xfrm>
            <a:off x="2640683" y="2052847"/>
            <a:ext cx="3681770" cy="294799"/>
          </a:xfrm>
          <a:prstGeom prst="rect">
            <a:avLst/>
          </a:prstGeom>
          <a:noFill/>
          <a:ln/>
        </p:spPr>
        <p:txBody>
          <a:bodyPr wrap="none" lIns="0" tIns="0" rIns="0" bIns="0" rtlCol="0" anchor="t"/>
          <a:lstStyle/>
          <a:p>
            <a:pPr marL="342900" indent="-342900" algn="l">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Acteur</a:t>
            </a:r>
            <a:r>
              <a:rPr lang="en-US" sz="1750" dirty="0">
                <a:solidFill>
                  <a:srgbClr val="67534F"/>
                </a:solidFill>
                <a:latin typeface="Montserrat" pitchFamily="34" charset="0"/>
                <a:ea typeface="Montserrat" pitchFamily="34" charset="-122"/>
                <a:cs typeface="Montserrat" pitchFamily="34" charset="-120"/>
              </a:rPr>
              <a:t> : </a:t>
            </a:r>
            <a:r>
              <a:rPr lang="en-US" sz="1750" dirty="0" err="1">
                <a:solidFill>
                  <a:srgbClr val="67534F"/>
                </a:solidFill>
                <a:latin typeface="Montserrat" pitchFamily="34" charset="0"/>
              </a:rPr>
              <a:t>Utilisateur</a:t>
            </a:r>
            <a:r>
              <a:rPr lang="en-US" sz="1750" dirty="0">
                <a:solidFill>
                  <a:srgbClr val="67534F"/>
                </a:solidFill>
                <a:latin typeface="Montserrat" pitchFamily="34" charset="0"/>
              </a:rPr>
              <a:t> final </a:t>
            </a:r>
          </a:p>
        </p:txBody>
      </p:sp>
      <p:sp>
        <p:nvSpPr>
          <p:cNvPr id="12" name="Text 10">
            <a:extLst>
              <a:ext uri="{FF2B5EF4-FFF2-40B4-BE49-F238E27FC236}">
                <a16:creationId xmlns:a16="http://schemas.microsoft.com/office/drawing/2014/main" id="{C8B6DE3A-00E7-FDEB-A272-906E7D87CBD7}"/>
              </a:ext>
            </a:extLst>
          </p:cNvPr>
          <p:cNvSpPr/>
          <p:nvPr/>
        </p:nvSpPr>
        <p:spPr>
          <a:xfrm>
            <a:off x="2640683" y="2650523"/>
            <a:ext cx="9097628" cy="997354"/>
          </a:xfrm>
          <a:prstGeom prst="rect">
            <a:avLst/>
          </a:prstGeom>
          <a:noFill/>
          <a:ln/>
        </p:spPr>
        <p:txBody>
          <a:bodyPr wrap="square" lIns="0" tIns="0" rIns="0" bIns="0" rtlCol="0" anchor="t"/>
          <a:lstStyle/>
          <a:p>
            <a:pPr marL="342900" indent="-342900">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Description</a:t>
            </a:r>
            <a:r>
              <a:rPr lang="en-US" sz="1750" dirty="0">
                <a:solidFill>
                  <a:srgbClr val="67534F"/>
                </a:solidFill>
                <a:latin typeface="Montserrat" pitchFamily="34" charset="0"/>
                <a:ea typeface="Montserrat" pitchFamily="34" charset="-122"/>
                <a:cs typeface="Montserrat" pitchFamily="34" charset="-120"/>
              </a:rPr>
              <a:t> : </a:t>
            </a:r>
            <a:r>
              <a:rPr lang="fr-FR" sz="1750" dirty="0">
                <a:solidFill>
                  <a:srgbClr val="67534F"/>
                </a:solidFill>
                <a:latin typeface="Montserrat" pitchFamily="34" charset="0"/>
              </a:rPr>
              <a:t>L'utilisateur interagit normalement avec les fichiers dans les répertoires surveillés, bénéficiant d'une synchronisation transparente sans action supplémentaire requise.</a:t>
            </a:r>
            <a:endParaRPr lang="en-US" sz="1750" dirty="0">
              <a:solidFill>
                <a:srgbClr val="67534F"/>
              </a:solidFill>
              <a:latin typeface="Montserrat" pitchFamily="34" charset="0"/>
            </a:endParaRPr>
          </a:p>
        </p:txBody>
      </p:sp>
      <p:sp>
        <p:nvSpPr>
          <p:cNvPr id="13" name="Text 11">
            <a:extLst>
              <a:ext uri="{FF2B5EF4-FFF2-40B4-BE49-F238E27FC236}">
                <a16:creationId xmlns:a16="http://schemas.microsoft.com/office/drawing/2014/main" id="{6FAFC782-D4DE-9777-7315-68618195A5D1}"/>
              </a:ext>
            </a:extLst>
          </p:cNvPr>
          <p:cNvSpPr/>
          <p:nvPr/>
        </p:nvSpPr>
        <p:spPr>
          <a:xfrm>
            <a:off x="2640683" y="3789730"/>
            <a:ext cx="9512727" cy="884396"/>
          </a:xfrm>
          <a:prstGeom prst="rect">
            <a:avLst/>
          </a:prstGeom>
          <a:noFill/>
          <a:ln/>
        </p:spPr>
        <p:txBody>
          <a:bodyPr wrap="square" lIns="0" tIns="0" rIns="0" bIns="0" rtlCol="0" anchor="t"/>
          <a:lstStyle/>
          <a:p>
            <a:pPr marL="342900" indent="-342900" algn="l">
              <a:lnSpc>
                <a:spcPts val="2300"/>
              </a:lnSpc>
              <a:buSzPct val="100000"/>
              <a:buChar char="•"/>
            </a:pPr>
            <a:r>
              <a:rPr lang="en-US" sz="1750" b="1" dirty="0" err="1">
                <a:solidFill>
                  <a:srgbClr val="67534F"/>
                </a:solidFill>
                <a:latin typeface="Montserrat" pitchFamily="34" charset="0"/>
                <a:ea typeface="Montserrat" pitchFamily="34" charset="-122"/>
                <a:cs typeface="Montserrat" pitchFamily="34" charset="-120"/>
              </a:rPr>
              <a:t>Précondition</a:t>
            </a:r>
            <a:r>
              <a:rPr lang="en-US" sz="1750" dirty="0">
                <a:solidFill>
                  <a:srgbClr val="67534F"/>
                </a:solidFill>
                <a:latin typeface="Montserrat" pitchFamily="34" charset="0"/>
                <a:ea typeface="Montserrat" pitchFamily="34" charset="-122"/>
                <a:cs typeface="Montserrat" pitchFamily="34" charset="-120"/>
              </a:rPr>
              <a:t> : Le repertoire </a:t>
            </a:r>
            <a:r>
              <a:rPr lang="en-US" sz="1750" dirty="0" err="1">
                <a:solidFill>
                  <a:srgbClr val="67534F"/>
                </a:solidFill>
                <a:latin typeface="Montserrat" pitchFamily="34" charset="0"/>
                <a:ea typeface="Montserrat" pitchFamily="34" charset="-122"/>
                <a:cs typeface="Montserrat" pitchFamily="34" charset="-120"/>
              </a:rPr>
              <a:t>est</a:t>
            </a:r>
            <a:r>
              <a:rPr lang="en-US" sz="1750" dirty="0">
                <a:solidFill>
                  <a:srgbClr val="67534F"/>
                </a:solidFill>
                <a:latin typeface="Montserrat" pitchFamily="34" charset="0"/>
                <a:ea typeface="Montserrat" pitchFamily="34" charset="-122"/>
                <a:cs typeface="Montserrat" pitchFamily="34" charset="-120"/>
              </a:rPr>
              <a:t> configure pour la surveillance DFR, </a:t>
            </a:r>
            <a:r>
              <a:rPr lang="en-US" sz="1750" dirty="0" err="1">
                <a:solidFill>
                  <a:srgbClr val="67534F"/>
                </a:solidFill>
                <a:latin typeface="Montserrat" pitchFamily="34" charset="0"/>
                <a:ea typeface="Montserrat" pitchFamily="34" charset="-122"/>
                <a:cs typeface="Montserrat" pitchFamily="34" charset="-120"/>
              </a:rPr>
              <a:t>l’utlisateur</a:t>
            </a:r>
            <a:r>
              <a:rPr lang="en-US" sz="1750" dirty="0">
                <a:solidFill>
                  <a:srgbClr val="67534F"/>
                </a:solidFill>
                <a:latin typeface="Montserrat" pitchFamily="34" charset="0"/>
                <a:ea typeface="Montserrat" pitchFamily="34" charset="-122"/>
                <a:cs typeface="Montserrat" pitchFamily="34" charset="-120"/>
              </a:rPr>
              <a:t> dispose des permissions et le DFR </a:t>
            </a:r>
            <a:r>
              <a:rPr lang="en-US" sz="1750" dirty="0" err="1">
                <a:solidFill>
                  <a:srgbClr val="67534F"/>
                </a:solidFill>
                <a:latin typeface="Montserrat" pitchFamily="34" charset="0"/>
                <a:ea typeface="Montserrat" pitchFamily="34" charset="-122"/>
                <a:cs typeface="Montserrat" pitchFamily="34" charset="-120"/>
              </a:rPr>
              <a:t>est</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opérationnel</a:t>
            </a:r>
            <a:r>
              <a:rPr lang="en-US" sz="1750" dirty="0">
                <a:solidFill>
                  <a:srgbClr val="67534F"/>
                </a:solidFill>
                <a:latin typeface="Montserrat" pitchFamily="34" charset="0"/>
                <a:ea typeface="Montserrat" pitchFamily="34" charset="-122"/>
                <a:cs typeface="Montserrat" pitchFamily="34" charset="-120"/>
              </a:rPr>
              <a:t> sur le </a:t>
            </a:r>
            <a:r>
              <a:rPr lang="en-US" sz="1750" dirty="0" err="1">
                <a:solidFill>
                  <a:srgbClr val="67534F"/>
                </a:solidFill>
                <a:latin typeface="Montserrat" pitchFamily="34" charset="0"/>
                <a:ea typeface="Montserrat" pitchFamily="34" charset="-122"/>
                <a:cs typeface="Montserrat" pitchFamily="34" charset="-120"/>
              </a:rPr>
              <a:t>noeud</a:t>
            </a:r>
            <a:r>
              <a:rPr lang="en-US" sz="1750" dirty="0">
                <a:solidFill>
                  <a:srgbClr val="67534F"/>
                </a:solidFill>
                <a:latin typeface="Montserrat" pitchFamily="34" charset="0"/>
                <a:ea typeface="Montserrat" pitchFamily="34" charset="-122"/>
                <a:cs typeface="Montserrat" pitchFamily="34" charset="-120"/>
              </a:rPr>
              <a:t> local</a:t>
            </a:r>
            <a:endParaRPr lang="en-US" sz="1750" dirty="0"/>
          </a:p>
        </p:txBody>
      </p:sp>
      <p:sp>
        <p:nvSpPr>
          <p:cNvPr id="14" name="Text 12">
            <a:extLst>
              <a:ext uri="{FF2B5EF4-FFF2-40B4-BE49-F238E27FC236}">
                <a16:creationId xmlns:a16="http://schemas.microsoft.com/office/drawing/2014/main" id="{5F13CF86-FBF5-1B80-EC82-8B082AD8EAC2}"/>
              </a:ext>
            </a:extLst>
          </p:cNvPr>
          <p:cNvSpPr/>
          <p:nvPr/>
        </p:nvSpPr>
        <p:spPr>
          <a:xfrm>
            <a:off x="2640683" y="4564046"/>
            <a:ext cx="9234431" cy="672033"/>
          </a:xfrm>
          <a:prstGeom prst="rect">
            <a:avLst/>
          </a:prstGeom>
          <a:noFill/>
          <a:ln/>
        </p:spPr>
        <p:txBody>
          <a:bodyPr wrap="square" lIns="0" tIns="0" rIns="0" bIns="0" rtlCol="0" anchor="t"/>
          <a:lstStyle/>
          <a:p>
            <a:pPr marL="342900" indent="-342900" algn="l">
              <a:lnSpc>
                <a:spcPts val="2300"/>
              </a:lnSpc>
              <a:buSzPct val="100000"/>
              <a:buChar char="•"/>
            </a:pPr>
            <a:r>
              <a:rPr lang="en-US" sz="1750" b="1" dirty="0">
                <a:solidFill>
                  <a:srgbClr val="67534F"/>
                </a:solidFill>
                <a:latin typeface="Montserrat" pitchFamily="34" charset="0"/>
                <a:ea typeface="Montserrat" pitchFamily="34" charset="-122"/>
                <a:cs typeface="Montserrat" pitchFamily="34" charset="-120"/>
              </a:rPr>
              <a:t>Postcondition</a:t>
            </a:r>
            <a:r>
              <a:rPr lang="en-US" sz="1750" dirty="0">
                <a:solidFill>
                  <a:srgbClr val="67534F"/>
                </a:solidFill>
                <a:latin typeface="Montserrat" pitchFamily="34" charset="0"/>
                <a:ea typeface="Montserrat" pitchFamily="34" charset="-122"/>
                <a:cs typeface="Montserrat" pitchFamily="34" charset="-120"/>
              </a:rPr>
              <a:t> : Le </a:t>
            </a:r>
            <a:r>
              <a:rPr lang="en-US" sz="1750" dirty="0" err="1">
                <a:solidFill>
                  <a:srgbClr val="67534F"/>
                </a:solidFill>
                <a:latin typeface="Montserrat" pitchFamily="34" charset="0"/>
                <a:ea typeface="Montserrat" pitchFamily="34" charset="-122"/>
                <a:cs typeface="Montserrat" pitchFamily="34" charset="-120"/>
              </a:rPr>
              <a:t>fichier</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est</a:t>
            </a:r>
            <a:r>
              <a:rPr lang="en-US" sz="1750" dirty="0">
                <a:solidFill>
                  <a:srgbClr val="67534F"/>
                </a:solidFill>
                <a:latin typeface="Montserrat" pitchFamily="34" charset="0"/>
                <a:ea typeface="Montserrat" pitchFamily="34" charset="-122"/>
                <a:cs typeface="Montserrat" pitchFamily="34" charset="-120"/>
              </a:rPr>
              <a:t> disponible, la replication se fait </a:t>
            </a:r>
            <a:r>
              <a:rPr lang="en-US" sz="1750" dirty="0" err="1">
                <a:solidFill>
                  <a:srgbClr val="67534F"/>
                </a:solidFill>
                <a:latin typeface="Montserrat" pitchFamily="34" charset="0"/>
                <a:ea typeface="Montserrat" pitchFamily="34" charset="-122"/>
                <a:cs typeface="Montserrat" pitchFamily="34" charset="-120"/>
              </a:rPr>
              <a:t>automatiquement</a:t>
            </a:r>
            <a:r>
              <a:rPr lang="en-US" sz="1750" dirty="0">
                <a:solidFill>
                  <a:srgbClr val="67534F"/>
                </a:solidFill>
                <a:latin typeface="Montserrat" pitchFamily="34" charset="0"/>
                <a:ea typeface="Montserrat" pitchFamily="34" charset="-122"/>
                <a:cs typeface="Montserrat" pitchFamily="34" charset="-120"/>
              </a:rPr>
              <a:t> </a:t>
            </a:r>
            <a:endParaRPr lang="en-US" sz="1750" dirty="0"/>
          </a:p>
        </p:txBody>
      </p:sp>
      <p:sp>
        <p:nvSpPr>
          <p:cNvPr id="18" name="Text 16">
            <a:extLst>
              <a:ext uri="{FF2B5EF4-FFF2-40B4-BE49-F238E27FC236}">
                <a16:creationId xmlns:a16="http://schemas.microsoft.com/office/drawing/2014/main" id="{8DF6844C-0D08-D4AA-3321-291B18D72FE6}"/>
              </a:ext>
            </a:extLst>
          </p:cNvPr>
          <p:cNvSpPr/>
          <p:nvPr/>
        </p:nvSpPr>
        <p:spPr>
          <a:xfrm>
            <a:off x="9897427" y="3574137"/>
            <a:ext cx="3681770" cy="884396"/>
          </a:xfrm>
          <a:prstGeom prst="rect">
            <a:avLst/>
          </a:prstGeom>
          <a:noFill/>
          <a:ln/>
        </p:spPr>
        <p:txBody>
          <a:bodyPr wrap="square" lIns="0" tIns="0" rIns="0" bIns="0" rtlCol="0" anchor="t"/>
          <a:lstStyle/>
          <a:p>
            <a:pPr marL="342900" indent="-342900" algn="l">
              <a:lnSpc>
                <a:spcPts val="2300"/>
              </a:lnSpc>
              <a:buSzPct val="100000"/>
              <a:buChar char="•"/>
            </a:pPr>
            <a:endParaRPr lang="en-US" sz="1750" dirty="0"/>
          </a:p>
        </p:txBody>
      </p:sp>
      <p:sp>
        <p:nvSpPr>
          <p:cNvPr id="20" name="Text 18">
            <a:extLst>
              <a:ext uri="{FF2B5EF4-FFF2-40B4-BE49-F238E27FC236}">
                <a16:creationId xmlns:a16="http://schemas.microsoft.com/office/drawing/2014/main" id="{4AEB7D29-623C-031D-DD02-E11FE6A333E2}"/>
              </a:ext>
            </a:extLst>
          </p:cNvPr>
          <p:cNvSpPr/>
          <p:nvPr/>
        </p:nvSpPr>
        <p:spPr>
          <a:xfrm>
            <a:off x="9897427" y="5206722"/>
            <a:ext cx="3681770" cy="589598"/>
          </a:xfrm>
          <a:prstGeom prst="rect">
            <a:avLst/>
          </a:prstGeom>
          <a:noFill/>
          <a:ln/>
        </p:spPr>
        <p:txBody>
          <a:bodyPr wrap="square" lIns="0" tIns="0" rIns="0" bIns="0" rtlCol="0" anchor="t"/>
          <a:lstStyle/>
          <a:p>
            <a:pPr marL="342900" indent="-342900" algn="l">
              <a:lnSpc>
                <a:spcPts val="2300"/>
              </a:lnSpc>
              <a:buSzPct val="100000"/>
              <a:buChar char="•"/>
            </a:pPr>
            <a:endParaRPr lang="en-US" sz="1750" dirty="0"/>
          </a:p>
        </p:txBody>
      </p:sp>
      <p:sp>
        <p:nvSpPr>
          <p:cNvPr id="21" name="Rectangle 20">
            <a:extLst>
              <a:ext uri="{FF2B5EF4-FFF2-40B4-BE49-F238E27FC236}">
                <a16:creationId xmlns:a16="http://schemas.microsoft.com/office/drawing/2014/main" id="{46B127DA-2AA5-58EA-817F-519CAC304E70}"/>
              </a:ext>
            </a:extLst>
          </p:cNvPr>
          <p:cNvSpPr/>
          <p:nvPr/>
        </p:nvSpPr>
        <p:spPr>
          <a:xfrm>
            <a:off x="12691241" y="7662041"/>
            <a:ext cx="1939159" cy="457200"/>
          </a:xfrm>
          <a:prstGeom prst="rect">
            <a:avLst/>
          </a:prstGeom>
          <a:solidFill>
            <a:srgbClr val="FDFCF1"/>
          </a:solidFill>
          <a:ln>
            <a:solidFill>
              <a:srgbClr val="FD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Text 6">
            <a:extLst>
              <a:ext uri="{FF2B5EF4-FFF2-40B4-BE49-F238E27FC236}">
                <a16:creationId xmlns:a16="http://schemas.microsoft.com/office/drawing/2014/main" id="{17107926-17CD-1FC6-30A5-C01DED41C016}"/>
              </a:ext>
            </a:extLst>
          </p:cNvPr>
          <p:cNvSpPr/>
          <p:nvPr/>
        </p:nvSpPr>
        <p:spPr>
          <a:xfrm>
            <a:off x="2640683" y="5240017"/>
            <a:ext cx="10359700" cy="1492087"/>
          </a:xfrm>
          <a:prstGeom prst="rect">
            <a:avLst/>
          </a:prstGeom>
          <a:noFill/>
          <a:ln/>
        </p:spPr>
        <p:txBody>
          <a:bodyPr wrap="square" lIns="0" tIns="0" rIns="0" bIns="0" rtlCol="0" anchor="t"/>
          <a:lstStyle/>
          <a:p>
            <a:pPr marL="342900" indent="-342900">
              <a:lnSpc>
                <a:spcPts val="2300"/>
              </a:lnSpc>
              <a:buSzPct val="100000"/>
              <a:buChar char="•"/>
            </a:pPr>
            <a:r>
              <a:rPr lang="en-US" sz="1750" b="1" dirty="0" err="1">
                <a:solidFill>
                  <a:srgbClr val="67534F"/>
                </a:solidFill>
                <a:latin typeface="Montserrat" pitchFamily="34" charset="0"/>
                <a:ea typeface="Montserrat" pitchFamily="34" charset="-122"/>
                <a:cs typeface="Montserrat" pitchFamily="34" charset="-120"/>
              </a:rPr>
              <a:t>Scénario</a:t>
            </a:r>
            <a:r>
              <a:rPr lang="en-US" sz="1750" b="1" dirty="0">
                <a:solidFill>
                  <a:srgbClr val="67534F"/>
                </a:solidFill>
                <a:latin typeface="Montserrat" pitchFamily="34" charset="0"/>
                <a:ea typeface="Montserrat" pitchFamily="34" charset="-122"/>
                <a:cs typeface="Montserrat" pitchFamily="34" charset="-120"/>
              </a:rPr>
              <a:t> nominal</a:t>
            </a:r>
            <a:r>
              <a:rPr lang="en-US" sz="1750" dirty="0">
                <a:solidFill>
                  <a:srgbClr val="67534F"/>
                </a:solidFill>
                <a:latin typeface="Montserrat" pitchFamily="34" charset="0"/>
                <a:ea typeface="Montserrat" pitchFamily="34" charset="-122"/>
                <a:cs typeface="Montserrat" pitchFamily="34" charset="-120"/>
              </a:rPr>
              <a:t> : </a:t>
            </a:r>
            <a:r>
              <a:rPr lang="en-US" sz="1750" dirty="0" err="1">
                <a:solidFill>
                  <a:srgbClr val="67534F"/>
                </a:solidFill>
                <a:latin typeface="Montserrat" pitchFamily="34" charset="0"/>
                <a:ea typeface="Montserrat" pitchFamily="34" charset="-122"/>
                <a:cs typeface="Montserrat" pitchFamily="34" charset="-120"/>
              </a:rPr>
              <a:t>L'utilisateur</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crée</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modifie</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renomme</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ou</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supprime</a:t>
            </a:r>
            <a:r>
              <a:rPr lang="en-US" sz="1750" dirty="0">
                <a:solidFill>
                  <a:srgbClr val="67534F"/>
                </a:solidFill>
                <a:latin typeface="Montserrat" pitchFamily="34" charset="0"/>
                <a:ea typeface="Montserrat" pitchFamily="34" charset="-122"/>
                <a:cs typeface="Montserrat" pitchFamily="34" charset="-120"/>
              </a:rPr>
              <a:t> un </a:t>
            </a:r>
            <a:r>
              <a:rPr lang="en-US" sz="1750" dirty="0" err="1">
                <a:solidFill>
                  <a:srgbClr val="67534F"/>
                </a:solidFill>
                <a:latin typeface="Montserrat" pitchFamily="34" charset="0"/>
                <a:ea typeface="Montserrat" pitchFamily="34" charset="-122"/>
                <a:cs typeface="Montserrat" pitchFamily="34" charset="-120"/>
              </a:rPr>
              <a:t>fichier</a:t>
            </a:r>
            <a:endParaRPr lang="en-US" sz="1750" dirty="0">
              <a:solidFill>
                <a:srgbClr val="67534F"/>
              </a:solidFill>
              <a:latin typeface="Montserrat" pitchFamily="34" charset="0"/>
              <a:ea typeface="Montserrat" pitchFamily="34" charset="-122"/>
              <a:cs typeface="Montserrat" pitchFamily="34" charset="-120"/>
            </a:endParaRP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Le </a:t>
            </a:r>
            <a:r>
              <a:rPr lang="en-US" sz="1750" dirty="0" err="1">
                <a:solidFill>
                  <a:srgbClr val="67534F"/>
                </a:solidFill>
                <a:latin typeface="Montserrat" pitchFamily="34" charset="0"/>
                <a:ea typeface="Montserrat" pitchFamily="34" charset="-122"/>
                <a:cs typeface="Montserrat" pitchFamily="34" charset="-120"/>
              </a:rPr>
              <a:t>système</a:t>
            </a:r>
            <a:r>
              <a:rPr lang="en-US" sz="1750" dirty="0">
                <a:solidFill>
                  <a:srgbClr val="67534F"/>
                </a:solidFill>
                <a:latin typeface="Montserrat" pitchFamily="34" charset="0"/>
                <a:ea typeface="Montserrat" pitchFamily="34" charset="-122"/>
                <a:cs typeface="Montserrat" pitchFamily="34" charset="-120"/>
              </a:rPr>
              <a:t> DFR </a:t>
            </a:r>
            <a:r>
              <a:rPr lang="en-US" sz="1750" dirty="0" err="1">
                <a:solidFill>
                  <a:srgbClr val="67534F"/>
                </a:solidFill>
                <a:latin typeface="Montserrat" pitchFamily="34" charset="0"/>
                <a:ea typeface="Montserrat" pitchFamily="34" charset="-122"/>
                <a:cs typeface="Montserrat" pitchFamily="34" charset="-120"/>
              </a:rPr>
              <a:t>détecte</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automatiquement</a:t>
            </a:r>
            <a:r>
              <a:rPr lang="en-US" sz="1750" dirty="0">
                <a:solidFill>
                  <a:srgbClr val="67534F"/>
                </a:solidFill>
                <a:latin typeface="Montserrat" pitchFamily="34" charset="0"/>
                <a:ea typeface="Montserrat" pitchFamily="34" charset="-122"/>
                <a:cs typeface="Montserrat" pitchFamily="34" charset="-120"/>
              </a:rPr>
              <a:t> le </a:t>
            </a:r>
            <a:r>
              <a:rPr lang="en-US" sz="1750" dirty="0" err="1">
                <a:solidFill>
                  <a:srgbClr val="67534F"/>
                </a:solidFill>
                <a:latin typeface="Montserrat" pitchFamily="34" charset="0"/>
                <a:ea typeface="Montserrat" pitchFamily="34" charset="-122"/>
                <a:cs typeface="Montserrat" pitchFamily="34" charset="-120"/>
              </a:rPr>
              <a:t>changement</a:t>
            </a:r>
            <a:r>
              <a:rPr lang="en-US" sz="1750" dirty="0">
                <a:solidFill>
                  <a:srgbClr val="67534F"/>
                </a:solidFill>
                <a:latin typeface="Montserrat" pitchFamily="34" charset="0"/>
                <a:ea typeface="Montserrat" pitchFamily="34" charset="-122"/>
                <a:cs typeface="Montserrat" pitchFamily="34" charset="-120"/>
              </a:rPr>
              <a:t> (CU1)</a:t>
            </a: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Evaluation de la presence de </a:t>
            </a:r>
            <a:r>
              <a:rPr lang="en-US" sz="1750" dirty="0" err="1">
                <a:solidFill>
                  <a:srgbClr val="67534F"/>
                </a:solidFill>
                <a:latin typeface="Montserrat" pitchFamily="34" charset="0"/>
                <a:ea typeface="Montserrat" pitchFamily="34" charset="-122"/>
                <a:cs typeface="Montserrat" pitchFamily="34" charset="-120"/>
              </a:rPr>
              <a:t>conflit</a:t>
            </a:r>
            <a:r>
              <a:rPr lang="en-US" sz="1750" dirty="0">
                <a:solidFill>
                  <a:srgbClr val="67534F"/>
                </a:solidFill>
                <a:latin typeface="Montserrat" pitchFamily="34" charset="0"/>
                <a:ea typeface="Montserrat" pitchFamily="34" charset="-122"/>
                <a:cs typeface="Montserrat" pitchFamily="34" charset="-120"/>
              </a:rPr>
              <a:t> , </a:t>
            </a:r>
            <a:r>
              <a:rPr lang="en-US" sz="1750" dirty="0" err="1">
                <a:solidFill>
                  <a:srgbClr val="67534F"/>
                </a:solidFill>
                <a:latin typeface="Montserrat" pitchFamily="34" charset="0"/>
                <a:ea typeface="Montserrat" pitchFamily="34" charset="-122"/>
                <a:cs typeface="Montserrat" pitchFamily="34" charset="-120"/>
              </a:rPr>
              <a:t>si</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oui</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résolution</a:t>
            </a:r>
            <a:endParaRPr lang="en-US" sz="1750" dirty="0">
              <a:solidFill>
                <a:srgbClr val="67534F"/>
              </a:solidFill>
              <a:latin typeface="Montserrat" pitchFamily="34" charset="0"/>
              <a:ea typeface="Montserrat" pitchFamily="34" charset="-122"/>
              <a:cs typeface="Montserrat" pitchFamily="34" charset="-120"/>
            </a:endParaRP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 La </a:t>
            </a:r>
            <a:r>
              <a:rPr lang="en-US" sz="1750" dirty="0" err="1">
                <a:solidFill>
                  <a:srgbClr val="67534F"/>
                </a:solidFill>
                <a:latin typeface="Montserrat" pitchFamily="34" charset="0"/>
                <a:ea typeface="Montserrat" pitchFamily="34" charset="-122"/>
                <a:cs typeface="Montserrat" pitchFamily="34" charset="-120"/>
              </a:rPr>
              <a:t>synchronisation</a:t>
            </a:r>
            <a:r>
              <a:rPr lang="en-US" sz="1750" dirty="0">
                <a:solidFill>
                  <a:srgbClr val="67534F"/>
                </a:solidFill>
                <a:latin typeface="Montserrat" pitchFamily="34" charset="0"/>
                <a:ea typeface="Montserrat" pitchFamily="34" charset="-122"/>
                <a:cs typeface="Montserrat" pitchFamily="34" charset="-120"/>
              </a:rPr>
              <a:t> se </a:t>
            </a:r>
            <a:r>
              <a:rPr lang="en-US" sz="1750" dirty="0" err="1">
                <a:solidFill>
                  <a:srgbClr val="67534F"/>
                </a:solidFill>
                <a:latin typeface="Montserrat" pitchFamily="34" charset="0"/>
                <a:ea typeface="Montserrat" pitchFamily="34" charset="-122"/>
                <a:cs typeface="Montserrat" pitchFamily="34" charset="-120"/>
              </a:rPr>
              <a:t>produit</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en</a:t>
            </a:r>
            <a:r>
              <a:rPr lang="en-US" sz="1750" dirty="0">
                <a:solidFill>
                  <a:srgbClr val="67534F"/>
                </a:solidFill>
                <a:latin typeface="Montserrat" pitchFamily="34" charset="0"/>
                <a:ea typeface="Montserrat" pitchFamily="34" charset="-122"/>
                <a:cs typeface="Montserrat" pitchFamily="34" charset="-120"/>
              </a:rPr>
              <a:t> arrière-plan sans interaction </a:t>
            </a:r>
            <a:r>
              <a:rPr lang="en-US" sz="1750" dirty="0" err="1">
                <a:solidFill>
                  <a:srgbClr val="67534F"/>
                </a:solidFill>
                <a:latin typeface="Montserrat" pitchFamily="34" charset="0"/>
                <a:ea typeface="Montserrat" pitchFamily="34" charset="-122"/>
                <a:cs typeface="Montserrat" pitchFamily="34" charset="-120"/>
              </a:rPr>
              <a:t>utilisateur</a:t>
            </a:r>
            <a:endParaRPr lang="en-US" sz="1750" dirty="0">
              <a:solidFill>
                <a:srgbClr val="67534F"/>
              </a:solidFill>
              <a:latin typeface="Montserrat" pitchFamily="34" charset="0"/>
              <a:ea typeface="Montserrat" pitchFamily="34" charset="-122"/>
              <a:cs typeface="Montserrat" pitchFamily="34" charset="-120"/>
            </a:endParaRPr>
          </a:p>
          <a:p>
            <a:pPr marL="342900" indent="-342900">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L'utilisateur</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peut</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accéder</a:t>
            </a:r>
            <a:r>
              <a:rPr lang="en-US" sz="1750" dirty="0">
                <a:solidFill>
                  <a:srgbClr val="67534F"/>
                </a:solidFill>
                <a:latin typeface="Montserrat" pitchFamily="34" charset="0"/>
                <a:ea typeface="Montserrat" pitchFamily="34" charset="-122"/>
                <a:cs typeface="Montserrat" pitchFamily="34" charset="-120"/>
              </a:rPr>
              <a:t> au </a:t>
            </a:r>
            <a:r>
              <a:rPr lang="en-US" sz="1750" dirty="0" err="1">
                <a:solidFill>
                  <a:srgbClr val="67534F"/>
                </a:solidFill>
                <a:latin typeface="Montserrat" pitchFamily="34" charset="0"/>
                <a:ea typeface="Montserrat" pitchFamily="34" charset="-122"/>
                <a:cs typeface="Montserrat" pitchFamily="34" charset="-120"/>
              </a:rPr>
              <a:t>fichier</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depuis</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d'autres</a:t>
            </a:r>
            <a:r>
              <a:rPr lang="en-US" sz="1750" dirty="0">
                <a:solidFill>
                  <a:srgbClr val="67534F"/>
                </a:solidFill>
                <a:latin typeface="Montserrat" pitchFamily="34" charset="0"/>
                <a:ea typeface="Montserrat" pitchFamily="34" charset="-122"/>
                <a:cs typeface="Montserrat" pitchFamily="34" charset="-120"/>
              </a:rPr>
              <a:t> </a:t>
            </a:r>
            <a:r>
              <a:rPr lang="en-US" sz="1750" dirty="0" err="1">
                <a:solidFill>
                  <a:srgbClr val="67534F"/>
                </a:solidFill>
                <a:latin typeface="Montserrat" pitchFamily="34" charset="0"/>
                <a:ea typeface="Montserrat" pitchFamily="34" charset="-122"/>
                <a:cs typeface="Montserrat" pitchFamily="34" charset="-120"/>
              </a:rPr>
              <a:t>nœuds</a:t>
            </a:r>
            <a:endParaRPr lang="en-US" sz="1750" dirty="0"/>
          </a:p>
        </p:txBody>
      </p:sp>
    </p:spTree>
    <p:extLst>
      <p:ext uri="{BB962C8B-B14F-4D97-AF65-F5344CB8AC3E}">
        <p14:creationId xmlns:p14="http://schemas.microsoft.com/office/powerpoint/2010/main" val="1253409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427653"/>
            <a:ext cx="7128867" cy="508516"/>
          </a:xfrm>
          <a:prstGeom prst="rect">
            <a:avLst/>
          </a:prstGeom>
          <a:noFill/>
          <a:ln/>
        </p:spPr>
        <p:txBody>
          <a:bodyPr wrap="none" lIns="0" tIns="0" rIns="0" bIns="0" rtlCol="0" anchor="t"/>
          <a:lstStyle/>
          <a:p>
            <a:pPr marL="0" indent="0" algn="l">
              <a:lnSpc>
                <a:spcPts val="4000"/>
              </a:lnSpc>
              <a:buNone/>
            </a:pPr>
            <a:r>
              <a:rPr lang="en-US" sz="3050" dirty="0">
                <a:solidFill>
                  <a:srgbClr val="7D3E2C"/>
                </a:solidFill>
                <a:latin typeface="Marcellus" pitchFamily="34" charset="0"/>
                <a:ea typeface="Marcellus" pitchFamily="34" charset="-122"/>
                <a:cs typeface="Marcellus" pitchFamily="34" charset="-120"/>
              </a:rPr>
              <a:t>VI. DIAGRAMME DE CAS D'UTILISATION</a:t>
            </a:r>
            <a:endParaRPr lang="en-US" sz="3050" dirty="0"/>
          </a:p>
        </p:txBody>
      </p:sp>
      <p:sp>
        <p:nvSpPr>
          <p:cNvPr id="3" name="Text 1"/>
          <p:cNvSpPr/>
          <p:nvPr/>
        </p:nvSpPr>
        <p:spPr>
          <a:xfrm>
            <a:off x="793790" y="2756178"/>
            <a:ext cx="13042821" cy="368498"/>
          </a:xfrm>
          <a:prstGeom prst="rect">
            <a:avLst/>
          </a:prstGeom>
          <a:noFill/>
          <a:ln/>
        </p:spPr>
        <p:txBody>
          <a:bodyPr wrap="none" lIns="0" tIns="0" rIns="0" bIns="0" rtlCol="0" anchor="t"/>
          <a:lstStyle/>
          <a:p>
            <a:pPr marL="0" indent="0" algn="l">
              <a:lnSpc>
                <a:spcPts val="2900"/>
              </a:lnSpc>
              <a:buNone/>
            </a:pPr>
            <a:endParaRPr lang="en-US" sz="2200" dirty="0"/>
          </a:p>
        </p:txBody>
      </p:sp>
      <p:sp>
        <p:nvSpPr>
          <p:cNvPr id="8" name="Text 5"/>
          <p:cNvSpPr/>
          <p:nvPr/>
        </p:nvSpPr>
        <p:spPr>
          <a:xfrm>
            <a:off x="1251109" y="6858845"/>
            <a:ext cx="11647884" cy="2063591"/>
          </a:xfrm>
          <a:prstGeom prst="rect">
            <a:avLst/>
          </a:prstGeom>
          <a:noFill/>
          <a:ln/>
        </p:spPr>
        <p:txBody>
          <a:bodyPr wrap="square" lIns="0" tIns="0" rIns="0" bIns="0" rtlCol="0" anchor="t"/>
          <a:lstStyle/>
          <a:p>
            <a:pPr marL="0" indent="0" algn="l">
              <a:lnSpc>
                <a:spcPts val="2300"/>
              </a:lnSpc>
              <a:buNone/>
            </a:pPr>
            <a:endParaRPr lang="en-US" sz="1750" dirty="0"/>
          </a:p>
        </p:txBody>
      </p:sp>
      <p:sp>
        <p:nvSpPr>
          <p:cNvPr id="9" name="Rectangle 8"/>
          <p:cNvSpPr/>
          <p:nvPr/>
        </p:nvSpPr>
        <p:spPr>
          <a:xfrm>
            <a:off x="12691241" y="7662041"/>
            <a:ext cx="1939159" cy="457200"/>
          </a:xfrm>
          <a:prstGeom prst="rect">
            <a:avLst/>
          </a:prstGeom>
          <a:solidFill>
            <a:srgbClr val="FDFCF1"/>
          </a:solidFill>
          <a:ln>
            <a:solidFill>
              <a:srgbClr val="FD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Image 9">
            <a:extLst>
              <a:ext uri="{FF2B5EF4-FFF2-40B4-BE49-F238E27FC236}">
                <a16:creationId xmlns:a16="http://schemas.microsoft.com/office/drawing/2014/main" id="{56554789-5858-A445-5EB6-FC1A31EC993D}"/>
              </a:ext>
            </a:extLst>
          </p:cNvPr>
          <p:cNvPicPr>
            <a:picLocks noChangeAspect="1"/>
          </p:cNvPicPr>
          <p:nvPr/>
        </p:nvPicPr>
        <p:blipFill>
          <a:blip r:embed="rId3"/>
          <a:stretch>
            <a:fillRect/>
          </a:stretch>
        </p:blipFill>
        <p:spPr>
          <a:xfrm>
            <a:off x="361951" y="936169"/>
            <a:ext cx="13474660" cy="6725872"/>
          </a:xfrm>
          <a:prstGeom prst="rect">
            <a:avLst/>
          </a:prstGeom>
        </p:spPr>
      </p:pic>
      <p:cxnSp>
        <p:nvCxnSpPr>
          <p:cNvPr id="12" name="Connecteur droit avec flèche 11">
            <a:extLst>
              <a:ext uri="{FF2B5EF4-FFF2-40B4-BE49-F238E27FC236}">
                <a16:creationId xmlns:a16="http://schemas.microsoft.com/office/drawing/2014/main" id="{CE5947AC-0464-6599-93F7-DB7B04A4E24B}"/>
              </a:ext>
            </a:extLst>
          </p:cNvPr>
          <p:cNvCxnSpPr>
            <a:cxnSpLocks/>
          </p:cNvCxnSpPr>
          <p:nvPr/>
        </p:nvCxnSpPr>
        <p:spPr>
          <a:xfrm flipV="1">
            <a:off x="1483112" y="3708000"/>
            <a:ext cx="0" cy="406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 name="Rectangle 4">
            <a:extLst>
              <a:ext uri="{FF2B5EF4-FFF2-40B4-BE49-F238E27FC236}">
                <a16:creationId xmlns:a16="http://schemas.microsoft.com/office/drawing/2014/main" id="{AD619102-1417-5FA2-14AA-0DA2B6F22781}"/>
              </a:ext>
            </a:extLst>
          </p:cNvPr>
          <p:cNvSpPr/>
          <p:nvPr/>
        </p:nvSpPr>
        <p:spPr>
          <a:xfrm>
            <a:off x="6629400" y="6622143"/>
            <a:ext cx="870857" cy="3684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28330" y="394693"/>
            <a:ext cx="5000625" cy="452795"/>
          </a:xfrm>
          <a:prstGeom prst="rect">
            <a:avLst/>
          </a:prstGeom>
          <a:noFill/>
          <a:ln/>
        </p:spPr>
        <p:txBody>
          <a:bodyPr wrap="none" lIns="0" tIns="0" rIns="0" bIns="0" rtlCol="0" anchor="t"/>
          <a:lstStyle/>
          <a:p>
            <a:pPr marL="0" indent="0" algn="l">
              <a:lnSpc>
                <a:spcPts val="3550"/>
              </a:lnSpc>
              <a:buNone/>
            </a:pPr>
            <a:r>
              <a:rPr lang="en-US" sz="2700" dirty="0">
                <a:solidFill>
                  <a:srgbClr val="7D3E2C"/>
                </a:solidFill>
                <a:latin typeface="Marcellus" pitchFamily="34" charset="0"/>
                <a:ea typeface="Marcellus" pitchFamily="34" charset="-122"/>
                <a:cs typeface="Marcellus" pitchFamily="34" charset="-120"/>
              </a:rPr>
              <a:t>VIII. CONTRAINTES TECHNIQUES</a:t>
            </a:r>
            <a:endParaRPr lang="en-US" sz="2700" dirty="0"/>
          </a:p>
        </p:txBody>
      </p:sp>
      <p:sp>
        <p:nvSpPr>
          <p:cNvPr id="3" name="Shape 1"/>
          <p:cNvSpPr/>
          <p:nvPr/>
        </p:nvSpPr>
        <p:spPr>
          <a:xfrm>
            <a:off x="928330" y="1682591"/>
            <a:ext cx="4123253" cy="3783925"/>
          </a:xfrm>
          <a:prstGeom prst="roundRect">
            <a:avLst>
              <a:gd name="adj" fmla="val 2242"/>
            </a:avLst>
          </a:prstGeom>
          <a:solidFill>
            <a:srgbClr val="FFFFF4">
              <a:alpha val="95000"/>
            </a:srgbClr>
          </a:solidFill>
          <a:ln w="22860">
            <a:solidFill>
              <a:srgbClr val="FFE0CC"/>
            </a:solidFill>
            <a:prstDash val="solid"/>
          </a:ln>
        </p:spPr>
        <p:txBody>
          <a:bodyPr/>
          <a:lstStyle/>
          <a:p>
            <a:endParaRPr lang="fr-US"/>
          </a:p>
        </p:txBody>
      </p:sp>
      <p:sp>
        <p:nvSpPr>
          <p:cNvPr id="4" name="Text 2"/>
          <p:cNvSpPr/>
          <p:nvPr/>
        </p:nvSpPr>
        <p:spPr>
          <a:xfrm>
            <a:off x="1153120" y="1907381"/>
            <a:ext cx="2949893" cy="377309"/>
          </a:xfrm>
          <a:prstGeom prst="rect">
            <a:avLst/>
          </a:prstGeom>
          <a:noFill/>
          <a:ln/>
        </p:spPr>
        <p:txBody>
          <a:bodyPr wrap="none" lIns="0" tIns="0" rIns="0" bIns="0" rtlCol="0" anchor="t"/>
          <a:lstStyle/>
          <a:p>
            <a:pPr marL="0" indent="0" algn="l">
              <a:lnSpc>
                <a:spcPts val="2950"/>
              </a:lnSpc>
              <a:buNone/>
            </a:pPr>
            <a:r>
              <a:rPr lang="en-US" sz="2250" dirty="0">
                <a:solidFill>
                  <a:srgbClr val="67534F"/>
                </a:solidFill>
                <a:latin typeface="Marcellus" pitchFamily="34" charset="0"/>
                <a:ea typeface="Marcellus" pitchFamily="34" charset="-122"/>
                <a:cs typeface="Marcellus" pitchFamily="34" charset="-120"/>
              </a:rPr>
              <a:t>Système d’exploitation</a:t>
            </a:r>
            <a:endParaRPr lang="en-US" sz="2250" dirty="0"/>
          </a:p>
        </p:txBody>
      </p:sp>
      <p:sp>
        <p:nvSpPr>
          <p:cNvPr id="5" name="Text 3"/>
          <p:cNvSpPr/>
          <p:nvPr/>
        </p:nvSpPr>
        <p:spPr>
          <a:xfrm>
            <a:off x="1153120" y="2405777"/>
            <a:ext cx="3673673" cy="1049655"/>
          </a:xfrm>
          <a:prstGeom prst="rect">
            <a:avLst/>
          </a:prstGeom>
          <a:noFill/>
          <a:ln/>
        </p:spPr>
        <p:txBody>
          <a:bodyPr wrap="square" lIns="0" tIns="0" rIns="0" bIns="0" rtlCol="0" anchor="t"/>
          <a:lstStyle/>
          <a:p>
            <a:pPr marL="0" indent="0" algn="l">
              <a:lnSpc>
                <a:spcPts val="2050"/>
              </a:lnSpc>
              <a:buNone/>
            </a:pPr>
            <a:r>
              <a:rPr lang="en-US" sz="1550" dirty="0">
                <a:solidFill>
                  <a:srgbClr val="67534F"/>
                </a:solidFill>
                <a:latin typeface="Montserrat" pitchFamily="34" charset="0"/>
                <a:ea typeface="Montserrat" pitchFamily="34" charset="-122"/>
                <a:cs typeface="Montserrat" pitchFamily="34" charset="-120"/>
              </a:rPr>
              <a:t>Debian 12 (ou supérieur) est requis pour assurer la compatibilité des outils et la stabilité de l'environnement.</a:t>
            </a:r>
            <a:endParaRPr lang="en-US" sz="1550" dirty="0"/>
          </a:p>
        </p:txBody>
      </p:sp>
      <p:sp>
        <p:nvSpPr>
          <p:cNvPr id="6" name="Shape 4"/>
          <p:cNvSpPr/>
          <p:nvPr/>
        </p:nvSpPr>
        <p:spPr>
          <a:xfrm>
            <a:off x="5253514" y="1682591"/>
            <a:ext cx="4123253" cy="3783925"/>
          </a:xfrm>
          <a:prstGeom prst="roundRect">
            <a:avLst>
              <a:gd name="adj" fmla="val 2242"/>
            </a:avLst>
          </a:prstGeom>
          <a:solidFill>
            <a:srgbClr val="FFFFF4">
              <a:alpha val="95000"/>
            </a:srgbClr>
          </a:solidFill>
          <a:ln w="22860">
            <a:solidFill>
              <a:srgbClr val="FFE0CC"/>
            </a:solidFill>
            <a:prstDash val="solid"/>
          </a:ln>
        </p:spPr>
        <p:txBody>
          <a:bodyPr/>
          <a:lstStyle/>
          <a:p>
            <a:endParaRPr lang="fr-US"/>
          </a:p>
        </p:txBody>
      </p:sp>
      <p:sp>
        <p:nvSpPr>
          <p:cNvPr id="7" name="Text 5"/>
          <p:cNvSpPr/>
          <p:nvPr/>
        </p:nvSpPr>
        <p:spPr>
          <a:xfrm>
            <a:off x="5478304" y="1907381"/>
            <a:ext cx="2903101" cy="377309"/>
          </a:xfrm>
          <a:prstGeom prst="rect">
            <a:avLst/>
          </a:prstGeom>
          <a:noFill/>
          <a:ln/>
        </p:spPr>
        <p:txBody>
          <a:bodyPr wrap="none" lIns="0" tIns="0" rIns="0" bIns="0" rtlCol="0" anchor="t"/>
          <a:lstStyle/>
          <a:p>
            <a:pPr marL="0" indent="0" algn="l">
              <a:lnSpc>
                <a:spcPts val="2950"/>
              </a:lnSpc>
              <a:buNone/>
            </a:pPr>
            <a:r>
              <a:rPr lang="en-US" sz="2250" dirty="0">
                <a:solidFill>
                  <a:srgbClr val="67534F"/>
                </a:solidFill>
                <a:latin typeface="Marcellus" pitchFamily="34" charset="0"/>
                <a:ea typeface="Marcellus" pitchFamily="34" charset="-122"/>
                <a:cs typeface="Marcellus" pitchFamily="34" charset="-120"/>
              </a:rPr>
              <a:t>Outils obligatoires</a:t>
            </a:r>
            <a:endParaRPr lang="en-US" sz="2250" dirty="0"/>
          </a:p>
        </p:txBody>
      </p:sp>
      <p:sp>
        <p:nvSpPr>
          <p:cNvPr id="8" name="Text 6"/>
          <p:cNvSpPr/>
          <p:nvPr/>
        </p:nvSpPr>
        <p:spPr>
          <a:xfrm>
            <a:off x="5478304" y="2405777"/>
            <a:ext cx="3673673" cy="524828"/>
          </a:xfrm>
          <a:prstGeom prst="rect">
            <a:avLst/>
          </a:prstGeom>
          <a:noFill/>
          <a:ln/>
        </p:spPr>
        <p:txBody>
          <a:bodyPr wrap="square" lIns="0" tIns="0" rIns="0" bIns="0" rtlCol="0" anchor="t"/>
          <a:lstStyle/>
          <a:p>
            <a:pPr marL="342900" indent="-342900" algn="l">
              <a:lnSpc>
                <a:spcPts val="2050"/>
              </a:lnSpc>
              <a:buSzPct val="100000"/>
              <a:buChar char="•"/>
            </a:pPr>
            <a:endParaRPr lang="en-US" sz="1550" dirty="0"/>
          </a:p>
        </p:txBody>
      </p:sp>
      <p:sp>
        <p:nvSpPr>
          <p:cNvPr id="9" name="Text 7"/>
          <p:cNvSpPr/>
          <p:nvPr/>
        </p:nvSpPr>
        <p:spPr>
          <a:xfrm>
            <a:off x="5478304" y="2526863"/>
            <a:ext cx="3673673" cy="524828"/>
          </a:xfrm>
          <a:prstGeom prst="rect">
            <a:avLst/>
          </a:prstGeom>
          <a:noFill/>
          <a:ln/>
        </p:spPr>
        <p:txBody>
          <a:bodyPr wrap="square" lIns="0" tIns="0" rIns="0" bIns="0" rtlCol="0" anchor="t"/>
          <a:lstStyle/>
          <a:p>
            <a:pPr marL="342900" indent="-342900" algn="l">
              <a:lnSpc>
                <a:spcPts val="2050"/>
              </a:lnSpc>
              <a:buSzPct val="100000"/>
              <a:buChar char="•"/>
            </a:pPr>
            <a:r>
              <a:rPr lang="en-US" sz="1550" b="1" dirty="0">
                <a:solidFill>
                  <a:srgbClr val="67534F"/>
                </a:solidFill>
                <a:latin typeface="Montserrat" pitchFamily="34" charset="0"/>
                <a:ea typeface="Montserrat" pitchFamily="34" charset="-122"/>
                <a:cs typeface="Montserrat" pitchFamily="34" charset="-120"/>
              </a:rPr>
              <a:t>openssh-server</a:t>
            </a:r>
            <a:r>
              <a:rPr lang="en-US" sz="1550" dirty="0">
                <a:solidFill>
                  <a:srgbClr val="67534F"/>
                </a:solidFill>
                <a:latin typeface="Montserrat" pitchFamily="34" charset="0"/>
                <a:ea typeface="Montserrat" pitchFamily="34" charset="-122"/>
                <a:cs typeface="Montserrat" pitchFamily="34" charset="-120"/>
              </a:rPr>
              <a:t> : Pour les transferts sécurisés via SSH.</a:t>
            </a:r>
            <a:endParaRPr lang="en-US" sz="1550" dirty="0"/>
          </a:p>
        </p:txBody>
      </p:sp>
      <p:sp>
        <p:nvSpPr>
          <p:cNvPr id="10" name="Text 8"/>
          <p:cNvSpPr/>
          <p:nvPr/>
        </p:nvSpPr>
        <p:spPr>
          <a:xfrm>
            <a:off x="5478304" y="3238381"/>
            <a:ext cx="3673673" cy="787241"/>
          </a:xfrm>
          <a:prstGeom prst="rect">
            <a:avLst/>
          </a:prstGeom>
          <a:noFill/>
          <a:ln/>
        </p:spPr>
        <p:txBody>
          <a:bodyPr wrap="square" lIns="0" tIns="0" rIns="0" bIns="0" rtlCol="0" anchor="t"/>
          <a:lstStyle/>
          <a:p>
            <a:pPr marL="342900" indent="-342900" algn="l">
              <a:lnSpc>
                <a:spcPts val="2050"/>
              </a:lnSpc>
              <a:buSzPct val="100000"/>
              <a:buChar char="•"/>
            </a:pPr>
            <a:r>
              <a:rPr lang="en-US" sz="1550" b="1" dirty="0">
                <a:solidFill>
                  <a:srgbClr val="67534F"/>
                </a:solidFill>
                <a:latin typeface="Montserrat" pitchFamily="34" charset="0"/>
                <a:ea typeface="Montserrat" pitchFamily="34" charset="-122"/>
                <a:cs typeface="Montserrat" pitchFamily="34" charset="-120"/>
              </a:rPr>
              <a:t>inotify-tools</a:t>
            </a:r>
            <a:r>
              <a:rPr lang="en-US" sz="1550" dirty="0">
                <a:solidFill>
                  <a:srgbClr val="67534F"/>
                </a:solidFill>
                <a:latin typeface="Montserrat" pitchFamily="34" charset="0"/>
                <a:ea typeface="Montserrat" pitchFamily="34" charset="-122"/>
                <a:cs typeface="Montserrat" pitchFamily="34" charset="-120"/>
              </a:rPr>
              <a:t> : Pour la détection en temps réel des modifications de fichiers.</a:t>
            </a:r>
            <a:endParaRPr lang="en-US" sz="1550" dirty="0"/>
          </a:p>
        </p:txBody>
      </p:sp>
      <p:sp>
        <p:nvSpPr>
          <p:cNvPr id="11" name="Text 9"/>
          <p:cNvSpPr/>
          <p:nvPr/>
        </p:nvSpPr>
        <p:spPr>
          <a:xfrm>
            <a:off x="5478304" y="4250412"/>
            <a:ext cx="3673673" cy="787241"/>
          </a:xfrm>
          <a:prstGeom prst="rect">
            <a:avLst/>
          </a:prstGeom>
          <a:noFill/>
          <a:ln/>
        </p:spPr>
        <p:txBody>
          <a:bodyPr wrap="square" lIns="0" tIns="0" rIns="0" bIns="0" rtlCol="0" anchor="t"/>
          <a:lstStyle/>
          <a:p>
            <a:pPr marL="342900" indent="-342900" algn="l">
              <a:lnSpc>
                <a:spcPts val="2050"/>
              </a:lnSpc>
              <a:buSzPct val="100000"/>
              <a:buChar char="•"/>
            </a:pPr>
            <a:r>
              <a:rPr lang="en-US" sz="1550" b="1" dirty="0">
                <a:solidFill>
                  <a:srgbClr val="67534F"/>
                </a:solidFill>
                <a:latin typeface="Montserrat" pitchFamily="34" charset="0"/>
                <a:ea typeface="Montserrat" pitchFamily="34" charset="-122"/>
                <a:cs typeface="Montserrat" pitchFamily="34" charset="-120"/>
              </a:rPr>
              <a:t>systemd</a:t>
            </a:r>
            <a:r>
              <a:rPr lang="en-US" sz="1550" dirty="0">
                <a:solidFill>
                  <a:srgbClr val="67534F"/>
                </a:solidFill>
                <a:latin typeface="Montserrat" pitchFamily="34" charset="0"/>
                <a:ea typeface="Montserrat" pitchFamily="34" charset="-122"/>
                <a:cs typeface="Montserrat" pitchFamily="34" charset="-120"/>
              </a:rPr>
              <a:t> : Pour le redémarrage automatique et la gestion des services.</a:t>
            </a:r>
            <a:endParaRPr lang="en-US" sz="1550" dirty="0"/>
          </a:p>
        </p:txBody>
      </p:sp>
      <p:sp>
        <p:nvSpPr>
          <p:cNvPr id="12" name="Shape 10"/>
          <p:cNvSpPr/>
          <p:nvPr/>
        </p:nvSpPr>
        <p:spPr>
          <a:xfrm>
            <a:off x="9578697" y="1682591"/>
            <a:ext cx="4123373" cy="3783925"/>
          </a:xfrm>
          <a:prstGeom prst="roundRect">
            <a:avLst>
              <a:gd name="adj" fmla="val 2242"/>
            </a:avLst>
          </a:prstGeom>
          <a:solidFill>
            <a:srgbClr val="FFFFF4">
              <a:alpha val="95000"/>
            </a:srgbClr>
          </a:solidFill>
          <a:ln w="22860">
            <a:solidFill>
              <a:srgbClr val="FFE0CC"/>
            </a:solidFill>
            <a:prstDash val="solid"/>
          </a:ln>
        </p:spPr>
        <p:txBody>
          <a:bodyPr/>
          <a:lstStyle/>
          <a:p>
            <a:endParaRPr lang="fr-US"/>
          </a:p>
        </p:txBody>
      </p:sp>
      <p:sp>
        <p:nvSpPr>
          <p:cNvPr id="13" name="Text 11"/>
          <p:cNvSpPr/>
          <p:nvPr/>
        </p:nvSpPr>
        <p:spPr>
          <a:xfrm>
            <a:off x="9803487" y="1907381"/>
            <a:ext cx="2903101" cy="377309"/>
          </a:xfrm>
          <a:prstGeom prst="rect">
            <a:avLst/>
          </a:prstGeom>
          <a:noFill/>
          <a:ln/>
        </p:spPr>
        <p:txBody>
          <a:bodyPr wrap="none" lIns="0" tIns="0" rIns="0" bIns="0" rtlCol="0" anchor="t"/>
          <a:lstStyle/>
          <a:p>
            <a:pPr marL="0" indent="0" algn="l">
              <a:lnSpc>
                <a:spcPts val="2950"/>
              </a:lnSpc>
              <a:buNone/>
            </a:pPr>
            <a:r>
              <a:rPr lang="en-US" sz="2250" dirty="0">
                <a:solidFill>
                  <a:srgbClr val="67534F"/>
                </a:solidFill>
                <a:latin typeface="Marcellus" pitchFamily="34" charset="0"/>
                <a:ea typeface="Marcellus" pitchFamily="34" charset="-122"/>
                <a:cs typeface="Marcellus" pitchFamily="34" charset="-120"/>
              </a:rPr>
              <a:t>Réseau</a:t>
            </a:r>
            <a:endParaRPr lang="en-US" sz="2250" dirty="0"/>
          </a:p>
        </p:txBody>
      </p:sp>
      <p:sp>
        <p:nvSpPr>
          <p:cNvPr id="14" name="Text 12"/>
          <p:cNvSpPr/>
          <p:nvPr/>
        </p:nvSpPr>
        <p:spPr>
          <a:xfrm>
            <a:off x="9803487" y="2405777"/>
            <a:ext cx="3673793" cy="1312069"/>
          </a:xfrm>
          <a:prstGeom prst="rect">
            <a:avLst/>
          </a:prstGeom>
          <a:noFill/>
          <a:ln/>
        </p:spPr>
        <p:txBody>
          <a:bodyPr wrap="square" lIns="0" tIns="0" rIns="0" bIns="0" rtlCol="0" anchor="t"/>
          <a:lstStyle/>
          <a:p>
            <a:pPr marL="0" indent="0" algn="l">
              <a:lnSpc>
                <a:spcPts val="2050"/>
              </a:lnSpc>
              <a:buNone/>
            </a:pPr>
            <a:r>
              <a:rPr lang="en-US" sz="1550" dirty="0">
                <a:solidFill>
                  <a:srgbClr val="67534F"/>
                </a:solidFill>
                <a:latin typeface="Montserrat" pitchFamily="34" charset="0"/>
                <a:ea typeface="Montserrat" pitchFamily="34" charset="-122"/>
                <a:cs typeface="Montserrat" pitchFamily="34" charset="-120"/>
              </a:rPr>
              <a:t>Une connexion réseau stable et fiable entre tous les nœuds est indispensable pour une réplication en temps réel, de préférence un réseau local (LAN).</a:t>
            </a:r>
            <a:endParaRPr lang="en-US" sz="1550" dirty="0"/>
          </a:p>
        </p:txBody>
      </p:sp>
      <p:sp>
        <p:nvSpPr>
          <p:cNvPr id="15" name="Shape 13"/>
          <p:cNvSpPr/>
          <p:nvPr/>
        </p:nvSpPr>
        <p:spPr>
          <a:xfrm>
            <a:off x="928330" y="5668447"/>
            <a:ext cx="6285905" cy="1735217"/>
          </a:xfrm>
          <a:prstGeom prst="roundRect">
            <a:avLst>
              <a:gd name="adj" fmla="val 4888"/>
            </a:avLst>
          </a:prstGeom>
          <a:solidFill>
            <a:srgbClr val="FFFFF4">
              <a:alpha val="95000"/>
            </a:srgbClr>
          </a:solidFill>
          <a:ln w="22860">
            <a:solidFill>
              <a:srgbClr val="FFE0CC"/>
            </a:solidFill>
            <a:prstDash val="solid"/>
          </a:ln>
        </p:spPr>
        <p:txBody>
          <a:bodyPr/>
          <a:lstStyle/>
          <a:p>
            <a:endParaRPr lang="fr-US"/>
          </a:p>
        </p:txBody>
      </p:sp>
      <p:sp>
        <p:nvSpPr>
          <p:cNvPr id="16" name="Text 14"/>
          <p:cNvSpPr/>
          <p:nvPr/>
        </p:nvSpPr>
        <p:spPr>
          <a:xfrm>
            <a:off x="1153120" y="5893237"/>
            <a:ext cx="2903101" cy="377309"/>
          </a:xfrm>
          <a:prstGeom prst="rect">
            <a:avLst/>
          </a:prstGeom>
          <a:noFill/>
          <a:ln/>
        </p:spPr>
        <p:txBody>
          <a:bodyPr wrap="none" lIns="0" tIns="0" rIns="0" bIns="0" rtlCol="0" anchor="t"/>
          <a:lstStyle/>
          <a:p>
            <a:pPr marL="0" indent="0" algn="l">
              <a:lnSpc>
                <a:spcPts val="2950"/>
              </a:lnSpc>
              <a:buNone/>
            </a:pPr>
            <a:r>
              <a:rPr lang="en-US" sz="2250" dirty="0">
                <a:solidFill>
                  <a:srgbClr val="67534F"/>
                </a:solidFill>
                <a:latin typeface="Marcellus" pitchFamily="34" charset="0"/>
                <a:ea typeface="Marcellus" pitchFamily="34" charset="-122"/>
                <a:cs typeface="Marcellus" pitchFamily="34" charset="-120"/>
              </a:rPr>
              <a:t>Stockage</a:t>
            </a:r>
            <a:endParaRPr lang="en-US" sz="2250" dirty="0"/>
          </a:p>
        </p:txBody>
      </p:sp>
      <p:sp>
        <p:nvSpPr>
          <p:cNvPr id="17" name="Text 15"/>
          <p:cNvSpPr/>
          <p:nvPr/>
        </p:nvSpPr>
        <p:spPr>
          <a:xfrm>
            <a:off x="1153120" y="6391632"/>
            <a:ext cx="5836325" cy="787241"/>
          </a:xfrm>
          <a:prstGeom prst="rect">
            <a:avLst/>
          </a:prstGeom>
          <a:noFill/>
          <a:ln/>
        </p:spPr>
        <p:txBody>
          <a:bodyPr wrap="square" lIns="0" tIns="0" rIns="0" bIns="0" rtlCol="0" anchor="t"/>
          <a:lstStyle/>
          <a:p>
            <a:pPr marL="0" indent="0" algn="l">
              <a:lnSpc>
                <a:spcPts val="2050"/>
              </a:lnSpc>
              <a:buNone/>
            </a:pPr>
            <a:r>
              <a:rPr lang="en-US" sz="1550" dirty="0">
                <a:solidFill>
                  <a:srgbClr val="67534F"/>
                </a:solidFill>
                <a:latin typeface="Montserrat" pitchFamily="34" charset="0"/>
                <a:ea typeface="Montserrat" pitchFamily="34" charset="-122"/>
                <a:cs typeface="Montserrat" pitchFamily="34" charset="-120"/>
              </a:rPr>
              <a:t>Un espace disque suffisant doit être alloué sur chaque nœud pour accueillir l'ensemble des fichiers à répliquer ainsi que les journaux du système DFR.</a:t>
            </a:r>
            <a:endParaRPr lang="en-US" sz="1550" dirty="0"/>
          </a:p>
        </p:txBody>
      </p:sp>
      <p:sp>
        <p:nvSpPr>
          <p:cNvPr id="18" name="Shape 16"/>
          <p:cNvSpPr/>
          <p:nvPr/>
        </p:nvSpPr>
        <p:spPr>
          <a:xfrm>
            <a:off x="7416165" y="5668447"/>
            <a:ext cx="6285905" cy="1735217"/>
          </a:xfrm>
          <a:prstGeom prst="roundRect">
            <a:avLst>
              <a:gd name="adj" fmla="val 4888"/>
            </a:avLst>
          </a:prstGeom>
          <a:solidFill>
            <a:srgbClr val="FFFFF4">
              <a:alpha val="95000"/>
            </a:srgbClr>
          </a:solidFill>
          <a:ln w="22860">
            <a:solidFill>
              <a:srgbClr val="FFE0CC"/>
            </a:solidFill>
            <a:prstDash val="solid"/>
          </a:ln>
        </p:spPr>
        <p:txBody>
          <a:bodyPr/>
          <a:lstStyle/>
          <a:p>
            <a:endParaRPr lang="fr-US"/>
          </a:p>
        </p:txBody>
      </p:sp>
      <p:sp>
        <p:nvSpPr>
          <p:cNvPr id="19" name="Text 17"/>
          <p:cNvSpPr/>
          <p:nvPr/>
        </p:nvSpPr>
        <p:spPr>
          <a:xfrm>
            <a:off x="7640955" y="5893237"/>
            <a:ext cx="2903101" cy="377309"/>
          </a:xfrm>
          <a:prstGeom prst="rect">
            <a:avLst/>
          </a:prstGeom>
          <a:noFill/>
          <a:ln/>
        </p:spPr>
        <p:txBody>
          <a:bodyPr wrap="none" lIns="0" tIns="0" rIns="0" bIns="0" rtlCol="0" anchor="t"/>
          <a:lstStyle/>
          <a:p>
            <a:pPr marL="0" indent="0" algn="l">
              <a:lnSpc>
                <a:spcPts val="2950"/>
              </a:lnSpc>
              <a:buNone/>
            </a:pPr>
            <a:r>
              <a:rPr lang="en-US" sz="2250" dirty="0">
                <a:solidFill>
                  <a:srgbClr val="67534F"/>
                </a:solidFill>
                <a:latin typeface="Marcellus" pitchFamily="34" charset="0"/>
                <a:ea typeface="Marcellus" pitchFamily="34" charset="-122"/>
                <a:cs typeface="Marcellus" pitchFamily="34" charset="-120"/>
              </a:rPr>
              <a:t>Sécurité</a:t>
            </a:r>
            <a:endParaRPr lang="en-US" sz="2250" dirty="0"/>
          </a:p>
        </p:txBody>
      </p:sp>
      <p:sp>
        <p:nvSpPr>
          <p:cNvPr id="20" name="Text 18"/>
          <p:cNvSpPr/>
          <p:nvPr/>
        </p:nvSpPr>
        <p:spPr>
          <a:xfrm>
            <a:off x="7640955" y="6391632"/>
            <a:ext cx="5836325" cy="787241"/>
          </a:xfrm>
          <a:prstGeom prst="rect">
            <a:avLst/>
          </a:prstGeom>
          <a:noFill/>
          <a:ln/>
        </p:spPr>
        <p:txBody>
          <a:bodyPr wrap="square" lIns="0" tIns="0" rIns="0" bIns="0" rtlCol="0" anchor="t"/>
          <a:lstStyle/>
          <a:p>
            <a:pPr marL="0" indent="0" algn="l">
              <a:lnSpc>
                <a:spcPts val="2050"/>
              </a:lnSpc>
              <a:buNone/>
            </a:pPr>
            <a:r>
              <a:rPr lang="en-US" sz="1550" dirty="0">
                <a:solidFill>
                  <a:srgbClr val="67534F"/>
                </a:solidFill>
                <a:latin typeface="Montserrat" pitchFamily="34" charset="0"/>
                <a:ea typeface="Montserrat" pitchFamily="34" charset="-122"/>
                <a:cs typeface="Montserrat" pitchFamily="34" charset="-120"/>
              </a:rPr>
              <a:t>Des clés SSH robustes doivent être générées et échangées de manière sécurisée entre les nœuds pour l'authentification et le chiffrement des communications.</a:t>
            </a:r>
            <a:endParaRPr lang="en-US" sz="1550" dirty="0"/>
          </a:p>
        </p:txBody>
      </p:sp>
      <p:sp>
        <p:nvSpPr>
          <p:cNvPr id="21" name="Rectangle 20"/>
          <p:cNvSpPr/>
          <p:nvPr/>
        </p:nvSpPr>
        <p:spPr>
          <a:xfrm>
            <a:off x="12691241" y="7662041"/>
            <a:ext cx="1939159" cy="457200"/>
          </a:xfrm>
          <a:prstGeom prst="rect">
            <a:avLst/>
          </a:prstGeom>
          <a:solidFill>
            <a:srgbClr val="FDFCF1"/>
          </a:solidFill>
          <a:ln>
            <a:solidFill>
              <a:srgbClr val="FD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446360"/>
            <a:ext cx="3912751" cy="508516"/>
          </a:xfrm>
          <a:prstGeom prst="rect">
            <a:avLst/>
          </a:prstGeom>
          <a:noFill/>
          <a:ln/>
        </p:spPr>
        <p:txBody>
          <a:bodyPr wrap="none" lIns="0" tIns="0" rIns="0" bIns="0" rtlCol="0" anchor="t"/>
          <a:lstStyle/>
          <a:p>
            <a:pPr marL="0" indent="0" algn="l">
              <a:lnSpc>
                <a:spcPts val="4000"/>
              </a:lnSpc>
              <a:buNone/>
            </a:pPr>
            <a:r>
              <a:rPr lang="en-US" sz="3050" dirty="0">
                <a:solidFill>
                  <a:srgbClr val="7D3E2C"/>
                </a:solidFill>
                <a:latin typeface="Marcellus" pitchFamily="34" charset="0"/>
                <a:ea typeface="Marcellus" pitchFamily="34" charset="-122"/>
                <a:cs typeface="Marcellus" pitchFamily="34" charset="-120"/>
              </a:rPr>
              <a:t>IX. CONCLUSION</a:t>
            </a:r>
            <a:endParaRPr lang="en-US" sz="3050" dirty="0"/>
          </a:p>
        </p:txBody>
      </p:sp>
      <p:sp>
        <p:nvSpPr>
          <p:cNvPr id="3" name="Text 1"/>
          <p:cNvSpPr/>
          <p:nvPr/>
        </p:nvSpPr>
        <p:spPr>
          <a:xfrm>
            <a:off x="793789" y="1328991"/>
            <a:ext cx="13042821" cy="1842492"/>
          </a:xfrm>
          <a:prstGeom prst="rect">
            <a:avLst/>
          </a:prstGeom>
          <a:noFill/>
          <a:ln/>
        </p:spPr>
        <p:txBody>
          <a:bodyPr wrap="square" lIns="0" tIns="0" rIns="0" bIns="0" rtlCol="0" anchor="t"/>
          <a:lstStyle/>
          <a:p>
            <a:pPr marL="0" indent="0" algn="l">
              <a:lnSpc>
                <a:spcPts val="2900"/>
              </a:lnSpc>
              <a:buNone/>
            </a:pPr>
            <a:r>
              <a:rPr lang="en-US" sz="2200" dirty="0">
                <a:solidFill>
                  <a:srgbClr val="67534F"/>
                </a:solidFill>
                <a:latin typeface="Montserrat" pitchFamily="34" charset="0"/>
                <a:ea typeface="Montserrat" pitchFamily="34" charset="-122"/>
                <a:cs typeface="Montserrat" pitchFamily="34" charset="-120"/>
              </a:rPr>
              <a:t>Le Distributed File Replicator répond à un besoin concret de synchronisation fiable et légère dans les environnements distribués. Grâce à une architecture simple mais robuste, il garantit la cohérence des données, la sécurité des transferts et une facilité d’administration. Ce cahier d’analyse servira de base pour la phase de conception détaillée et le développement du système.</a:t>
            </a:r>
            <a:endParaRPr lang="en-US" sz="2200" dirty="0"/>
          </a:p>
        </p:txBody>
      </p:sp>
      <p:sp>
        <p:nvSpPr>
          <p:cNvPr id="4" name="Rectangle 3"/>
          <p:cNvSpPr/>
          <p:nvPr/>
        </p:nvSpPr>
        <p:spPr>
          <a:xfrm>
            <a:off x="12691241" y="7662041"/>
            <a:ext cx="1939159" cy="457200"/>
          </a:xfrm>
          <a:prstGeom prst="rect">
            <a:avLst/>
          </a:prstGeom>
          <a:solidFill>
            <a:srgbClr val="FDFCF1"/>
          </a:solidFill>
          <a:ln>
            <a:solidFill>
              <a:srgbClr val="FD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5469</TotalTime>
  <Words>1313</Words>
  <Application>Microsoft Macintosh PowerPoint</Application>
  <PresentationFormat>Personnalisé</PresentationFormat>
  <Paragraphs>179</Paragraphs>
  <Slides>14</Slides>
  <Notes>14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Marcellus Light</vt:lpstr>
      <vt:lpstr>Marcellus</vt:lpstr>
      <vt:lpstr>Arial</vt:lpstr>
      <vt:lpstr>Montserrat</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lastModifiedBy>jules garka</cp:lastModifiedBy>
  <cp:revision>16</cp:revision>
  <dcterms:created xsi:type="dcterms:W3CDTF">2026-01-16T10:15:12Z</dcterms:created>
  <dcterms:modified xsi:type="dcterms:W3CDTF">2026-01-21T03:34:42Z</dcterms:modified>
</cp:coreProperties>
</file>