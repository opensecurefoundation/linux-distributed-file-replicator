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66" r:id="rId12"/>
    <p:sldId id="272" r:id="rId13"/>
    <p:sldId id="274" r:id="rId14"/>
    <p:sldId id="267" r:id="rId15"/>
    <p:sldId id="268" r:id="rId16"/>
    <p:sldId id="269" r:id="rId17"/>
    <p:sldId id="270" r:id="rId18"/>
    <p:sldId id="271" r:id="rId19"/>
  </p:sldIdLst>
  <p:sldSz cx="14630400" cy="8229600"/>
  <p:notesSz cx="8229600" cy="14630400"/>
  <p:embeddedFontLst>
    <p:embeddedFont>
      <p:font typeface="Overpass" pitchFamily="2" charset="77"/>
      <p:regular r:id="rId21"/>
      <p:bold r:id="rId22"/>
      <p:italic r:id="rId23"/>
      <p:boldItalic r:id="rId24"/>
    </p:embeddedFont>
    <p:embeddedFont>
      <p:font typeface="Overpass Bold" pitchFamily="2" charset="77"/>
      <p:regular r:id="rId25"/>
      <p:bold r:id="rId26"/>
    </p:embeddedFont>
    <p:embeddedFont>
      <p:font typeface="Overpass Light" pitchFamily="2" charset="77"/>
      <p:regular r:id="rId27"/>
      <p:bold r:id="rId28"/>
      <p:italic r:id="rId29"/>
      <p:boldItalic r:id="rId30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24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05" autoAdjust="0"/>
    <p:restoredTop sz="76913" autoAdjust="0"/>
  </p:normalViewPr>
  <p:slideViewPr>
    <p:cSldViewPr snapToGrid="0" snapToObjects="1">
      <p:cViewPr varScale="1">
        <p:scale>
          <a:sx n="85" d="100"/>
          <a:sy n="85" d="100"/>
        </p:scale>
        <p:origin x="472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302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Acteurs et participants</a:t>
            </a:r>
            <a:r>
              <a:rPr lang="fr-FR" dirty="0"/>
              <a:t> :</a:t>
            </a:r>
          </a:p>
          <a:p>
            <a:pPr lvl="1"/>
            <a:r>
              <a:rPr lang="fr-FR" b="1" dirty="0"/>
              <a:t>Administrateur</a:t>
            </a:r>
            <a:r>
              <a:rPr lang="fr-FR" dirty="0"/>
              <a:t> : L'utilisateur qui interagit avec le système.</a:t>
            </a:r>
          </a:p>
          <a:p>
            <a:pPr lvl="1"/>
            <a:r>
              <a:rPr lang="fr-FR" b="1" dirty="0"/>
              <a:t>Interface Web (UI)</a:t>
            </a:r>
            <a:r>
              <a:rPr lang="fr-FR" dirty="0"/>
              <a:t> : L'interface graphique que l'administrateur utilise.</a:t>
            </a:r>
          </a:p>
          <a:p>
            <a:pPr lvl="1"/>
            <a:r>
              <a:rPr lang="fr-FR" b="1" dirty="0"/>
              <a:t>API Locale (</a:t>
            </a:r>
            <a:r>
              <a:rPr lang="fr-FR" b="1" dirty="0" err="1"/>
              <a:t>Flask</a:t>
            </a:r>
            <a:r>
              <a:rPr lang="fr-FR" b="1" dirty="0"/>
              <a:t>)</a:t>
            </a:r>
            <a:r>
              <a:rPr lang="fr-FR" dirty="0"/>
              <a:t> : Le serveur qui traite les requêtes de l'UI et communique avec le démon DFR.</a:t>
            </a:r>
          </a:p>
          <a:p>
            <a:pPr lvl="1"/>
            <a:r>
              <a:rPr lang="fr-FR" b="1" dirty="0"/>
              <a:t>DFR Daemon</a:t>
            </a:r>
            <a:r>
              <a:rPr lang="fr-FR" dirty="0"/>
              <a:t> : Le processus en arrière-plan qui collecte des statistiques ou des données de statut.</a:t>
            </a:r>
          </a:p>
          <a:p>
            <a:r>
              <a:rPr lang="fr-FR" b="1" dirty="0"/>
              <a:t>Étapes</a:t>
            </a:r>
            <a:r>
              <a:rPr lang="fr-FR" dirty="0"/>
              <a:t> :</a:t>
            </a:r>
          </a:p>
          <a:p>
            <a:pPr lvl="1"/>
            <a:r>
              <a:rPr lang="fr-FR" b="1" dirty="0"/>
              <a:t>Ouvrir tableau de bord</a:t>
            </a:r>
            <a:r>
              <a:rPr lang="fr-FR" dirty="0"/>
              <a:t> : L'administrateur demande l'ouverture de l'interface pour voir le statut du système.</a:t>
            </a:r>
          </a:p>
          <a:p>
            <a:pPr lvl="1"/>
            <a:r>
              <a:rPr lang="fr-FR" b="1" dirty="0"/>
              <a:t>GET /</a:t>
            </a:r>
            <a:r>
              <a:rPr lang="fr-FR" b="1" dirty="0" err="1"/>
              <a:t>status</a:t>
            </a:r>
            <a:r>
              <a:rPr lang="fr-FR" dirty="0"/>
              <a:t> : L'UI envoie une requête à l'API pour obtenir le statut actuel du système.</a:t>
            </a:r>
          </a:p>
          <a:p>
            <a:pPr lvl="1"/>
            <a:r>
              <a:rPr lang="fr-FR" b="1" dirty="0"/>
              <a:t>Requête statut</a:t>
            </a:r>
            <a:r>
              <a:rPr lang="fr-FR" dirty="0"/>
              <a:t> : L'API interroge le DFR Daemon pour connaître son statut.</a:t>
            </a:r>
          </a:p>
          <a:p>
            <a:pPr lvl="1"/>
            <a:r>
              <a:rPr lang="fr-FR" b="1" dirty="0"/>
              <a:t>Statut + métriques</a:t>
            </a:r>
            <a:r>
              <a:rPr lang="fr-FR" dirty="0"/>
              <a:t> : Le DFR Daemon envoie des informations sur son état et des données métriques à l'API.</a:t>
            </a:r>
          </a:p>
          <a:p>
            <a:pPr lvl="1"/>
            <a:r>
              <a:rPr lang="fr-FR" b="1" dirty="0"/>
              <a:t>Réponse JSON</a:t>
            </a:r>
            <a:r>
              <a:rPr lang="fr-FR" dirty="0"/>
              <a:t> : L'API envoie la réponse contenant les données sous format JSON à l'UI.</a:t>
            </a:r>
          </a:p>
          <a:p>
            <a:pPr lvl="1"/>
            <a:r>
              <a:rPr lang="fr-FR" b="1" dirty="0"/>
              <a:t>Affichage état système</a:t>
            </a:r>
            <a:r>
              <a:rPr lang="fr-FR" dirty="0"/>
              <a:t> : L'UI présente les informations reçues à l'administrateur, lui permettant de voir l'état actuel du système.</a:t>
            </a:r>
          </a:p>
          <a:p>
            <a:endParaRPr lang="fr-F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  <a:p>
            <a:pPr lvl="1"/>
            <a:r>
              <a:rPr lang="fr-FR" b="1" dirty="0"/>
              <a:t>Modification fichier</a:t>
            </a:r>
            <a:r>
              <a:rPr lang="fr-FR" dirty="0"/>
              <a:t> : Un fichier dans le système de fichiers est modifié.</a:t>
            </a:r>
          </a:p>
          <a:p>
            <a:pPr lvl="1"/>
            <a:r>
              <a:rPr lang="fr-FR" b="1" dirty="0"/>
              <a:t>Création </a:t>
            </a:r>
            <a:r>
              <a:rPr lang="fr-FR" b="1" dirty="0" err="1"/>
              <a:t>FsEvent</a:t>
            </a:r>
            <a:r>
              <a:rPr lang="fr-FR" dirty="0"/>
              <a:t> : DFR_A détecte la modification et crée un événement (</a:t>
            </a:r>
            <a:r>
              <a:rPr lang="fr-FR" dirty="0" err="1"/>
              <a:t>FsEvent</a:t>
            </a:r>
            <a:r>
              <a:rPr lang="fr-FR" dirty="0"/>
              <a:t>) pour représenter ce changement.</a:t>
            </a:r>
          </a:p>
          <a:p>
            <a:pPr lvl="1"/>
            <a:r>
              <a:rPr lang="fr-FR" b="1" dirty="0"/>
              <a:t>Envoi </a:t>
            </a:r>
            <a:r>
              <a:rPr lang="fr-FR" b="1" dirty="0" err="1"/>
              <a:t>FsEvent</a:t>
            </a:r>
            <a:r>
              <a:rPr lang="fr-FR" b="1" dirty="0"/>
              <a:t> + données</a:t>
            </a:r>
            <a:r>
              <a:rPr lang="fr-FR" dirty="0"/>
              <a:t> : DFR_A envoie l'événement ainsi que les données modifiées à DFR_B pour répliquer le changement.</a:t>
            </a:r>
          </a:p>
          <a:p>
            <a:pPr lvl="1"/>
            <a:r>
              <a:rPr lang="fr-FR" b="1" dirty="0"/>
              <a:t>Vérification cohérence</a:t>
            </a:r>
            <a:r>
              <a:rPr lang="fr-FR" dirty="0"/>
              <a:t> : DFR_B reçoit les données et vérifie si elles sont cohérentes avec son propre état.</a:t>
            </a:r>
          </a:p>
          <a:p>
            <a:pPr lvl="1"/>
            <a:r>
              <a:rPr lang="fr-FR" b="1" dirty="0"/>
              <a:t>Application modification</a:t>
            </a:r>
            <a:r>
              <a:rPr lang="fr-FR" dirty="0"/>
              <a:t> : Après vérification, DFR_B applique la modification à son propre système.</a:t>
            </a:r>
          </a:p>
          <a:p>
            <a:pPr lvl="1"/>
            <a:r>
              <a:rPr lang="fr-FR" b="1" dirty="0"/>
              <a:t>Journalisation</a:t>
            </a:r>
            <a:r>
              <a:rPr lang="fr-FR" dirty="0"/>
              <a:t> : DFR_B enregistre l'événement et la modification dans le journal pour assurer la traçabilité.</a:t>
            </a:r>
          </a:p>
          <a:p>
            <a:pPr lvl="1"/>
            <a:r>
              <a:rPr lang="fr-FR" b="1" dirty="0"/>
              <a:t>Accusé de réception (ACK)</a:t>
            </a:r>
            <a:r>
              <a:rPr lang="fr-FR" dirty="0"/>
              <a:t> : DFR_B envoie un accusé de réception à DFR_A, confirmant que la modification a été correctement traitée.</a:t>
            </a:r>
          </a:p>
          <a:p>
            <a:r>
              <a:rPr lang="fr-FR" b="1" dirty="0"/>
              <a:t>Mots clés :</a:t>
            </a:r>
          </a:p>
          <a:p>
            <a:r>
              <a:rPr lang="fr-FR" b="1" dirty="0"/>
              <a:t>Système de fichiers</a:t>
            </a:r>
            <a:r>
              <a:rPr lang="fr-FR" dirty="0"/>
              <a:t> : Infrastructure où les fichiers sont stockés et modifiés.</a:t>
            </a:r>
          </a:p>
          <a:p>
            <a:r>
              <a:rPr lang="fr-FR" b="1" dirty="0"/>
              <a:t>DFR Daemon</a:t>
            </a:r>
            <a:r>
              <a:rPr lang="fr-FR" dirty="0"/>
              <a:t> : Processus qui exécute les tâches de surveillance et de réplication.</a:t>
            </a:r>
          </a:p>
          <a:p>
            <a:r>
              <a:rPr lang="fr-FR" b="1" dirty="0" err="1"/>
              <a:t>FsEvent</a:t>
            </a:r>
            <a:r>
              <a:rPr lang="fr-FR" dirty="0"/>
              <a:t> : Événement créé en réponse à une modification de fichier.</a:t>
            </a:r>
          </a:p>
          <a:p>
            <a:r>
              <a:rPr lang="fr-FR" b="1" dirty="0"/>
              <a:t>Vérification cohérence</a:t>
            </a:r>
            <a:r>
              <a:rPr lang="fr-FR" dirty="0"/>
              <a:t> : Étape où DFR_B s'assure que les données sont valides avant de les appliquer.</a:t>
            </a:r>
          </a:p>
          <a:p>
            <a:r>
              <a:rPr lang="fr-FR" b="1" dirty="0"/>
              <a:t>Journalisation</a:t>
            </a:r>
            <a:r>
              <a:rPr lang="fr-FR" dirty="0"/>
              <a:t> : Enregistrement des modifications pour maintenir une trace des actions effectuées.</a:t>
            </a:r>
          </a:p>
          <a:p>
            <a:r>
              <a:rPr lang="fr-FR" b="1" dirty="0"/>
              <a:t>Accusé de réception</a:t>
            </a:r>
            <a:r>
              <a:rPr lang="fr-FR" dirty="0"/>
              <a:t> : Confirmation de la réception et du traitement réussis des données.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04349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1. Choix techniques</a:t>
            </a:r>
          </a:p>
          <a:p>
            <a:r>
              <a:rPr lang="fr-FR" b="1" dirty="0"/>
              <a:t>Sockets TCP</a:t>
            </a:r>
            <a:r>
              <a:rPr lang="fr-FR" dirty="0"/>
              <a:t> : Permettent des communications fiables entre programmes sur le réseau.</a:t>
            </a:r>
          </a:p>
          <a:p>
            <a:r>
              <a:rPr lang="fr-FR" b="1" dirty="0"/>
              <a:t>Protocole propriétaire</a:t>
            </a:r>
            <a:r>
              <a:rPr lang="fr-FR" dirty="0"/>
              <a:t> : Règles spécifiques adaptées aux besoins du système.</a:t>
            </a:r>
          </a:p>
          <a:p>
            <a:r>
              <a:rPr lang="fr-FR" b="1" dirty="0"/>
              <a:t>Messages structurés</a:t>
            </a:r>
            <a:r>
              <a:rPr lang="fr-FR" dirty="0"/>
              <a:t> : Données envoyées dans un format défini pour faciliter l'échange.</a:t>
            </a:r>
          </a:p>
          <a:p>
            <a:r>
              <a:rPr lang="fr-FR" b="1" dirty="0"/>
              <a:t>2. Échanges entre nœuds</a:t>
            </a:r>
          </a:p>
          <a:p>
            <a:r>
              <a:rPr lang="fr-FR" b="1" dirty="0"/>
              <a:t>Changement message échangé</a:t>
            </a:r>
            <a:r>
              <a:rPr lang="fr-FR" dirty="0"/>
              <a:t> : Informations sur les modifications pour synchronisation.</a:t>
            </a:r>
          </a:p>
          <a:p>
            <a:r>
              <a:rPr lang="fr-FR" b="1" dirty="0" err="1"/>
              <a:t>Méta-données</a:t>
            </a:r>
            <a:r>
              <a:rPr lang="fr-FR" b="1" dirty="0"/>
              <a:t> associées</a:t>
            </a:r>
            <a:r>
              <a:rPr lang="fr-FR" dirty="0"/>
              <a:t> : Infos supplémentaires (comme l’auteur et la date).</a:t>
            </a:r>
          </a:p>
          <a:p>
            <a:r>
              <a:rPr lang="fr-FR" b="1" dirty="0"/>
              <a:t>Réplication</a:t>
            </a:r>
            <a:r>
              <a:rPr lang="fr-FR" dirty="0"/>
              <a:t> : Copie des données entre nœuds pour garantir l’uniformité.</a:t>
            </a:r>
          </a:p>
          <a:p>
            <a:r>
              <a:rPr lang="fr-FR" dirty="0"/>
              <a:t>Ces éléments assurent des échanges de données efficaces et fiables dans un système distribué.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19" Type="http://schemas.openxmlformats.org/officeDocument/2006/relationships/image" Target="../media/image28.pn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96772"/>
            <a:ext cx="662154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0066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CAHIER DE CONCEPTION</a:t>
            </a:r>
            <a:endParaRPr lang="en-US" sz="4400" dirty="0">
              <a:solidFill>
                <a:srgbClr val="FF0066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37724" y="2596515"/>
            <a:ext cx="6851571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Distributed File Replicator (</a:t>
            </a:r>
            <a:r>
              <a:rPr lang="en-US" sz="3500" b="1" dirty="0">
                <a:solidFill>
                  <a:srgbClr val="FF0066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DFR</a:t>
            </a:r>
            <a:r>
              <a:rPr lang="en-US" sz="35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)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37724" y="3518773"/>
            <a:ext cx="12954952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3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Conception, développement et déploiement d'un système de réplication distribuée de fichiers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837724" y="474523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Rédigé par </a:t>
            </a:r>
            <a:r>
              <a:rPr lang="en-US" sz="1850" b="1" dirty="0">
                <a:solidFill>
                  <a:srgbClr val="FF006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DJEUDA TCHAPNGA PAUL HERVÉ</a:t>
            </a:r>
            <a:r>
              <a:rPr lang="en-US" sz="1850" dirty="0">
                <a:solidFill>
                  <a:srgbClr val="FF006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 </a:t>
            </a: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et </a:t>
            </a:r>
            <a:r>
              <a:rPr lang="en-US" sz="1850" b="1" dirty="0">
                <a:solidFill>
                  <a:srgbClr val="FF006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GARKA Jules</a:t>
            </a:r>
            <a:r>
              <a:rPr lang="en-US" sz="1850" dirty="0">
                <a:solidFill>
                  <a:srgbClr val="FF006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</a:t>
            </a:r>
            <a:r>
              <a:rPr lang="en-US" sz="1850" b="1" dirty="0">
                <a:solidFill>
                  <a:srgbClr val="FF006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GARKA Joël</a:t>
            </a:r>
            <a:endParaRPr lang="en-US" sz="1850" dirty="0">
              <a:solidFill>
                <a:srgbClr val="FF0066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37724" y="539746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Sous la supervision de </a:t>
            </a:r>
            <a:r>
              <a:rPr lang="en-US" sz="1850" b="1" dirty="0">
                <a:solidFill>
                  <a:srgbClr val="FF006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M. NGUIMBUS Emmanuel</a:t>
            </a:r>
            <a:endParaRPr lang="en-US" sz="1850" dirty="0">
              <a:solidFill>
                <a:srgbClr val="FF0066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37724" y="604968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Année Académique : </a:t>
            </a:r>
            <a:r>
              <a:rPr lang="en-US" sz="18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2023 – 2024</a:t>
            </a:r>
            <a:endParaRPr lang="en-US" sz="1850" dirty="0"/>
          </a:p>
        </p:txBody>
      </p:sp>
      <p:sp>
        <p:nvSpPr>
          <p:cNvPr id="8" name="Rectangle 7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63936" y="494348"/>
            <a:ext cx="4379119" cy="528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TABLE DES MATIÈRES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963936" y="1382673"/>
            <a:ext cx="17978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63936" y="1665327"/>
            <a:ext cx="5261253" cy="22860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5" name="Text 3"/>
          <p:cNvSpPr/>
          <p:nvPr/>
        </p:nvSpPr>
        <p:spPr>
          <a:xfrm>
            <a:off x="1963936" y="1800939"/>
            <a:ext cx="2115026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Introduction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404973" y="1382673"/>
            <a:ext cx="17978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4973" y="1665327"/>
            <a:ext cx="5261372" cy="22860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8" name="Text 6"/>
          <p:cNvSpPr/>
          <p:nvPr/>
        </p:nvSpPr>
        <p:spPr>
          <a:xfrm>
            <a:off x="7404973" y="1800939"/>
            <a:ext cx="2553772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Objectifs de la conception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963936" y="2379821"/>
            <a:ext cx="17978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63936" y="2662476"/>
            <a:ext cx="5261253" cy="22860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1" name="Text 9"/>
          <p:cNvSpPr/>
          <p:nvPr/>
        </p:nvSpPr>
        <p:spPr>
          <a:xfrm>
            <a:off x="1963936" y="2798088"/>
            <a:ext cx="3354586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Architecture générale du système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404973" y="2379821"/>
            <a:ext cx="17978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4973" y="2662476"/>
            <a:ext cx="5261372" cy="22860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4" name="Text 12"/>
          <p:cNvSpPr/>
          <p:nvPr/>
        </p:nvSpPr>
        <p:spPr>
          <a:xfrm>
            <a:off x="7404973" y="2798088"/>
            <a:ext cx="3779282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Architecture logique (vue en couches)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963936" y="3376970"/>
            <a:ext cx="17978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963936" y="3659624"/>
            <a:ext cx="5261253" cy="22860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7" name="Text 15"/>
          <p:cNvSpPr/>
          <p:nvPr/>
        </p:nvSpPr>
        <p:spPr>
          <a:xfrm>
            <a:off x="1963936" y="3795236"/>
            <a:ext cx="260425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Conception du démon DFR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404973" y="3376970"/>
            <a:ext cx="17978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04973" y="3659624"/>
            <a:ext cx="5261372" cy="22860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0" name="Text 18"/>
          <p:cNvSpPr/>
          <p:nvPr/>
        </p:nvSpPr>
        <p:spPr>
          <a:xfrm>
            <a:off x="7404973" y="3795236"/>
            <a:ext cx="2651641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Diagrammes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963936" y="4814768"/>
            <a:ext cx="3447574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963936" y="4351675"/>
            <a:ext cx="17978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963936" y="4634329"/>
            <a:ext cx="3447574" cy="22860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6" name="Text 24"/>
          <p:cNvSpPr/>
          <p:nvPr/>
        </p:nvSpPr>
        <p:spPr>
          <a:xfrm>
            <a:off x="1963936" y="4769941"/>
            <a:ext cx="3447574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Conception de la communication réseau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404973" y="4319349"/>
            <a:ext cx="17978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08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04973" y="4634329"/>
            <a:ext cx="3447574" cy="22860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9" name="Text 27"/>
          <p:cNvSpPr/>
          <p:nvPr/>
        </p:nvSpPr>
        <p:spPr>
          <a:xfrm>
            <a:off x="7404973" y="4769941"/>
            <a:ext cx="293322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Conception de l'interface Web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963936" y="5657969"/>
            <a:ext cx="17978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09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963936" y="5940623"/>
            <a:ext cx="3447574" cy="22860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32" name="Text 30"/>
          <p:cNvSpPr/>
          <p:nvPr/>
        </p:nvSpPr>
        <p:spPr>
          <a:xfrm>
            <a:off x="1963936" y="6076236"/>
            <a:ext cx="3447574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Choix technologiques et justification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7404973" y="5568462"/>
            <a:ext cx="17978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 Light" pitchFamily="34" charset="0"/>
              </a:rPr>
              <a:t>10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404973" y="5851116"/>
            <a:ext cx="3447574" cy="22860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38" name="Text 36"/>
          <p:cNvSpPr/>
          <p:nvPr/>
        </p:nvSpPr>
        <p:spPr>
          <a:xfrm>
            <a:off x="7404973" y="5986729"/>
            <a:ext cx="2564963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Packaging et déploiement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963936" y="6919436"/>
            <a:ext cx="179784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 Light" pitchFamily="34" charset="0"/>
              </a:rPr>
              <a:t>11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963936" y="7202091"/>
            <a:ext cx="10702290" cy="22860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41" name="Text 39"/>
          <p:cNvSpPr/>
          <p:nvPr/>
        </p:nvSpPr>
        <p:spPr>
          <a:xfrm>
            <a:off x="1963936" y="7337703"/>
            <a:ext cx="2115026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Conclusion</a:t>
            </a:r>
            <a:endParaRPr lang="en-US" sz="1650" dirty="0"/>
          </a:p>
        </p:txBody>
      </p:sp>
      <p:sp>
        <p:nvSpPr>
          <p:cNvPr id="42" name="Rectangle 41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1354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20374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1.</a:t>
            </a: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INTRODUCTION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896314"/>
            <a:ext cx="12954952" cy="191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Ce document constitue le </a:t>
            </a:r>
            <a:r>
              <a:rPr lang="en-US" sz="23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cahier de conception</a:t>
            </a:r>
            <a:r>
              <a:rPr lang="en-US" sz="2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du projet </a:t>
            </a:r>
            <a:r>
              <a:rPr lang="en-US" sz="23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Distributed File Replicator (DFR)</a:t>
            </a:r>
            <a:r>
              <a:rPr lang="en-US" sz="2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 Il fait suite au cahier d'analyse et décrit de manière détaillée </a:t>
            </a:r>
            <a:r>
              <a:rPr lang="en-US" sz="23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les choix architecturaux, les composants internes, les mécanismes techniques et les outils retenus</a:t>
            </a:r>
            <a:r>
              <a:rPr lang="en-US" sz="2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pour la mise en œuvre du système.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837724" y="5080040"/>
            <a:ext cx="12954952" cy="1435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L'objectif principal de cette phase est de transformer les besoins fonctionnels et non fonctionnels identifiés en </a:t>
            </a:r>
            <a:r>
              <a:rPr lang="en-US" sz="23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une solution technique cohérente, modulaire et maintenable</a:t>
            </a:r>
            <a:r>
              <a:rPr lang="en-US" sz="2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prête à être implémentée.</a:t>
            </a:r>
            <a:endParaRPr lang="en-US" sz="2350" dirty="0"/>
          </a:p>
        </p:txBody>
      </p:sp>
      <p:sp>
        <p:nvSpPr>
          <p:cNvPr id="5" name="Rectangle 4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914" y="599718"/>
            <a:ext cx="8174355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20374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2.</a:t>
            </a:r>
            <a:r>
              <a:rPr lang="en-US" sz="40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OBJECTIFS DE LA CONCEPTION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38914" y="1674733"/>
            <a:ext cx="12952571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La conception du DFR vise à 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38914" y="2267426"/>
            <a:ext cx="6367462" cy="1642467"/>
          </a:xfrm>
          <a:prstGeom prst="roundRect">
            <a:avLst>
              <a:gd name="adj" fmla="val 8908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F20374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5" name="Shape 3"/>
          <p:cNvSpPr/>
          <p:nvPr/>
        </p:nvSpPr>
        <p:spPr>
          <a:xfrm>
            <a:off x="808434" y="2267426"/>
            <a:ext cx="121920" cy="1642467"/>
          </a:xfrm>
          <a:prstGeom prst="roundRect">
            <a:avLst>
              <a:gd name="adj" fmla="val 74955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6" name="Text 4"/>
          <p:cNvSpPr/>
          <p:nvPr/>
        </p:nvSpPr>
        <p:spPr>
          <a:xfrm>
            <a:off x="1178362" y="2515433"/>
            <a:ext cx="3725942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Système distribué multi-nœuds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78362" y="2965847"/>
            <a:ext cx="5780008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Mettre en place un </a:t>
            </a:r>
            <a:r>
              <a:rPr lang="en-US" sz="17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système distribué multi-nœuds</a:t>
            </a: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sans point de défaillance unique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23904" y="2267426"/>
            <a:ext cx="6367582" cy="1642467"/>
          </a:xfrm>
          <a:prstGeom prst="roundRect">
            <a:avLst>
              <a:gd name="adj" fmla="val 8908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F20374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9" name="Shape 7"/>
          <p:cNvSpPr/>
          <p:nvPr/>
        </p:nvSpPr>
        <p:spPr>
          <a:xfrm>
            <a:off x="7393424" y="2267426"/>
            <a:ext cx="121920" cy="1642467"/>
          </a:xfrm>
          <a:prstGeom prst="roundRect">
            <a:avLst>
              <a:gd name="adj" fmla="val 74955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0" name="Text 8"/>
          <p:cNvSpPr/>
          <p:nvPr/>
        </p:nvSpPr>
        <p:spPr>
          <a:xfrm>
            <a:off x="7763351" y="2515433"/>
            <a:ext cx="2938939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Mécanismes natifs Linux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63351" y="2965847"/>
            <a:ext cx="5780127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Exploiter </a:t>
            </a:r>
            <a:r>
              <a:rPr lang="en-US" sz="17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les mécanismes natifs du noyau Linux</a:t>
            </a: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pour la détection des changements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38914" y="4127421"/>
            <a:ext cx="6367462" cy="1642467"/>
          </a:xfrm>
          <a:prstGeom prst="roundRect">
            <a:avLst>
              <a:gd name="adj" fmla="val 8908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F20374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13" name="Shape 11"/>
          <p:cNvSpPr/>
          <p:nvPr/>
        </p:nvSpPr>
        <p:spPr>
          <a:xfrm>
            <a:off x="808434" y="4127421"/>
            <a:ext cx="121920" cy="1642467"/>
          </a:xfrm>
          <a:prstGeom prst="roundRect">
            <a:avLst>
              <a:gd name="adj" fmla="val 74955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4" name="Text 12"/>
          <p:cNvSpPr/>
          <p:nvPr/>
        </p:nvSpPr>
        <p:spPr>
          <a:xfrm>
            <a:off x="1178362" y="4375428"/>
            <a:ext cx="2825710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Cohérence des données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78362" y="4825841"/>
            <a:ext cx="5780008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Garantir la </a:t>
            </a:r>
            <a:r>
              <a:rPr lang="en-US" sz="17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cohérence des données</a:t>
            </a: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entre plusieurs machines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904" y="4127421"/>
            <a:ext cx="6367582" cy="1642467"/>
          </a:xfrm>
          <a:prstGeom prst="roundRect">
            <a:avLst>
              <a:gd name="adj" fmla="val 8908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F20374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17" name="Shape 15"/>
          <p:cNvSpPr/>
          <p:nvPr/>
        </p:nvSpPr>
        <p:spPr>
          <a:xfrm>
            <a:off x="7393424" y="4127421"/>
            <a:ext cx="121920" cy="1642467"/>
          </a:xfrm>
          <a:prstGeom prst="roundRect">
            <a:avLst>
              <a:gd name="adj" fmla="val 74955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8" name="Text 16"/>
          <p:cNvSpPr/>
          <p:nvPr/>
        </p:nvSpPr>
        <p:spPr>
          <a:xfrm>
            <a:off x="7763351" y="4375428"/>
            <a:ext cx="2559725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Solution performante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63351" y="4825841"/>
            <a:ext cx="5780127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Fournir une </a:t>
            </a:r>
            <a:r>
              <a:rPr lang="en-US" sz="17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solution légère, performante et sécurisée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38914" y="5987415"/>
            <a:ext cx="6367462" cy="1642467"/>
          </a:xfrm>
          <a:prstGeom prst="roundRect">
            <a:avLst>
              <a:gd name="adj" fmla="val 8908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F20374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21" name="Shape 19"/>
          <p:cNvSpPr/>
          <p:nvPr/>
        </p:nvSpPr>
        <p:spPr>
          <a:xfrm>
            <a:off x="808434" y="5987415"/>
            <a:ext cx="121920" cy="1642467"/>
          </a:xfrm>
          <a:prstGeom prst="roundRect">
            <a:avLst>
              <a:gd name="adj" fmla="val 74955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2" name="Text 20"/>
          <p:cNvSpPr/>
          <p:nvPr/>
        </p:nvSpPr>
        <p:spPr>
          <a:xfrm>
            <a:off x="1178362" y="6235422"/>
            <a:ext cx="2892981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Interface de supervision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78362" y="6685836"/>
            <a:ext cx="578000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Offrir une </a:t>
            </a:r>
            <a:r>
              <a:rPr lang="en-US" sz="17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interface web de supervision et de contrôle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423904" y="5987415"/>
            <a:ext cx="6367582" cy="1642467"/>
          </a:xfrm>
          <a:prstGeom prst="roundRect">
            <a:avLst>
              <a:gd name="adj" fmla="val 8908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F20374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25" name="Shape 23"/>
          <p:cNvSpPr/>
          <p:nvPr/>
        </p:nvSpPr>
        <p:spPr>
          <a:xfrm>
            <a:off x="7393424" y="5987415"/>
            <a:ext cx="121920" cy="1642467"/>
          </a:xfrm>
          <a:prstGeom prst="roundRect">
            <a:avLst>
              <a:gd name="adj" fmla="val 74955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6" name="Text 24"/>
          <p:cNvSpPr/>
          <p:nvPr/>
        </p:nvSpPr>
        <p:spPr>
          <a:xfrm>
            <a:off x="7763351" y="6235422"/>
            <a:ext cx="2559725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Installation facilitée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63351" y="6685836"/>
            <a:ext cx="5780127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Faciliter l'installation et l'administration via un </a:t>
            </a:r>
            <a:r>
              <a:rPr lang="en-US" sz="17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paquet Debian (.deb)</a:t>
            </a:r>
            <a:endParaRPr lang="en-US" sz="1700" dirty="0"/>
          </a:p>
        </p:txBody>
      </p:sp>
      <p:sp>
        <p:nvSpPr>
          <p:cNvPr id="28" name="Rectangle 27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09625"/>
            <a:ext cx="1148226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20374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3.</a:t>
            </a: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ARCHITECTURE GÉNÉRALE DU SYSTÈME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609368"/>
            <a:ext cx="47320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3.1 Choix architectural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37724" y="2531626"/>
            <a:ext cx="12954952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 système adopte une </a:t>
            </a:r>
            <a:r>
              <a:rPr lang="en-US" sz="23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architecture distribuée multi-maître</a:t>
            </a:r>
            <a:r>
              <a:rPr lang="en-US" sz="2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dans laquelle chaque nœud est à la fois producteur et consommateur de données.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837724" y="375808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Chaque machine participante exécute :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41031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 </a:t>
            </a:r>
            <a:r>
              <a:rPr lang="en-US" sz="18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démon DFR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87703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 </a:t>
            </a:r>
            <a:r>
              <a:rPr lang="en-US" sz="18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service de communication réseau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34376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une </a:t>
            </a:r>
            <a:r>
              <a:rPr lang="en-US" sz="18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API locale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81048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une </a:t>
            </a:r>
            <a:r>
              <a:rPr lang="en-US" sz="18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interface web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37724" y="6462713"/>
            <a:ext cx="12954952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Aucun nœud central n'est requis, ce qui permet d'éviter les problèmes de </a:t>
            </a:r>
            <a:r>
              <a:rPr lang="en-US" sz="23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Single Point of Failure (SPoF)</a:t>
            </a:r>
            <a:r>
              <a:rPr lang="en-US" sz="2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</a:t>
            </a:r>
            <a:endParaRPr lang="en-US" sz="2350" dirty="0"/>
          </a:p>
        </p:txBody>
      </p:sp>
      <p:sp>
        <p:nvSpPr>
          <p:cNvPr id="11" name="Rectangle 10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1318" y="493633"/>
            <a:ext cx="5992892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3.2 Principe de fonctionnement global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318" y="1274921"/>
            <a:ext cx="897612" cy="1077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48357" y="1454348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Modification locale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3048357" y="1825943"/>
            <a:ext cx="9610606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 utilisateur modifie un fichier localement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318" y="2352080"/>
            <a:ext cx="897612" cy="10771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48357" y="2531507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Notification noyau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3048357" y="2903101"/>
            <a:ext cx="9610606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 noyau Linux notifie le démon via </a:t>
            </a:r>
            <a:r>
              <a:rPr lang="en-US" sz="14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inotify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1318" y="3429238"/>
            <a:ext cx="897612" cy="10771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48357" y="3608665"/>
            <a:ext cx="2242185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Génération événement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3048357" y="3980259"/>
            <a:ext cx="9610606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 démon génère un événement interne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1318" y="4506397"/>
            <a:ext cx="897612" cy="10771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048357" y="4685824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Transmission réseau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3048357" y="5057418"/>
            <a:ext cx="9610606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L'événement est transmis aux autres nœuds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1318" y="5583555"/>
            <a:ext cx="897612" cy="107715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048357" y="5762982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Application distante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3048357" y="6134576"/>
            <a:ext cx="9610606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Les nœuds distants appliquent la modification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1318" y="6660713"/>
            <a:ext cx="897612" cy="107715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048357" y="6840141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Mise à jour interface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3048357" y="7211735"/>
            <a:ext cx="9610606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L'interface web reflète l'état du système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5700" y="334923"/>
            <a:ext cx="6469975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20374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4.</a:t>
            </a:r>
            <a:r>
              <a:rPr lang="en-US" sz="22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ARCHITECTURE LOGIQUE (VUE EN COUCHES)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695700" y="935593"/>
            <a:ext cx="7239000" cy="48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 DFR est structuré selon une </a:t>
            </a:r>
            <a:r>
              <a:rPr lang="en-US" sz="11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architecture en couches</a:t>
            </a:r>
            <a:r>
              <a:rPr lang="en-US" sz="11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garantissant la séparation des responsabilités et la modularité.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3695700" y="1604486"/>
            <a:ext cx="2938463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4.1 Description des couches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95700" y="2072997"/>
            <a:ext cx="723900" cy="1163122"/>
          </a:xfrm>
          <a:prstGeom prst="roundRect">
            <a:avLst>
              <a:gd name="adj" fmla="val 7055"/>
            </a:avLst>
          </a:prstGeom>
          <a:solidFill>
            <a:srgbClr val="F20374"/>
          </a:solidFill>
          <a:ln w="7620">
            <a:solidFill>
              <a:srgbClr val="FF1C8D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6" name="Text 4"/>
          <p:cNvSpPr/>
          <p:nvPr/>
        </p:nvSpPr>
        <p:spPr>
          <a:xfrm>
            <a:off x="3972163" y="2547699"/>
            <a:ext cx="170974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41163" y="2194560"/>
            <a:ext cx="1142762" cy="17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Couche Interface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41163" y="2446258"/>
            <a:ext cx="1142762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Supervision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41163" y="2683192"/>
            <a:ext cx="1142762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41163" y="2920127"/>
            <a:ext cx="1142762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Administration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322" y="3232309"/>
            <a:ext cx="6393656" cy="7620"/>
          </a:xfrm>
          <a:prstGeom prst="roundRect">
            <a:avLst>
              <a:gd name="adj" fmla="val 670261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2" name="Shape 10"/>
          <p:cNvSpPr/>
          <p:nvPr/>
        </p:nvSpPr>
        <p:spPr>
          <a:xfrm>
            <a:off x="3695700" y="3296841"/>
            <a:ext cx="1447800" cy="926187"/>
          </a:xfrm>
          <a:prstGeom prst="roundRect">
            <a:avLst>
              <a:gd name="adj" fmla="val 5514"/>
            </a:avLst>
          </a:prstGeom>
          <a:solidFill>
            <a:srgbClr val="F20374"/>
          </a:solidFill>
          <a:ln w="7620">
            <a:solidFill>
              <a:srgbClr val="FF1C8D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13" name="Text 11"/>
          <p:cNvSpPr/>
          <p:nvPr/>
        </p:nvSpPr>
        <p:spPr>
          <a:xfrm>
            <a:off x="4334113" y="3653076"/>
            <a:ext cx="170974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65063" y="3418403"/>
            <a:ext cx="1430536" cy="17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Couche 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65063" y="3670102"/>
            <a:ext cx="2850594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Interface de contrôle locale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65063" y="3907036"/>
            <a:ext cx="2850594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Communication entre le démon et l'interface web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04222" y="4219218"/>
            <a:ext cx="5669756" cy="7620"/>
          </a:xfrm>
          <a:prstGeom prst="roundRect">
            <a:avLst>
              <a:gd name="adj" fmla="val 670261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8" name="Shape 16"/>
          <p:cNvSpPr/>
          <p:nvPr/>
        </p:nvSpPr>
        <p:spPr>
          <a:xfrm>
            <a:off x="3695700" y="4283750"/>
            <a:ext cx="2171700" cy="926187"/>
          </a:xfrm>
          <a:prstGeom prst="roundRect">
            <a:avLst>
              <a:gd name="adj" fmla="val 5514"/>
            </a:avLst>
          </a:prstGeom>
          <a:solidFill>
            <a:srgbClr val="F20374"/>
          </a:solidFill>
          <a:ln w="7620">
            <a:solidFill>
              <a:srgbClr val="FF1C8D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19" name="Text 17"/>
          <p:cNvSpPr/>
          <p:nvPr/>
        </p:nvSpPr>
        <p:spPr>
          <a:xfrm>
            <a:off x="4696063" y="4639985"/>
            <a:ext cx="170974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88963" y="4405313"/>
            <a:ext cx="1577340" cy="17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Couche Communication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8963" y="4657011"/>
            <a:ext cx="2289691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Échange des événements entre nœuds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88963" y="4893945"/>
            <a:ext cx="2289691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Protocole applicatif propriétaire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28122" y="5206127"/>
            <a:ext cx="4945856" cy="7620"/>
          </a:xfrm>
          <a:prstGeom prst="roundRect">
            <a:avLst>
              <a:gd name="adj" fmla="val 670261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4" name="Shape 22"/>
          <p:cNvSpPr/>
          <p:nvPr/>
        </p:nvSpPr>
        <p:spPr>
          <a:xfrm>
            <a:off x="3695700" y="5270659"/>
            <a:ext cx="2895600" cy="1400056"/>
          </a:xfrm>
          <a:prstGeom prst="roundRect">
            <a:avLst>
              <a:gd name="adj" fmla="val 3648"/>
            </a:avLst>
          </a:prstGeom>
          <a:solidFill>
            <a:srgbClr val="F20374"/>
          </a:solidFill>
          <a:ln w="7620">
            <a:solidFill>
              <a:srgbClr val="FF1C8D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25" name="Text 23"/>
          <p:cNvSpPr/>
          <p:nvPr/>
        </p:nvSpPr>
        <p:spPr>
          <a:xfrm>
            <a:off x="5058013" y="5863828"/>
            <a:ext cx="170974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12863" y="5392222"/>
            <a:ext cx="1430536" cy="17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Couche Cœur DFR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12863" y="5643920"/>
            <a:ext cx="1793319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Gestion des événements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12863" y="5880854"/>
            <a:ext cx="1793319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Résolution des conflits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12863" y="6117788"/>
            <a:ext cx="1793319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Application des changements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12863" y="6354723"/>
            <a:ext cx="1793319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Journalisation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52022" y="6666905"/>
            <a:ext cx="4221956" cy="7620"/>
          </a:xfrm>
          <a:prstGeom prst="roundRect">
            <a:avLst>
              <a:gd name="adj" fmla="val 670261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32" name="Shape 30"/>
          <p:cNvSpPr/>
          <p:nvPr/>
        </p:nvSpPr>
        <p:spPr>
          <a:xfrm>
            <a:off x="3695700" y="6731437"/>
            <a:ext cx="3619500" cy="1163122"/>
          </a:xfrm>
          <a:prstGeom prst="roundRect">
            <a:avLst>
              <a:gd name="adj" fmla="val 4391"/>
            </a:avLst>
          </a:prstGeom>
          <a:solidFill>
            <a:srgbClr val="F20374"/>
          </a:solidFill>
          <a:ln w="7620">
            <a:solidFill>
              <a:srgbClr val="FF1C8D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33" name="Text 31"/>
          <p:cNvSpPr/>
          <p:nvPr/>
        </p:nvSpPr>
        <p:spPr>
          <a:xfrm>
            <a:off x="5419963" y="7206139"/>
            <a:ext cx="170974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36763" y="6852999"/>
            <a:ext cx="1430536" cy="17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Couche Noyau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36763" y="7104698"/>
            <a:ext cx="2200751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Accès direct au système de fichiers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36763" y="7341632"/>
            <a:ext cx="2200751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Détection des événements via inotify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436763" y="7578566"/>
            <a:ext cx="2200751" cy="194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Gestion des sockets réseau</a:t>
            </a:r>
            <a:endParaRPr lang="en-US" sz="950" dirty="0"/>
          </a:p>
        </p:txBody>
      </p:sp>
      <p:sp>
        <p:nvSpPr>
          <p:cNvPr id="38" name="Rectangle 37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76043"/>
            <a:ext cx="849808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20374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5.</a:t>
            </a: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CONCEPTION DU DÉMON DFR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475786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5.1 Nature du démon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37724" y="3398044"/>
            <a:ext cx="12954952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 cœur du système est implémenté sous la forme d'un </a:t>
            </a:r>
            <a:r>
              <a:rPr lang="en-US" sz="23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démon système écrit en langage C</a:t>
            </a:r>
            <a:r>
              <a:rPr lang="en-US" sz="2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837724" y="414587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Ce choix permet :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837724" y="4798100"/>
            <a:ext cx="4158734" cy="1755458"/>
          </a:xfrm>
          <a:prstGeom prst="roundRect">
            <a:avLst>
              <a:gd name="adj" fmla="val 5727"/>
            </a:avLst>
          </a:prstGeom>
          <a:solidFill>
            <a:srgbClr val="F20374"/>
          </a:solidFill>
          <a:ln w="7620">
            <a:solidFill>
              <a:srgbClr val="FF1C8D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7" name="Text 5"/>
          <p:cNvSpPr/>
          <p:nvPr/>
        </p:nvSpPr>
        <p:spPr>
          <a:xfrm>
            <a:off x="1084659" y="504503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Accès direct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84659" y="5540573"/>
            <a:ext cx="36648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 accès direct aux API noyau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5235773" y="4798100"/>
            <a:ext cx="4158734" cy="1755458"/>
          </a:xfrm>
          <a:prstGeom prst="roundRect">
            <a:avLst>
              <a:gd name="adj" fmla="val 5727"/>
            </a:avLst>
          </a:prstGeom>
          <a:solidFill>
            <a:srgbClr val="F20374"/>
          </a:solidFill>
          <a:ln w="7620">
            <a:solidFill>
              <a:srgbClr val="FF1C8D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10" name="Text 8"/>
          <p:cNvSpPr/>
          <p:nvPr/>
        </p:nvSpPr>
        <p:spPr>
          <a:xfrm>
            <a:off x="5482709" y="5045035"/>
            <a:ext cx="282499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Hautes performances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2709" y="5540573"/>
            <a:ext cx="36648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 hautes performances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633823" y="4798100"/>
            <a:ext cx="4158853" cy="1755458"/>
          </a:xfrm>
          <a:prstGeom prst="roundRect">
            <a:avLst>
              <a:gd name="adj" fmla="val 5727"/>
            </a:avLst>
          </a:prstGeom>
          <a:solidFill>
            <a:srgbClr val="F20374"/>
          </a:solidFill>
          <a:ln w="7620">
            <a:solidFill>
              <a:srgbClr val="FF1C8D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13" name="Text 11"/>
          <p:cNvSpPr/>
          <p:nvPr/>
        </p:nvSpPr>
        <p:spPr>
          <a:xfrm>
            <a:off x="9880759" y="504503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Ressources réduites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80759" y="5540573"/>
            <a:ext cx="366498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une consommation réduite des ressources</a:t>
            </a:r>
            <a:endParaRPr lang="en-US" sz="1850" dirty="0"/>
          </a:p>
        </p:txBody>
      </p:sp>
      <p:sp>
        <p:nvSpPr>
          <p:cNvPr id="15" name="Rectangle 14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4174" y="582097"/>
            <a:ext cx="5788223" cy="49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0066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5.2 </a:t>
            </a:r>
            <a:r>
              <a:rPr lang="en-US" sz="3100" b="1" dirty="0">
                <a:solidFill>
                  <a:schemeClr val="bg1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Modules internes du démon</a:t>
            </a:r>
            <a:endParaRPr lang="en-US" sz="31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1014174" y="1503402"/>
            <a:ext cx="12601932" cy="5484495"/>
          </a:xfrm>
          <a:prstGeom prst="roundRect">
            <a:avLst>
              <a:gd name="adj" fmla="val 162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4" name="Shape 2"/>
          <p:cNvSpPr/>
          <p:nvPr/>
        </p:nvSpPr>
        <p:spPr>
          <a:xfrm>
            <a:off x="1021794" y="1511022"/>
            <a:ext cx="12586692" cy="6076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5" name="Text 3"/>
          <p:cNvSpPr/>
          <p:nvPr/>
        </p:nvSpPr>
        <p:spPr>
          <a:xfrm>
            <a:off x="1233488" y="1645563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FF006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Module</a:t>
            </a:r>
            <a:endParaRPr lang="en-US" sz="1650" dirty="0">
              <a:solidFill>
                <a:srgbClr val="FF0066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530584" y="1645563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FF006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Rôle</a:t>
            </a:r>
            <a:endParaRPr lang="en-US" sz="1650" dirty="0">
              <a:solidFill>
                <a:srgbClr val="FF0066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1021794" y="2118717"/>
            <a:ext cx="12586692" cy="6076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8" name="Text 6"/>
          <p:cNvSpPr/>
          <p:nvPr/>
        </p:nvSpPr>
        <p:spPr>
          <a:xfrm>
            <a:off x="1233488" y="2253258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main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30584" y="2253258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Initialisation et orchestration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021794" y="2726412"/>
            <a:ext cx="12586692" cy="6076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1" name="Text 9"/>
          <p:cNvSpPr/>
          <p:nvPr/>
        </p:nvSpPr>
        <p:spPr>
          <a:xfrm>
            <a:off x="1233488" y="2860953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inotify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530584" y="2860953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Surveillance des fichiers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21794" y="3334107"/>
            <a:ext cx="12586692" cy="6076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4" name="Text 12"/>
          <p:cNvSpPr/>
          <p:nvPr/>
        </p:nvSpPr>
        <p:spPr>
          <a:xfrm>
            <a:off x="1233488" y="3468648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event_queue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30584" y="3468648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File d'événements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21794" y="3941802"/>
            <a:ext cx="12586692" cy="6076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7" name="Text 15"/>
          <p:cNvSpPr/>
          <p:nvPr/>
        </p:nvSpPr>
        <p:spPr>
          <a:xfrm>
            <a:off x="1233488" y="4076343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network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530584" y="4076343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Communication inter-nœuds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021794" y="4549497"/>
            <a:ext cx="12586692" cy="6076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0" name="Text 18"/>
          <p:cNvSpPr/>
          <p:nvPr/>
        </p:nvSpPr>
        <p:spPr>
          <a:xfrm>
            <a:off x="1233488" y="4684038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replicator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530584" y="4684038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Application des changements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21794" y="5157192"/>
            <a:ext cx="12586692" cy="6076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3" name="Text 21"/>
          <p:cNvSpPr/>
          <p:nvPr/>
        </p:nvSpPr>
        <p:spPr>
          <a:xfrm>
            <a:off x="1233488" y="5291733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conflict_manager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530584" y="5291733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Gestion des conflits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021794" y="5764887"/>
            <a:ext cx="12586692" cy="6076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6" name="Text 24"/>
          <p:cNvSpPr/>
          <p:nvPr/>
        </p:nvSpPr>
        <p:spPr>
          <a:xfrm>
            <a:off x="1233488" y="5899428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control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530584" y="5899428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Interface de commande locale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021794" y="6372582"/>
            <a:ext cx="12586692" cy="6076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9" name="Text 27"/>
          <p:cNvSpPr/>
          <p:nvPr/>
        </p:nvSpPr>
        <p:spPr>
          <a:xfrm>
            <a:off x="1233488" y="6507123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logger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530584" y="6507123"/>
            <a:ext cx="5866328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Journalisation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014174" y="7226022"/>
            <a:ext cx="12601932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Chaque module est indépendant et communique via des structures de données partagées.</a:t>
            </a:r>
            <a:endParaRPr lang="en-US" sz="2050" dirty="0"/>
          </a:p>
        </p:txBody>
      </p:sp>
      <p:sp>
        <p:nvSpPr>
          <p:cNvPr id="32" name="Rectangle 31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07240" y="3714750"/>
            <a:ext cx="7651459" cy="797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5500"/>
              </a:lnSpc>
            </a:pPr>
            <a:r>
              <a:rPr lang="en-US" sz="4400" b="1" dirty="0">
                <a:solidFill>
                  <a:srgbClr val="F20374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6.</a:t>
            </a: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DIAGRAMMES</a:t>
            </a:r>
            <a:endParaRPr lang="en-US" sz="4400" dirty="0"/>
          </a:p>
        </p:txBody>
      </p:sp>
      <p:sp>
        <p:nvSpPr>
          <p:cNvPr id="3" name="Rectangle 2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1648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92322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399" cy="837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613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B801F446-4609-5397-5595-020B1C00A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4630400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20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4578" y="837009"/>
            <a:ext cx="9110782" cy="492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F20374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7.</a:t>
            </a:r>
            <a:r>
              <a:rPr lang="en-US" sz="31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CONCEPTION DE LA COMMUNICATION RÉSEAU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2334578" y="1396008"/>
            <a:ext cx="3149798" cy="39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7.1 Choix techniques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2334578" y="2040731"/>
            <a:ext cx="9961245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La communication au sein du DFR repose sur des fondations robustes pour garantir efficacité et fiabilité 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34578" y="2496622"/>
            <a:ext cx="3208853" cy="1766768"/>
          </a:xfrm>
          <a:prstGeom prst="roundRect">
            <a:avLst>
              <a:gd name="adj" fmla="val 3978"/>
            </a:avLst>
          </a:prstGeom>
          <a:solidFill>
            <a:srgbClr val="F20374"/>
          </a:solidFill>
          <a:ln w="7620">
            <a:solidFill>
              <a:srgbClr val="FF1C8D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6" name="Text 4"/>
          <p:cNvSpPr/>
          <p:nvPr/>
        </p:nvSpPr>
        <p:spPr>
          <a:xfrm>
            <a:off x="2509480" y="2671524"/>
            <a:ext cx="1968579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Sockets TCP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2509480" y="3017877"/>
            <a:ext cx="2859048" cy="1070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Utilisation de </a:t>
            </a:r>
            <a:r>
              <a:rPr lang="en-US" sz="13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sockets TCP</a:t>
            </a:r>
            <a:r>
              <a:rPr lang="en-US" sz="13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pour une communication orientée connexion, assurant la livraison fiable des données.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10714" y="2496622"/>
            <a:ext cx="3208853" cy="1766768"/>
          </a:xfrm>
          <a:prstGeom prst="roundRect">
            <a:avLst>
              <a:gd name="adj" fmla="val 3978"/>
            </a:avLst>
          </a:prstGeom>
          <a:solidFill>
            <a:srgbClr val="F20374"/>
          </a:solidFill>
          <a:ln w="7620">
            <a:solidFill>
              <a:srgbClr val="FF1C8D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9" name="Text 7"/>
          <p:cNvSpPr/>
          <p:nvPr/>
        </p:nvSpPr>
        <p:spPr>
          <a:xfrm>
            <a:off x="5885617" y="2671524"/>
            <a:ext cx="2019895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Protocole propriétaire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885617" y="3017877"/>
            <a:ext cx="2859048" cy="80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 </a:t>
            </a:r>
            <a:r>
              <a:rPr lang="en-US" sz="13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protocole applicatif propriétaire</a:t>
            </a:r>
            <a:r>
              <a:rPr lang="en-US" sz="13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optimisé pour la réplication de fichiers, minimisant la surcharge.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86850" y="2496622"/>
            <a:ext cx="3208973" cy="1766768"/>
          </a:xfrm>
          <a:prstGeom prst="roundRect">
            <a:avLst>
              <a:gd name="adj" fmla="val 3978"/>
            </a:avLst>
          </a:prstGeom>
          <a:solidFill>
            <a:srgbClr val="F20374"/>
          </a:solidFill>
          <a:ln w="7620">
            <a:solidFill>
              <a:srgbClr val="FF1C8D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12" name="Text 10"/>
          <p:cNvSpPr/>
          <p:nvPr/>
        </p:nvSpPr>
        <p:spPr>
          <a:xfrm>
            <a:off x="9261753" y="2671524"/>
            <a:ext cx="1968579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Messages structurés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261753" y="3017877"/>
            <a:ext cx="2859167" cy="1070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Des messages clairement </a:t>
            </a:r>
            <a:r>
              <a:rPr lang="en-US" sz="13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structurés et typés</a:t>
            </a:r>
            <a:r>
              <a:rPr lang="en-US" sz="13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pour une interprétation rapide et sans ambiguïté par les démons.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4578" y="4514374"/>
            <a:ext cx="3869769" cy="39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7.2 Échanges entre nœuds</a:t>
            </a:r>
            <a:endParaRPr lang="en-US" sz="2450" dirty="0"/>
          </a:p>
        </p:txBody>
      </p:sp>
      <p:sp>
        <p:nvSpPr>
          <p:cNvPr id="15" name="Text 13"/>
          <p:cNvSpPr/>
          <p:nvPr/>
        </p:nvSpPr>
        <p:spPr>
          <a:xfrm>
            <a:off x="2334578" y="5159097"/>
            <a:ext cx="9961245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Chaque message échangé entre les nœuds est conçu pour être complet et contextualisé, facilitant ainsi la synchronisation 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34578" y="5614988"/>
            <a:ext cx="9961245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 </a:t>
            </a: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type d’événement</a:t>
            </a: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(création, modification, suppression).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4578" y="5941100"/>
            <a:ext cx="9961245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Les </a:t>
            </a: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métadonnées</a:t>
            </a: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associées (taille, permissions, etc.).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4578" y="6267212"/>
            <a:ext cx="9961245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 </a:t>
            </a:r>
            <a:r>
              <a:rPr lang="en-US" sz="13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contenu du fichier</a:t>
            </a: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(uniquement si nécessaire pour l'opération).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36800" y="6723102"/>
            <a:ext cx="9959023" cy="635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Ce mécanisme assure une </a:t>
            </a:r>
            <a:r>
              <a:rPr lang="en-US" sz="16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réplication fiable et cohérente</a:t>
            </a: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des données à travers l'ensemble du système distribué.</a:t>
            </a:r>
            <a:endParaRPr lang="en-US" sz="1600" dirty="0"/>
          </a:p>
        </p:txBody>
      </p:sp>
      <p:sp>
        <p:nvSpPr>
          <p:cNvPr id="20" name="Rectangle 19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8651" y="563285"/>
            <a:ext cx="6645712" cy="47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20374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8.</a:t>
            </a:r>
            <a:r>
              <a:rPr lang="en-US" sz="29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CONCEPTION DE L’INTERFACE WEB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538651" y="1099304"/>
            <a:ext cx="3020735" cy="37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8.1 Objectifs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2538651" y="1717477"/>
            <a:ext cx="9553099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L'interface web du DFR a pour objectifs principaux 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538651" y="2218968"/>
            <a:ext cx="4696301" cy="1212056"/>
          </a:xfrm>
          <a:prstGeom prst="roundRect">
            <a:avLst>
              <a:gd name="adj" fmla="val 5561"/>
            </a:avLst>
          </a:prstGeom>
          <a:solidFill>
            <a:srgbClr val="252222">
              <a:alpha val="95000"/>
            </a:srgbClr>
          </a:solidFill>
          <a:ln w="22860">
            <a:solidFill>
              <a:srgbClr val="F20374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6" name="Text 4"/>
          <p:cNvSpPr/>
          <p:nvPr/>
        </p:nvSpPr>
        <p:spPr>
          <a:xfrm>
            <a:off x="2721888" y="2402205"/>
            <a:ext cx="2094071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Supervision du système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721888" y="2734389"/>
            <a:ext cx="4329827" cy="51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Visualisation en temps réel de l'état global du système de réplication.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95329" y="2218968"/>
            <a:ext cx="4696420" cy="1212056"/>
          </a:xfrm>
          <a:prstGeom prst="roundRect">
            <a:avLst>
              <a:gd name="adj" fmla="val 5561"/>
            </a:avLst>
          </a:prstGeom>
          <a:solidFill>
            <a:srgbClr val="252222">
              <a:alpha val="95000"/>
            </a:srgbClr>
          </a:solidFill>
          <a:ln w="22860">
            <a:solidFill>
              <a:srgbClr val="F20374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9" name="Text 7"/>
          <p:cNvSpPr/>
          <p:nvPr/>
        </p:nvSpPr>
        <p:spPr>
          <a:xfrm>
            <a:off x="7578566" y="2402205"/>
            <a:ext cx="2197298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Suivi de l'état des nœuds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578566" y="2734389"/>
            <a:ext cx="4329946" cy="51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Vérification individuelle de la disponibilité et de l'activité de chaque nœud participant.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38651" y="3591401"/>
            <a:ext cx="4696301" cy="1212056"/>
          </a:xfrm>
          <a:prstGeom prst="roundRect">
            <a:avLst>
              <a:gd name="adj" fmla="val 5561"/>
            </a:avLst>
          </a:prstGeom>
          <a:solidFill>
            <a:srgbClr val="252222">
              <a:alpha val="95000"/>
            </a:srgbClr>
          </a:solidFill>
          <a:ln w="22860">
            <a:solidFill>
              <a:srgbClr val="F20374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12" name="Text 10"/>
          <p:cNvSpPr/>
          <p:nvPr/>
        </p:nvSpPr>
        <p:spPr>
          <a:xfrm>
            <a:off x="2721888" y="3774638"/>
            <a:ext cx="2296120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Consultation des journaux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721888" y="4106823"/>
            <a:ext cx="4329827" cy="51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Accès centralisé aux événements et logs générés par les démons DFR.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95329" y="3591401"/>
            <a:ext cx="4696420" cy="1212056"/>
          </a:xfrm>
          <a:prstGeom prst="roundRect">
            <a:avLst>
              <a:gd name="adj" fmla="val 5561"/>
            </a:avLst>
          </a:prstGeom>
          <a:solidFill>
            <a:srgbClr val="252222">
              <a:alpha val="95000"/>
            </a:srgbClr>
          </a:solidFill>
          <a:ln w="22860">
            <a:solidFill>
              <a:srgbClr val="F20374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15" name="Text 13"/>
          <p:cNvSpPr/>
          <p:nvPr/>
        </p:nvSpPr>
        <p:spPr>
          <a:xfrm>
            <a:off x="7578566" y="3774638"/>
            <a:ext cx="1887974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Contrôle du démon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78566" y="4106823"/>
            <a:ext cx="4329946" cy="51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Fonctionnalités d'administration pour démarrer, arrêter ou reconfigurer les démons à distance.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38651" y="5044083"/>
            <a:ext cx="3020735" cy="37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8.2 Architecture Web</a:t>
            </a:r>
            <a:endParaRPr lang="en-US" sz="2350" dirty="0"/>
          </a:p>
        </p:txBody>
      </p:sp>
      <p:sp>
        <p:nvSpPr>
          <p:cNvPr id="18" name="Shape 16"/>
          <p:cNvSpPr/>
          <p:nvPr/>
        </p:nvSpPr>
        <p:spPr>
          <a:xfrm>
            <a:off x="2538651" y="5662255"/>
            <a:ext cx="9553099" cy="1181576"/>
          </a:xfrm>
          <a:prstGeom prst="roundRect">
            <a:avLst>
              <a:gd name="adj" fmla="val 5704"/>
            </a:avLst>
          </a:prstGeom>
          <a:solidFill>
            <a:srgbClr val="7E023C"/>
          </a:solidFill>
          <a:ln w="762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19" name="Shape 17"/>
          <p:cNvSpPr/>
          <p:nvPr/>
        </p:nvSpPr>
        <p:spPr>
          <a:xfrm>
            <a:off x="2546271" y="5669875"/>
            <a:ext cx="4768929" cy="1166336"/>
          </a:xfrm>
          <a:prstGeom prst="roundRect">
            <a:avLst>
              <a:gd name="adj" fmla="val 5779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0" name="Text 18"/>
          <p:cNvSpPr/>
          <p:nvPr/>
        </p:nvSpPr>
        <p:spPr>
          <a:xfrm>
            <a:off x="2706648" y="5830253"/>
            <a:ext cx="2306717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Backend : API REST locale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706648" y="6162437"/>
            <a:ext cx="4448175" cy="51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Implémentée avec </a:t>
            </a:r>
            <a:r>
              <a:rPr lang="en-US" sz="125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Flask</a:t>
            </a:r>
            <a:r>
              <a:rPr lang="en-US" sz="12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cette API expose les fonctionnalités du démon via HTTP sur une interface locale.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0" y="5669875"/>
            <a:ext cx="4768929" cy="1166336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3" name="Shape 21"/>
          <p:cNvSpPr/>
          <p:nvPr/>
        </p:nvSpPr>
        <p:spPr>
          <a:xfrm>
            <a:off x="7315200" y="5669875"/>
            <a:ext cx="22860" cy="1166336"/>
          </a:xfrm>
          <a:prstGeom prst="roundRect">
            <a:avLst>
              <a:gd name="adj" fmla="val 294843"/>
            </a:avLst>
          </a:prstGeom>
          <a:solidFill>
            <a:srgbClr val="FF1C8D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4" name="Text 22"/>
          <p:cNvSpPr/>
          <p:nvPr/>
        </p:nvSpPr>
        <p:spPr>
          <a:xfrm>
            <a:off x="7475577" y="5830253"/>
            <a:ext cx="3104436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Frontend : HTML / CSS / JavaScript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475577" y="6162437"/>
            <a:ext cx="4448175" cy="51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Une application web dynamique offrant une expérience utilisateur riche pour la supervision et le contrôle.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538651" y="7024330"/>
            <a:ext cx="9553099" cy="641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La communication entre le frontend web et le démon DFR s'effectue via un </a:t>
            </a:r>
            <a:r>
              <a:rPr lang="en-US" sz="155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socket local</a:t>
            </a:r>
            <a:r>
              <a:rPr lang="en-US" sz="15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assurant une isolation et une sécurité des échanges renforcées.</a:t>
            </a:r>
            <a:endParaRPr lang="en-US" sz="1550" dirty="0"/>
          </a:p>
        </p:txBody>
      </p:sp>
      <p:sp>
        <p:nvSpPr>
          <p:cNvPr id="27" name="Rectangle 26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6620" y="465773"/>
            <a:ext cx="6948130" cy="383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20374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9.</a:t>
            </a:r>
            <a:r>
              <a:rPr lang="en-US" sz="2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CHOIX TECHNOLOGIQUES ET JUSTIFICATION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36620" y="1109424"/>
            <a:ext cx="7757160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La sélection rigoureuse des technologies est essentielle pour garantir la robustesse, la performance et la maintenabilité du système DFR. Voici les principaux choix et leurs motivations :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36620" y="1972389"/>
            <a:ext cx="2498884" cy="1991201"/>
          </a:xfrm>
          <a:prstGeom prst="roundRect">
            <a:avLst>
              <a:gd name="adj" fmla="val 3674"/>
            </a:avLst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5" name="Shape 3"/>
          <p:cNvSpPr/>
          <p:nvPr/>
        </p:nvSpPr>
        <p:spPr>
          <a:xfrm>
            <a:off x="3436620" y="1957149"/>
            <a:ext cx="2498884" cy="60960"/>
          </a:xfrm>
          <a:prstGeom prst="roundRect">
            <a:avLst>
              <a:gd name="adj" fmla="val 89779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6" name="Shape 4"/>
          <p:cNvSpPr/>
          <p:nvPr/>
        </p:nvSpPr>
        <p:spPr>
          <a:xfrm>
            <a:off x="4490621" y="1777008"/>
            <a:ext cx="390882" cy="390882"/>
          </a:xfrm>
          <a:prstGeom prst="roundRect">
            <a:avLst>
              <a:gd name="adj" fmla="val 233932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7897" y="1894284"/>
            <a:ext cx="156329" cy="1563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82114" y="2298144"/>
            <a:ext cx="153293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Langage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82114" y="2567940"/>
            <a:ext cx="2207895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Permet un accès direct aux API du noyau Linux, garantissant des performances optimales et une faible consommation de ressources, essentielles pour un démon système.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65758" y="1972389"/>
            <a:ext cx="2498884" cy="1991201"/>
          </a:xfrm>
          <a:prstGeom prst="roundRect">
            <a:avLst>
              <a:gd name="adj" fmla="val 3674"/>
            </a:avLst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1" name="Shape 8"/>
          <p:cNvSpPr/>
          <p:nvPr/>
        </p:nvSpPr>
        <p:spPr>
          <a:xfrm>
            <a:off x="6065758" y="1957149"/>
            <a:ext cx="2498884" cy="60960"/>
          </a:xfrm>
          <a:prstGeom prst="roundRect">
            <a:avLst>
              <a:gd name="adj" fmla="val 89779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2" name="Shape 9"/>
          <p:cNvSpPr/>
          <p:nvPr/>
        </p:nvSpPr>
        <p:spPr>
          <a:xfrm>
            <a:off x="7119759" y="1777008"/>
            <a:ext cx="390882" cy="390882"/>
          </a:xfrm>
          <a:prstGeom prst="roundRect">
            <a:avLst>
              <a:gd name="adj" fmla="val 233932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7035" y="1894284"/>
            <a:ext cx="156329" cy="1563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1253" y="2298144"/>
            <a:ext cx="153293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inotify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211253" y="2567940"/>
            <a:ext cx="2207895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Mécanisme natif du noyau Linux pour la surveillance du système de fichiers en temps réel, offrant une détection efficace et immédiate des modifications.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694896" y="1972389"/>
            <a:ext cx="2498884" cy="1991201"/>
          </a:xfrm>
          <a:prstGeom prst="roundRect">
            <a:avLst>
              <a:gd name="adj" fmla="val 3674"/>
            </a:avLst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7" name="Shape 13"/>
          <p:cNvSpPr/>
          <p:nvPr/>
        </p:nvSpPr>
        <p:spPr>
          <a:xfrm>
            <a:off x="8694896" y="1957149"/>
            <a:ext cx="2498884" cy="60960"/>
          </a:xfrm>
          <a:prstGeom prst="roundRect">
            <a:avLst>
              <a:gd name="adj" fmla="val 89779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8" name="Shape 14"/>
          <p:cNvSpPr/>
          <p:nvPr/>
        </p:nvSpPr>
        <p:spPr>
          <a:xfrm>
            <a:off x="9748897" y="1777008"/>
            <a:ext cx="390882" cy="390882"/>
          </a:xfrm>
          <a:prstGeom prst="roundRect">
            <a:avLst>
              <a:gd name="adj" fmla="val 233932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66174" y="1894284"/>
            <a:ext cx="156329" cy="15632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40391" y="2298144"/>
            <a:ext cx="153293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Sockets TCP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840391" y="2567940"/>
            <a:ext cx="2207895" cy="1250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Fournissent un contrôle granulaire sur les communications réseau et une indépendance vis-à-vis des frameworks, idéal pour la communication inter-nœuds du démon.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436620" y="4289227"/>
            <a:ext cx="2498884" cy="1991201"/>
          </a:xfrm>
          <a:prstGeom prst="roundRect">
            <a:avLst>
              <a:gd name="adj" fmla="val 3674"/>
            </a:avLst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3" name="Shape 18"/>
          <p:cNvSpPr/>
          <p:nvPr/>
        </p:nvSpPr>
        <p:spPr>
          <a:xfrm>
            <a:off x="3436620" y="4273987"/>
            <a:ext cx="2498884" cy="60960"/>
          </a:xfrm>
          <a:prstGeom prst="roundRect">
            <a:avLst>
              <a:gd name="adj" fmla="val 89779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4" name="Shape 19"/>
          <p:cNvSpPr/>
          <p:nvPr/>
        </p:nvSpPr>
        <p:spPr>
          <a:xfrm>
            <a:off x="4490621" y="4093845"/>
            <a:ext cx="390882" cy="390882"/>
          </a:xfrm>
          <a:prstGeom prst="roundRect">
            <a:avLst>
              <a:gd name="adj" fmla="val 233932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7897" y="4211122"/>
            <a:ext cx="156329" cy="15632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582114" y="4614982"/>
            <a:ext cx="153293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Flask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3582114" y="4884777"/>
            <a:ext cx="2207895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 micro-framework web Python, choisi pour sa simplicité et sa légèreté, parfait pour construire l'interface web de supervision avec un minimum de surcharge.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065758" y="4289227"/>
            <a:ext cx="2498884" cy="1991201"/>
          </a:xfrm>
          <a:prstGeom prst="roundRect">
            <a:avLst>
              <a:gd name="adj" fmla="val 3674"/>
            </a:avLst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29" name="Shape 23"/>
          <p:cNvSpPr/>
          <p:nvPr/>
        </p:nvSpPr>
        <p:spPr>
          <a:xfrm>
            <a:off x="6065758" y="4273987"/>
            <a:ext cx="2498884" cy="60960"/>
          </a:xfrm>
          <a:prstGeom prst="roundRect">
            <a:avLst>
              <a:gd name="adj" fmla="val 89779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30" name="Shape 24"/>
          <p:cNvSpPr/>
          <p:nvPr/>
        </p:nvSpPr>
        <p:spPr>
          <a:xfrm>
            <a:off x="7119759" y="4093845"/>
            <a:ext cx="390882" cy="390882"/>
          </a:xfrm>
          <a:prstGeom prst="roundRect">
            <a:avLst>
              <a:gd name="adj" fmla="val 233932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37035" y="4211122"/>
            <a:ext cx="156329" cy="156329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211253" y="4614982"/>
            <a:ext cx="153293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systemd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211253" y="4884777"/>
            <a:ext cx="2207895" cy="1250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Système et gestionnaire de services pour Linux, assurant la robustesse du démon DFR avec des fonctionnalités de démarrage automatique, de redémarrage et de supervision intégrées.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694896" y="4289227"/>
            <a:ext cx="2498884" cy="1991201"/>
          </a:xfrm>
          <a:prstGeom prst="roundRect">
            <a:avLst>
              <a:gd name="adj" fmla="val 3674"/>
            </a:avLst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35" name="Shape 28"/>
          <p:cNvSpPr/>
          <p:nvPr/>
        </p:nvSpPr>
        <p:spPr>
          <a:xfrm>
            <a:off x="8694896" y="4273987"/>
            <a:ext cx="2498884" cy="60960"/>
          </a:xfrm>
          <a:prstGeom prst="roundRect">
            <a:avLst>
              <a:gd name="adj" fmla="val 89779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36" name="Shape 29"/>
          <p:cNvSpPr/>
          <p:nvPr/>
        </p:nvSpPr>
        <p:spPr>
          <a:xfrm>
            <a:off x="9748897" y="4093845"/>
            <a:ext cx="390882" cy="390882"/>
          </a:xfrm>
          <a:prstGeom prst="roundRect">
            <a:avLst>
              <a:gd name="adj" fmla="val 233932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66174" y="4211122"/>
            <a:ext cx="156329" cy="156329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840391" y="4614982"/>
            <a:ext cx="153293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Debian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8840391" y="4884777"/>
            <a:ext cx="2207895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Distribution Linux reconnue pour sa stabilité et son respect des standards, facilitant le déploiement et la gestion du système sur une plateforme fiable.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3436620" y="6606064"/>
            <a:ext cx="7757160" cy="1157764"/>
          </a:xfrm>
          <a:prstGeom prst="roundRect">
            <a:avLst>
              <a:gd name="adj" fmla="val 6318"/>
            </a:avLst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41" name="Shape 33"/>
          <p:cNvSpPr/>
          <p:nvPr/>
        </p:nvSpPr>
        <p:spPr>
          <a:xfrm>
            <a:off x="3436620" y="6590824"/>
            <a:ext cx="7757160" cy="60960"/>
          </a:xfrm>
          <a:prstGeom prst="roundRect">
            <a:avLst>
              <a:gd name="adj" fmla="val 89779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44" name="Text 35"/>
          <p:cNvSpPr/>
          <p:nvPr/>
        </p:nvSpPr>
        <p:spPr>
          <a:xfrm>
            <a:off x="3582114" y="6931819"/>
            <a:ext cx="153293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VS Code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3582114" y="7201614"/>
            <a:ext cx="7466171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Environnement de développement intégré (IDE) moderne offrant une grande productivité, des outils de débogage avancés et un écosystème riche en extensions pour le développement en C et Python.</a:t>
            </a:r>
            <a:endParaRPr lang="en-US" sz="1000" dirty="0"/>
          </a:p>
        </p:txBody>
      </p:sp>
      <p:sp>
        <p:nvSpPr>
          <p:cNvPr id="46" name="Rectangle 45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Organigramme : Connecteur 46"/>
          <p:cNvSpPr/>
          <p:nvPr/>
        </p:nvSpPr>
        <p:spPr>
          <a:xfrm>
            <a:off x="4519879" y="1822609"/>
            <a:ext cx="332363" cy="312777"/>
          </a:xfrm>
          <a:prstGeom prst="flowChartConnector">
            <a:avLst/>
          </a:prstGeom>
          <a:blipFill dpi="0"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Organigramme : Connecteur 48"/>
          <p:cNvSpPr/>
          <p:nvPr/>
        </p:nvSpPr>
        <p:spPr>
          <a:xfrm>
            <a:off x="4506097" y="4138197"/>
            <a:ext cx="332363" cy="312777"/>
          </a:xfrm>
          <a:prstGeom prst="flowChartConnector">
            <a:avLst/>
          </a:prstGeom>
          <a:blipFill dpi="0"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Organigramme : Connecteur 49"/>
          <p:cNvSpPr/>
          <p:nvPr/>
        </p:nvSpPr>
        <p:spPr>
          <a:xfrm>
            <a:off x="7149017" y="1822609"/>
            <a:ext cx="332363" cy="312777"/>
          </a:xfrm>
          <a:prstGeom prst="flowChartConnector">
            <a:avLst/>
          </a:prstGeom>
          <a:blipFill dpi="0"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Organigramme : Connecteur 50"/>
          <p:cNvSpPr/>
          <p:nvPr/>
        </p:nvSpPr>
        <p:spPr>
          <a:xfrm>
            <a:off x="7143509" y="4138197"/>
            <a:ext cx="332363" cy="312777"/>
          </a:xfrm>
          <a:prstGeom prst="flowChartConnector">
            <a:avLst/>
          </a:prstGeom>
          <a:blipFill dpi="0"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Organigramme : Connecteur 52"/>
          <p:cNvSpPr/>
          <p:nvPr/>
        </p:nvSpPr>
        <p:spPr>
          <a:xfrm>
            <a:off x="9778156" y="1816000"/>
            <a:ext cx="332363" cy="312777"/>
          </a:xfrm>
          <a:prstGeom prst="flowChartConnector">
            <a:avLst/>
          </a:prstGeom>
          <a:blipFill dpi="0"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Organigramme : Connecteur 53"/>
          <p:cNvSpPr/>
          <p:nvPr/>
        </p:nvSpPr>
        <p:spPr>
          <a:xfrm>
            <a:off x="9778156" y="4138197"/>
            <a:ext cx="332363" cy="312777"/>
          </a:xfrm>
          <a:prstGeom prst="flowChartConnector">
            <a:avLst/>
          </a:prstGeom>
          <a:blipFill dpi="0"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5655" y="621149"/>
            <a:ext cx="6134100" cy="487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F20374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10.</a:t>
            </a:r>
            <a:r>
              <a:rPr lang="en-US" sz="30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PACKAGING ET DÉPLOIEMENT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2385655" y="1439466"/>
            <a:ext cx="9859089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 système sera livré sous forme d’un </a:t>
            </a:r>
            <a:r>
              <a:rPr lang="en-US" sz="16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paquet Debian (.deb)</a:t>
            </a: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intégrant plusieurs composants clés pour une distribution et une gestion simplifiées.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385655" y="2288143"/>
            <a:ext cx="9859089" cy="993696"/>
          </a:xfrm>
          <a:prstGeom prst="roundRect">
            <a:avLst>
              <a:gd name="adj" fmla="val 7000"/>
            </a:avLst>
          </a:prstGeom>
          <a:solidFill>
            <a:srgbClr val="252222">
              <a:alpha val="95000"/>
            </a:srgbClr>
          </a:solidFill>
          <a:ln w="22860">
            <a:solidFill>
              <a:srgbClr val="F20374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5" name="Shape 3"/>
          <p:cNvSpPr/>
          <p:nvPr/>
        </p:nvSpPr>
        <p:spPr>
          <a:xfrm>
            <a:off x="2408515" y="2311003"/>
            <a:ext cx="662464" cy="947976"/>
          </a:xfrm>
          <a:prstGeom prst="roundRect">
            <a:avLst>
              <a:gd name="adj" fmla="val 6359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6" name="Text 4"/>
          <p:cNvSpPr/>
          <p:nvPr/>
        </p:nvSpPr>
        <p:spPr>
          <a:xfrm>
            <a:off x="3236595" y="2476619"/>
            <a:ext cx="194845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Le binaire du démon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36595" y="2819519"/>
            <a:ext cx="881967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 cœur exécutable du Distributed File Replicator.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85655" y="3447455"/>
            <a:ext cx="9859089" cy="993696"/>
          </a:xfrm>
          <a:prstGeom prst="roundRect">
            <a:avLst>
              <a:gd name="adj" fmla="val 7000"/>
            </a:avLst>
          </a:prstGeom>
          <a:solidFill>
            <a:srgbClr val="252222">
              <a:alpha val="95000"/>
            </a:srgbClr>
          </a:solidFill>
          <a:ln w="22860">
            <a:solidFill>
              <a:srgbClr val="F20374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9" name="Shape 7"/>
          <p:cNvSpPr/>
          <p:nvPr/>
        </p:nvSpPr>
        <p:spPr>
          <a:xfrm>
            <a:off x="2408515" y="3470315"/>
            <a:ext cx="662464" cy="947976"/>
          </a:xfrm>
          <a:prstGeom prst="roundRect">
            <a:avLst>
              <a:gd name="adj" fmla="val 6359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0" name="Text 8"/>
          <p:cNvSpPr/>
          <p:nvPr/>
        </p:nvSpPr>
        <p:spPr>
          <a:xfrm>
            <a:off x="3236595" y="3635931"/>
            <a:ext cx="194845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Le service systemd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36595" y="3978831"/>
            <a:ext cx="881967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Permet une gestion robuste du démarrage et de l'arrêt du démon.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85655" y="4606766"/>
            <a:ext cx="9859089" cy="993696"/>
          </a:xfrm>
          <a:prstGeom prst="roundRect">
            <a:avLst>
              <a:gd name="adj" fmla="val 7000"/>
            </a:avLst>
          </a:prstGeom>
          <a:solidFill>
            <a:srgbClr val="252222">
              <a:alpha val="95000"/>
            </a:srgbClr>
          </a:solidFill>
          <a:ln w="22860">
            <a:solidFill>
              <a:srgbClr val="F20374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13" name="Shape 11"/>
          <p:cNvSpPr/>
          <p:nvPr/>
        </p:nvSpPr>
        <p:spPr>
          <a:xfrm>
            <a:off x="2408515" y="4629626"/>
            <a:ext cx="662464" cy="947976"/>
          </a:xfrm>
          <a:prstGeom prst="roundRect">
            <a:avLst>
              <a:gd name="adj" fmla="val 6359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4" name="Text 12"/>
          <p:cNvSpPr/>
          <p:nvPr/>
        </p:nvSpPr>
        <p:spPr>
          <a:xfrm>
            <a:off x="3236595" y="4795242"/>
            <a:ext cx="258437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Les fichiers de configuration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36595" y="5138142"/>
            <a:ext cx="881967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Paramètres personnalisables pour adapter le DFR à chaque environnement.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85655" y="5766078"/>
            <a:ext cx="9859089" cy="993696"/>
          </a:xfrm>
          <a:prstGeom prst="roundRect">
            <a:avLst>
              <a:gd name="adj" fmla="val 7000"/>
            </a:avLst>
          </a:prstGeom>
          <a:solidFill>
            <a:srgbClr val="252222">
              <a:alpha val="95000"/>
            </a:srgbClr>
          </a:solidFill>
          <a:ln w="22860">
            <a:solidFill>
              <a:srgbClr val="F20374"/>
            </a:solidFill>
            <a:prstDash val="solid"/>
          </a:ln>
        </p:spPr>
        <p:txBody>
          <a:bodyPr/>
          <a:lstStyle/>
          <a:p>
            <a:endParaRPr lang="fr-US"/>
          </a:p>
        </p:txBody>
      </p:sp>
      <p:sp>
        <p:nvSpPr>
          <p:cNvPr id="17" name="Shape 15"/>
          <p:cNvSpPr/>
          <p:nvPr/>
        </p:nvSpPr>
        <p:spPr>
          <a:xfrm>
            <a:off x="2408515" y="5788938"/>
            <a:ext cx="662464" cy="947976"/>
          </a:xfrm>
          <a:prstGeom prst="roundRect">
            <a:avLst>
              <a:gd name="adj" fmla="val 6359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US"/>
          </a:p>
        </p:txBody>
      </p:sp>
      <p:sp>
        <p:nvSpPr>
          <p:cNvPr id="18" name="Text 16"/>
          <p:cNvSpPr/>
          <p:nvPr/>
        </p:nvSpPr>
        <p:spPr>
          <a:xfrm>
            <a:off x="3236595" y="5954554"/>
            <a:ext cx="194845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L'interface web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36595" y="6297454"/>
            <a:ext cx="881967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L'application web de supervision et de contrôle pour une gestion intuitive.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85655" y="6945987"/>
            <a:ext cx="9859089" cy="66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Ce mode de distribution standardisé facilite grandement l’</a:t>
            </a:r>
            <a:r>
              <a:rPr lang="en-US" sz="1600" b="1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installation, la maintenance et l’intégration</a:t>
            </a:r>
            <a:r>
              <a:rPr lang="en-US" sz="160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dans les environnements basés sur Debian, assurant une expérience utilisateur fluide et fiable.</a:t>
            </a:r>
            <a:endParaRPr lang="en-US" sz="1600" dirty="0"/>
          </a:p>
        </p:txBody>
      </p:sp>
      <p:sp>
        <p:nvSpPr>
          <p:cNvPr id="21" name="Rectangle 20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52710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20374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11.</a:t>
            </a:r>
            <a:r>
              <a:rPr lang="en-US" sz="440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09868"/>
            <a:ext cx="12954952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3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Ce cahier de conception définit une solution distribuée robuste, modulaire et performante, répondant aux besoins identifiés dans la phase d’analyse.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837724" y="4936331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Il constitue une base solide pour la phase de développement, de tests et de déploiement du Distributed File Replicator (DFR).</a:t>
            </a:r>
            <a:endParaRPr lang="en-US" sz="1850" dirty="0"/>
          </a:p>
        </p:txBody>
      </p:sp>
      <p:sp>
        <p:nvSpPr>
          <p:cNvPr id="5" name="Rectangle 4"/>
          <p:cNvSpPr/>
          <p:nvPr/>
        </p:nvSpPr>
        <p:spPr>
          <a:xfrm>
            <a:off x="12863513" y="7705724"/>
            <a:ext cx="1681162" cy="409575"/>
          </a:xfrm>
          <a:prstGeom prst="rect">
            <a:avLst/>
          </a:prstGeom>
          <a:solidFill>
            <a:srgbClr val="242121"/>
          </a:solidFill>
          <a:ln>
            <a:solidFill>
              <a:srgbClr val="24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1810</Words>
  <Application>Microsoft Macintosh PowerPoint</Application>
  <PresentationFormat>Personnalisé</PresentationFormat>
  <Paragraphs>239</Paragraphs>
  <Slides>18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Overpass</vt:lpstr>
      <vt:lpstr>Overpass Light</vt:lpstr>
      <vt:lpstr>Arial</vt:lpstr>
      <vt:lpstr>Overpass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lastModifiedBy>jules garka</cp:lastModifiedBy>
  <cp:revision>9</cp:revision>
  <dcterms:created xsi:type="dcterms:W3CDTF">2026-01-16T13:11:42Z</dcterms:created>
  <dcterms:modified xsi:type="dcterms:W3CDTF">2026-01-17T16:53:26Z</dcterms:modified>
</cp:coreProperties>
</file>